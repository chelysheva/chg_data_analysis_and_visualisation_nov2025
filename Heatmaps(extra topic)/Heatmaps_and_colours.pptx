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94" r:id="rId5"/>
    <p:sldId id="257" r:id="rId6"/>
    <p:sldId id="260" r:id="rId7"/>
    <p:sldId id="295" r:id="rId8"/>
    <p:sldId id="296" r:id="rId9"/>
    <p:sldId id="297" r:id="rId10"/>
    <p:sldId id="304" r:id="rId11"/>
    <p:sldId id="298" r:id="rId12"/>
    <p:sldId id="305" r:id="rId13"/>
    <p:sldId id="266" r:id="rId14"/>
    <p:sldId id="267" r:id="rId15"/>
    <p:sldId id="268" r:id="rId16"/>
    <p:sldId id="269" r:id="rId17"/>
    <p:sldId id="270" r:id="rId18"/>
    <p:sldId id="282" r:id="rId19"/>
    <p:sldId id="299" r:id="rId20"/>
    <p:sldId id="300" r:id="rId21"/>
    <p:sldId id="301" r:id="rId22"/>
    <p:sldId id="258" r:id="rId23"/>
    <p:sldId id="259" r:id="rId24"/>
    <p:sldId id="280" r:id="rId25"/>
    <p:sldId id="278" r:id="rId26"/>
    <p:sldId id="302" r:id="rId2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147"/>
    <a:srgbClr val="D4D4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94950"/>
  </p:normalViewPr>
  <p:slideViewPr>
    <p:cSldViewPr snapToGrid="0" showGuides="1">
      <p:cViewPr varScale="1">
        <p:scale>
          <a:sx n="116" d="100"/>
          <a:sy n="116" d="100"/>
        </p:scale>
        <p:origin x="264" y="176"/>
      </p:cViewPr>
      <p:guideLst>
        <p:guide orient="horz" pos="1139"/>
        <p:guide pos="3840"/>
        <p:guide orient="horz" pos="23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628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0AA94-B4D6-4599-8A68-C78733F5DE89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2BE68-9E55-41F8-B614-1CED6B294F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11580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A8EF2C-F38B-4955-816B-A73D6586B690}" type="datetimeFigureOut">
              <a:rPr lang="en-GB" smtClean="0"/>
              <a:t>21/10/2025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86E21-9429-470D-BC18-1A647D356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20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836D9CEB-3676-24AC-694C-A0744925C634}"/>
              </a:ext>
            </a:extLst>
          </p:cNvPr>
          <p:cNvPicPr/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0" y="12"/>
            <a:ext cx="12192393" cy="68579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761E9E-ED51-992F-D7E0-B9A9CFC55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044" y="2320033"/>
            <a:ext cx="7705725" cy="1786731"/>
          </a:xfrm>
        </p:spPr>
        <p:txBody>
          <a:bodyPr anchor="b"/>
          <a:lstStyle>
            <a:lvl1pPr algn="l">
              <a:lnSpc>
                <a:spcPts val="6250"/>
              </a:lnSpc>
              <a:defRPr sz="49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B4C36A-DF60-9B29-34E4-41C2FAC12B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4044" y="4490242"/>
            <a:ext cx="7705725" cy="47228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058EC2E-4C9F-5404-3640-0C65E4031B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044" y="5344417"/>
            <a:ext cx="7705725" cy="37058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Presenter and/or date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8D99D0-08E8-DACD-7022-00D90D05BF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63" y="614622"/>
            <a:ext cx="2054673" cy="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94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2133F4BD-3A05-6BF0-9599-0623746B96D1}"/>
              </a:ext>
            </a:extLst>
          </p:cNvPr>
          <p:cNvSpPr/>
          <p:nvPr userDrawn="1"/>
        </p:nvSpPr>
        <p:spPr>
          <a:xfrm>
            <a:off x="0" y="68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258064"/>
                </a:lnTo>
                <a:lnTo>
                  <a:pt x="7924190" y="6857936"/>
                </a:lnTo>
                <a:lnTo>
                  <a:pt x="12193206" y="6857936"/>
                </a:lnTo>
                <a:lnTo>
                  <a:pt x="12193206" y="0"/>
                </a:lnTo>
                <a:close/>
              </a:path>
            </a:pathLst>
          </a:custGeom>
          <a:solidFill>
            <a:srgbClr val="092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61E9E-ED51-992F-D7E0-B9A9CFC55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045" y="4313933"/>
            <a:ext cx="3854155" cy="1786731"/>
          </a:xfrm>
        </p:spPr>
        <p:txBody>
          <a:bodyPr anchor="t" anchorCtr="0"/>
          <a:lstStyle>
            <a:lvl1pPr algn="l">
              <a:lnSpc>
                <a:spcPts val="47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2309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2133F4BD-3A05-6BF0-9599-0623746B96D1}"/>
              </a:ext>
            </a:extLst>
          </p:cNvPr>
          <p:cNvSpPr/>
          <p:nvPr userDrawn="1"/>
        </p:nvSpPr>
        <p:spPr>
          <a:xfrm flipH="1">
            <a:off x="0" y="68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258064"/>
                </a:lnTo>
                <a:lnTo>
                  <a:pt x="7924190" y="6857936"/>
                </a:lnTo>
                <a:lnTo>
                  <a:pt x="12193206" y="6857936"/>
                </a:lnTo>
                <a:lnTo>
                  <a:pt x="12193206" y="0"/>
                </a:lnTo>
                <a:close/>
              </a:path>
            </a:pathLst>
          </a:custGeom>
          <a:solidFill>
            <a:srgbClr val="092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61E9E-ED51-992F-D7E0-B9A9CFC55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045" y="4313933"/>
            <a:ext cx="3854155" cy="1786731"/>
          </a:xfrm>
        </p:spPr>
        <p:txBody>
          <a:bodyPr anchor="t" anchorCtr="0"/>
          <a:lstStyle>
            <a:lvl1pPr algn="l">
              <a:lnSpc>
                <a:spcPts val="47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33F56EB-3E8E-3A6B-FF7F-5BC6CD9B42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4197" y="250167"/>
            <a:ext cx="7947803" cy="6607833"/>
          </a:xfrm>
          <a:custGeom>
            <a:avLst/>
            <a:gdLst>
              <a:gd name="connsiteX0" fmla="*/ 0 w 7947804"/>
              <a:gd name="connsiteY0" fmla="*/ 6780294 h 6780294"/>
              <a:gd name="connsiteX1" fmla="*/ 0 w 7947804"/>
              <a:gd name="connsiteY1" fmla="*/ 0 h 6780294"/>
              <a:gd name="connsiteX2" fmla="*/ 7947804 w 7947804"/>
              <a:gd name="connsiteY2" fmla="*/ 6780294 h 6780294"/>
              <a:gd name="connsiteX3" fmla="*/ 0 w 7947804"/>
              <a:gd name="connsiteY3" fmla="*/ 6780294 h 6780294"/>
              <a:gd name="connsiteX0" fmla="*/ 0 w 7947804"/>
              <a:gd name="connsiteY0" fmla="*/ 6607765 h 6607765"/>
              <a:gd name="connsiteX1" fmla="*/ 7944929 w 7947804"/>
              <a:gd name="connsiteY1" fmla="*/ 0 h 6607765"/>
              <a:gd name="connsiteX2" fmla="*/ 7947804 w 7947804"/>
              <a:gd name="connsiteY2" fmla="*/ 6607765 h 6607765"/>
              <a:gd name="connsiteX3" fmla="*/ 0 w 7947804"/>
              <a:gd name="connsiteY3" fmla="*/ 6607765 h 6607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47804" h="6607765">
                <a:moveTo>
                  <a:pt x="0" y="6607765"/>
                </a:moveTo>
                <a:lnTo>
                  <a:pt x="7944929" y="0"/>
                </a:lnTo>
                <a:cubicBezTo>
                  <a:pt x="7945887" y="2202588"/>
                  <a:pt x="7946846" y="4405177"/>
                  <a:pt x="7947804" y="6607765"/>
                </a:cubicBezTo>
                <a:lnTo>
                  <a:pt x="0" y="6607765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50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5">
            <a:extLst>
              <a:ext uri="{FF2B5EF4-FFF2-40B4-BE49-F238E27FC236}">
                <a16:creationId xmlns:a16="http://schemas.microsoft.com/office/drawing/2014/main" id="{3260914D-2179-F5E7-6AEF-1B3FCD15B664}"/>
              </a:ext>
            </a:extLst>
          </p:cNvPr>
          <p:cNvSpPr/>
          <p:nvPr/>
        </p:nvSpPr>
        <p:spPr>
          <a:xfrm>
            <a:off x="0" y="632015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93640-ACD6-D0FB-E6D2-1A10789FAB47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0574" y="1759636"/>
            <a:ext cx="10596563" cy="37768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89562BF-709C-4632-9ABB-4C737CB763F9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9E6E1D9-0164-49D5-AB17-F7F0D91798E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939C92E6-C602-0651-B37F-991BF596228E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3956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5">
            <a:extLst>
              <a:ext uri="{FF2B5EF4-FFF2-40B4-BE49-F238E27FC236}">
                <a16:creationId xmlns:a16="http://schemas.microsoft.com/office/drawing/2014/main" id="{3260914D-2179-F5E7-6AEF-1B3FCD15B664}"/>
              </a:ext>
            </a:extLst>
          </p:cNvPr>
          <p:cNvSpPr/>
          <p:nvPr/>
        </p:nvSpPr>
        <p:spPr>
          <a:xfrm>
            <a:off x="0" y="632034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93640-ACD6-D0FB-E6D2-1A10789FAB47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0574" y="1759636"/>
            <a:ext cx="5059643" cy="37768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6039FF1-6A15-29CE-1C78-37FA0E0DC74D}"/>
              </a:ext>
            </a:extLst>
          </p:cNvPr>
          <p:cNvSpPr>
            <a:spLocks noGrp="1"/>
          </p:cNvSpPr>
          <p:nvPr userDrawn="1">
            <p:ph idx="11"/>
          </p:nvPr>
        </p:nvSpPr>
        <p:spPr>
          <a:xfrm>
            <a:off x="6341781" y="1759636"/>
            <a:ext cx="5059643" cy="377688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2B2C36-95E6-467B-9243-129A97F24B4B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F4D5055-8A98-4FB3-9EAB-F90E47333D1E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4D71878C-405C-4B8F-A753-8B7ED6E1ED67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9637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78AB8AC-51C0-A282-3E41-4FF8078F8B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341780" y="0"/>
            <a:ext cx="5850219" cy="6320155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274" y="805180"/>
            <a:ext cx="5046943" cy="1094014"/>
          </a:xfrm>
        </p:spPr>
        <p:txBody>
          <a:bodyPr/>
          <a:lstStyle>
            <a:lvl1pPr>
              <a:lnSpc>
                <a:spcPts val="4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4EDD70-4D9F-74D7-CC79-3FFEE13768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3274" y="2142653"/>
            <a:ext cx="5046943" cy="339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DE730B1B-F47E-F663-D5A7-1F15CBC7E9A7}"/>
              </a:ext>
            </a:extLst>
          </p:cNvPr>
          <p:cNvSpPr/>
          <p:nvPr/>
        </p:nvSpPr>
        <p:spPr>
          <a:xfrm>
            <a:off x="0" y="632015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1C710AF-4B2A-4BBB-8788-8441A63BFD19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44B295D-1DFC-441A-8C87-EC7319DCB4E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51AC7A92-6A29-45ED-BA28-19BF42427299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465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4D3C0B78-D624-3C20-A0D8-A752505C93D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850219" cy="6320155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add picture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DE730B1B-F47E-F663-D5A7-1F15CBC7E9A7}"/>
              </a:ext>
            </a:extLst>
          </p:cNvPr>
          <p:cNvSpPr/>
          <p:nvPr/>
        </p:nvSpPr>
        <p:spPr>
          <a:xfrm>
            <a:off x="0" y="632015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0197" y="806400"/>
            <a:ext cx="5059642" cy="1094014"/>
          </a:xfrm>
        </p:spPr>
        <p:txBody>
          <a:bodyPr/>
          <a:lstStyle>
            <a:lvl1pPr>
              <a:lnSpc>
                <a:spcPts val="4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D4EDD70-4D9F-74D7-CC79-3FFEE13768B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38612" y="2142653"/>
            <a:ext cx="5059643" cy="339387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051C04-F9E5-476C-9476-DEB53CE93B17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32338D1-8321-470F-B388-E7C1399D572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EE00DAA1-7EF7-4644-AAC0-6D3B74E0B7CC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2065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5">
            <a:extLst>
              <a:ext uri="{FF2B5EF4-FFF2-40B4-BE49-F238E27FC236}">
                <a16:creationId xmlns:a16="http://schemas.microsoft.com/office/drawing/2014/main" id="{3260914D-2179-F5E7-6AEF-1B3FCD15B664}"/>
              </a:ext>
            </a:extLst>
          </p:cNvPr>
          <p:cNvSpPr/>
          <p:nvPr/>
        </p:nvSpPr>
        <p:spPr>
          <a:xfrm>
            <a:off x="0" y="632034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D3216-EE4B-142A-37B2-8F088BC53FF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0574" y="736600"/>
            <a:ext cx="10596563" cy="7016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Heading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F628B-3C3B-56B9-B7C1-39C05962BD71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B5E80C-411B-41BE-9BF2-2C0185B49FB6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B394468-E324-45CD-98F0-52A4B8F8F6F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4" name="object 6">
              <a:extLst>
                <a:ext uri="{FF2B5EF4-FFF2-40B4-BE49-F238E27FC236}">
                  <a16:creationId xmlns:a16="http://schemas.microsoft.com/office/drawing/2014/main" id="{BD963DFF-1C9C-4D17-BB1B-45D80042CB9E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32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B187C576-EF9A-D690-8A5C-00ACB0CA8005}"/>
              </a:ext>
            </a:extLst>
          </p:cNvPr>
          <p:cNvSpPr/>
          <p:nvPr/>
        </p:nvSpPr>
        <p:spPr>
          <a:xfrm>
            <a:off x="0" y="6320345"/>
            <a:ext cx="12193270" cy="537845"/>
          </a:xfrm>
          <a:custGeom>
            <a:avLst/>
            <a:gdLst/>
            <a:ahLst/>
            <a:cxnLst/>
            <a:rect l="l" t="t" r="r" b="b"/>
            <a:pathLst>
              <a:path w="12193270" h="537845">
                <a:moveTo>
                  <a:pt x="12193206" y="0"/>
                </a:moveTo>
                <a:lnTo>
                  <a:pt x="0" y="0"/>
                </a:lnTo>
                <a:lnTo>
                  <a:pt x="0" y="537654"/>
                </a:lnTo>
                <a:lnTo>
                  <a:pt x="12193206" y="537654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080629-0743-4B8D-004F-B54A043A3E3D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AD65CD-B03E-46D9-957C-1EAC5CFB3133}"/>
              </a:ext>
            </a:extLst>
          </p:cNvPr>
          <p:cNvGrpSpPr/>
          <p:nvPr userDrawn="1"/>
        </p:nvGrpSpPr>
        <p:grpSpPr>
          <a:xfrm>
            <a:off x="316179" y="6438899"/>
            <a:ext cx="2926714" cy="297053"/>
            <a:chOff x="316179" y="6438899"/>
            <a:chExt cx="2926714" cy="29705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2C14D30-76AE-49F2-AF99-A99DC4609D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32"/>
            <a:stretch/>
          </p:blipFill>
          <p:spPr>
            <a:xfrm>
              <a:off x="600074" y="6438899"/>
              <a:ext cx="2642819" cy="297053"/>
            </a:xfrm>
            <a:prstGeom prst="rect">
              <a:avLst/>
            </a:prstGeom>
          </p:spPr>
        </p:pic>
        <p:sp>
          <p:nvSpPr>
            <p:cNvPr id="13" name="object 6">
              <a:extLst>
                <a:ext uri="{FF2B5EF4-FFF2-40B4-BE49-F238E27FC236}">
                  <a16:creationId xmlns:a16="http://schemas.microsoft.com/office/drawing/2014/main" id="{5D139899-D8DB-4C65-9900-ACEB04004147}"/>
                </a:ext>
              </a:extLst>
            </p:cNvPr>
            <p:cNvSpPr/>
            <p:nvPr/>
          </p:nvSpPr>
          <p:spPr>
            <a:xfrm>
              <a:off x="316179" y="6458418"/>
              <a:ext cx="254635" cy="254635"/>
            </a:xfrm>
            <a:custGeom>
              <a:avLst/>
              <a:gdLst/>
              <a:ahLst/>
              <a:cxnLst/>
              <a:rect l="l" t="t" r="r" b="b"/>
              <a:pathLst>
                <a:path w="254634" h="254634">
                  <a:moveTo>
                    <a:pt x="254419" y="0"/>
                  </a:moveTo>
                  <a:lnTo>
                    <a:pt x="126784" y="105625"/>
                  </a:lnTo>
                  <a:lnTo>
                    <a:pt x="0" y="25"/>
                  </a:lnTo>
                  <a:lnTo>
                    <a:pt x="0" y="254419"/>
                  </a:lnTo>
                  <a:lnTo>
                    <a:pt x="254419" y="254419"/>
                  </a:lnTo>
                  <a:lnTo>
                    <a:pt x="254419" y="0"/>
                  </a:lnTo>
                  <a:close/>
                </a:path>
              </a:pathLst>
            </a:cu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9791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>
            <a:extLst>
              <a:ext uri="{FF2B5EF4-FFF2-40B4-BE49-F238E27FC236}">
                <a16:creationId xmlns:a16="http://schemas.microsoft.com/office/drawing/2014/main" id="{2133F4BD-3A05-6BF0-9599-0623746B96D1}"/>
              </a:ext>
            </a:extLst>
          </p:cNvPr>
          <p:cNvSpPr/>
          <p:nvPr userDrawn="1"/>
        </p:nvSpPr>
        <p:spPr>
          <a:xfrm>
            <a:off x="0" y="68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206" y="0"/>
                </a:moveTo>
                <a:lnTo>
                  <a:pt x="0" y="0"/>
                </a:lnTo>
                <a:lnTo>
                  <a:pt x="0" y="258064"/>
                </a:lnTo>
                <a:lnTo>
                  <a:pt x="7924190" y="6857936"/>
                </a:lnTo>
                <a:lnTo>
                  <a:pt x="12193206" y="6857936"/>
                </a:lnTo>
                <a:lnTo>
                  <a:pt x="12193206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61E9E-ED51-992F-D7E0-B9A9CFC550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045" y="4241800"/>
            <a:ext cx="3396956" cy="1425250"/>
          </a:xfrm>
        </p:spPr>
        <p:txBody>
          <a:bodyPr anchor="b" anchorCtr="0"/>
          <a:lstStyle>
            <a:lvl1pPr algn="l">
              <a:lnSpc>
                <a:spcPts val="42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C25EF-3794-428C-B7F8-BF804CDF25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55" y="504799"/>
            <a:ext cx="2054673" cy="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6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+Subhead+Text">
  <p:cSld name="3_Title+Subhead+Text"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652347" y="426248"/>
            <a:ext cx="10887309" cy="1341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652344" y="2476653"/>
            <a:ext cx="10887312" cy="381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None/>
              <a:defRPr sz="2200">
                <a:solidFill>
                  <a:schemeClr val="lt2"/>
                </a:solidFill>
              </a:defRPr>
            </a:lvl1pPr>
            <a:lvl2pPr marL="914400" lvl="1" indent="-3683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•"/>
              <a:defRPr sz="2200">
                <a:solidFill>
                  <a:schemeClr val="lt2"/>
                </a:solidFill>
              </a:defRPr>
            </a:lvl2pPr>
            <a:lvl3pPr marL="1371600" lvl="2" indent="-3683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•"/>
              <a:defRPr sz="2200">
                <a:solidFill>
                  <a:schemeClr val="lt2"/>
                </a:solidFill>
              </a:defRPr>
            </a:lvl3pPr>
            <a:lvl4pPr marL="1828800" lvl="3" indent="-3683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•"/>
              <a:defRPr sz="2200">
                <a:solidFill>
                  <a:schemeClr val="lt2"/>
                </a:solidFill>
              </a:defRPr>
            </a:lvl4pPr>
            <a:lvl5pPr marL="2286000" lvl="4" indent="-3683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rial"/>
              <a:buChar char="•"/>
              <a:defRPr sz="2200"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body" idx="2"/>
          </p:nvPr>
        </p:nvSpPr>
        <p:spPr>
          <a:xfrm>
            <a:off x="651519" y="1785116"/>
            <a:ext cx="10888963" cy="565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 b="1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sldNum" idx="12"/>
          </p:nvPr>
        </p:nvSpPr>
        <p:spPr>
          <a:xfrm>
            <a:off x="11451187" y="6396610"/>
            <a:ext cx="740813" cy="363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4AF42-88AD-4FB0-CD35-33806BE79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1143" y="6438899"/>
            <a:ext cx="269875" cy="2571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CC3F808-C7E8-4131-9EFE-B613B7BC3B9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42BF69-49C3-FAD1-45E5-BF111E4C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4" y="736600"/>
            <a:ext cx="10596563" cy="701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Title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2E246-AA27-06D0-C7D1-3CF06C884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0574" y="1759636"/>
            <a:ext cx="10596563" cy="377688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5488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5" r:id="rId3"/>
    <p:sldLayoutId id="2147483650" r:id="rId4"/>
    <p:sldLayoutId id="2147483658" r:id="rId5"/>
    <p:sldLayoutId id="2147483659" r:id="rId6"/>
    <p:sldLayoutId id="2147483660" r:id="rId7"/>
    <p:sldLayoutId id="2147483661" r:id="rId8"/>
    <p:sldLayoutId id="2147483655" r:id="rId9"/>
    <p:sldLayoutId id="2147483664" r:id="rId10"/>
    <p:sldLayoutId id="214748366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ts val="4700"/>
        </a:lnSpc>
        <a:spcBef>
          <a:spcPct val="0"/>
        </a:spcBef>
        <a:buNone/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74650" indent="-3746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628650" indent="-24765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898525" indent="-269875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165225" indent="-254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06" userDrawn="1">
          <p15:clr>
            <a:srgbClr val="F26B43"/>
          </p15:clr>
        </p15:guide>
        <p15:guide id="4" pos="71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data-to-viz.com/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swirlstats.com/students.html" TargetMode="External"/><Relationship Id="rId7" Type="http://schemas.openxmlformats.org/officeDocument/2006/relationships/hyperlink" Target="https://rstudio.com/resources/cheatsheets/" TargetMode="External"/><Relationship Id="rId2" Type="http://schemas.openxmlformats.org/officeDocument/2006/relationships/hyperlink" Target="https://bookdown.org/rdpeng/rprogdatascience/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atrebas.github.io/post/2019-03-03-datatable-dplyr/" TargetMode="External"/><Relationship Id="rId5" Type="http://schemas.openxmlformats.org/officeDocument/2006/relationships/hyperlink" Target="https://cran.r-project.org/web/packages/data.table/vignettes/datatable-intro.html" TargetMode="External"/><Relationship Id="rId4" Type="http://schemas.openxmlformats.org/officeDocument/2006/relationships/hyperlink" Target="https://r4ds.had.co.nz/transform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rbrewer2.org/" TargetMode="External"/><Relationship Id="rId2" Type="http://schemas.openxmlformats.org/officeDocument/2006/relationships/hyperlink" Target="https://github.com/EmilHvitfeldt/r-color-palettes" TargetMode="Externa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rosalind.info/problems/locations/" TargetMode="External"/><Relationship Id="rId5" Type="http://schemas.openxmlformats.org/officeDocument/2006/relationships/hyperlink" Target="https://carriebrown.github.io/r-novice-gapminder/challenges/" TargetMode="External"/><Relationship Id="rId4" Type="http://schemas.openxmlformats.org/officeDocument/2006/relationships/hyperlink" Target="https://jokergoo.github.io/ComplexHeatmap-reference/boo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86F3-FD96-4B2E-9404-933DB064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4044" y="2320033"/>
            <a:ext cx="10399473" cy="178673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sz="4000" dirty="0"/>
              <a:t>Computational training</a:t>
            </a:r>
            <a:br>
              <a:rPr lang="en-GB" sz="4000" dirty="0"/>
            </a:br>
            <a:r>
              <a:rPr lang="en-GB" sz="4000" dirty="0"/>
              <a:t>Session </a:t>
            </a:r>
            <a:r>
              <a:rPr lang="ru-RU" sz="4000" dirty="0"/>
              <a:t>8</a:t>
            </a:r>
            <a:br>
              <a:rPr lang="en-GB" sz="4000" dirty="0"/>
            </a:br>
            <a:r>
              <a:rPr lang="en-US" sz="4000" dirty="0"/>
              <a:t>Data analysis and </a:t>
            </a:r>
            <a:r>
              <a:rPr lang="en-US" sz="4000" dirty="0" err="1"/>
              <a:t>visualisation</a:t>
            </a:r>
            <a:r>
              <a:rPr lang="en-US" sz="4000" dirty="0"/>
              <a:t> in R</a:t>
            </a:r>
            <a:endParaRPr lang="en-GB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072A71-9D48-48B4-9F02-5D51D93F02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07/11/2025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1664B-680F-4D25-A8EF-F12D7904FA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4044" y="5344417"/>
            <a:ext cx="8864963" cy="370584"/>
          </a:xfrm>
        </p:spPr>
        <p:txBody>
          <a:bodyPr/>
          <a:lstStyle/>
          <a:p>
            <a:r>
              <a:rPr lang="en-GB" sz="2000" dirty="0"/>
              <a:t>Dr Irina Chelysheva, Senior Lecturer in </a:t>
            </a:r>
            <a:r>
              <a:rPr lang="en-GB" sz="2000"/>
              <a:t>Human Genomics</a:t>
            </a:r>
            <a:r>
              <a:rPr lang="ru-RU" sz="2000"/>
              <a:t> </a:t>
            </a:r>
            <a:endParaRPr lang="en-US" sz="2000" dirty="0"/>
          </a:p>
          <a:p>
            <a:r>
              <a:rPr lang="ru-RU" sz="2000" dirty="0"/>
              <a:t>(</a:t>
            </a:r>
            <a:r>
              <a:rPr lang="en-US" sz="2000" dirty="0"/>
              <a:t>acknowledgements: Dr </a:t>
            </a:r>
            <a:r>
              <a:rPr lang="en-GB" sz="2000" dirty="0"/>
              <a:t>Srinivasa Rao</a:t>
            </a:r>
            <a:r>
              <a:rPr lang="en-US" sz="2000" dirty="0"/>
              <a:t>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5555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ustomShape 2"/>
          <p:cNvSpPr/>
          <p:nvPr/>
        </p:nvSpPr>
        <p:spPr>
          <a:xfrm>
            <a:off x="1630497" y="1294482"/>
            <a:ext cx="8619695" cy="48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2800" tIns="41400" rIns="82800" bIns="41400" anchor="ctr">
            <a:normAutofit/>
          </a:bodyPr>
          <a:lstStyle/>
          <a:p>
            <a:pPr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Data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Visualisation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Intro to ggplot2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Base R plotting vs ggplot2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ggplot2 syntax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Intro to factors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Reshaping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data.frames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Plotting grouped data - Dot/box/bar plots</a:t>
            </a: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spc="-1" dirty="0">
                <a:solidFill>
                  <a:srgbClr val="000000"/>
                </a:solidFill>
                <a:latin typeface="Calibri"/>
              </a:rPr>
              <a:t>Calculating and adding statistics to the plots</a:t>
            </a:r>
            <a:endParaRPr lang="en-GB" sz="1600" b="0" strike="noStrike" spc="-1" dirty="0">
              <a:latin typeface="Arial"/>
            </a:endParaRPr>
          </a:p>
          <a:p>
            <a:pPr marL="457200" lvl="1" indent="-21600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Practical</a:t>
            </a:r>
            <a:r>
              <a:rPr lang="en-US" sz="1600" spc="-1" dirty="0" err="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endParaRPr lang="en-GB" sz="1600" b="0" strike="noStrike" spc="-1" dirty="0">
              <a:latin typeface="Arial"/>
            </a:endParaRPr>
          </a:p>
          <a:p>
            <a:pPr marL="914400" lvl="2" indent="-21564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OWID Covid data</a:t>
            </a:r>
          </a:p>
          <a:p>
            <a:pPr marL="914400" lvl="2" indent="-215640">
              <a:lnSpc>
                <a:spcPct val="100000"/>
              </a:lnSpc>
              <a:spcBef>
                <a:spcPts val="320"/>
              </a:spcBef>
              <a:spcAft>
                <a:spcPts val="544"/>
              </a:spcAft>
              <a:buClr>
                <a:srgbClr val="000000"/>
              </a:buClr>
              <a:buSzPct val="80000"/>
              <a:buFont typeface="Wingdings 3" charset="2"/>
              <a:buChar char=""/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Covid vaccine data</a:t>
            </a:r>
            <a:endParaRPr lang="en-GB" sz="1600" b="0" strike="noStrike" spc="-1" dirty="0">
              <a:latin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1E82B-77BC-5DAC-2968-604E32E7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Today’s plan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3"/>
          <p:cNvPicPr/>
          <p:nvPr/>
        </p:nvPicPr>
        <p:blipFill>
          <a:blip r:embed="rId2"/>
          <a:stretch/>
        </p:blipFill>
        <p:spPr>
          <a:xfrm>
            <a:off x="9030147" y="64800"/>
            <a:ext cx="2595600" cy="1883160"/>
          </a:xfrm>
          <a:prstGeom prst="rect">
            <a:avLst/>
          </a:prstGeom>
          <a:ln>
            <a:noFill/>
          </a:ln>
        </p:spPr>
      </p:pic>
      <p:sp>
        <p:nvSpPr>
          <p:cNvPr id="169" name="CustomShape 1"/>
          <p:cNvSpPr/>
          <p:nvPr/>
        </p:nvSpPr>
        <p:spPr>
          <a:xfrm>
            <a:off x="1981560" y="-144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Visualising data in R</a:t>
            </a:r>
            <a:endParaRPr lang="en-GB" sz="4400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1981200" y="1143360"/>
            <a:ext cx="5365800" cy="5029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Base R plotting (e.g. plot() function)</a:t>
            </a:r>
            <a:endParaRPr lang="en-GB" sz="2180" spc="-1">
              <a:latin typeface="Arial"/>
            </a:endParaRPr>
          </a:p>
          <a:p>
            <a:pPr marL="457200"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plot(x = iris$Sepal.Length, y = iris$Petal.Length, col = iris$Species)</a:t>
            </a: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ggplot2 package</a:t>
            </a:r>
            <a:endParaRPr lang="en-GB" sz="2180" spc="-1">
              <a:latin typeface="Arial"/>
            </a:endParaRPr>
          </a:p>
          <a:p>
            <a:pPr marL="457200"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ggplot(iris, aes(x = Sepal.Length, y = Petal.Length, colour = Species)) + geom_point()</a:t>
            </a: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Lattice package</a:t>
            </a:r>
            <a:endParaRPr lang="en-GB" sz="2180" spc="-1">
              <a:latin typeface="Arial"/>
            </a:endParaRPr>
          </a:p>
          <a:p>
            <a:pPr marL="457200"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xyplot(Sepal.Length ~ Petal.Length, data = iris, groups = Species)</a:t>
            </a: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Grid package</a:t>
            </a:r>
            <a:endParaRPr lang="en-GB" sz="2180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Low level plotting (both ggplot2 and lattice built on grid graphics)</a:t>
            </a:r>
            <a:endParaRPr lang="en-GB" sz="1779" spc="-1">
              <a:latin typeface="Arial"/>
            </a:endParaRPr>
          </a:p>
          <a:p>
            <a:pPr marL="150840">
              <a:spcBef>
                <a:spcPts val="437"/>
              </a:spcBef>
              <a:tabLst>
                <a:tab pos="0" algn="l"/>
              </a:tabLst>
            </a:pPr>
            <a:endParaRPr lang="en-GB" sz="1779" spc="-1">
              <a:latin typeface="Arial"/>
            </a:endParaRPr>
          </a:p>
        </p:txBody>
      </p:sp>
      <p:pic>
        <p:nvPicPr>
          <p:cNvPr id="171" name="Picture 4"/>
          <p:cNvPicPr/>
          <p:nvPr/>
        </p:nvPicPr>
        <p:blipFill>
          <a:blip r:embed="rId3"/>
          <a:stretch/>
        </p:blipFill>
        <p:spPr>
          <a:xfrm>
            <a:off x="9030147" y="4116058"/>
            <a:ext cx="2595600" cy="2192400"/>
          </a:xfrm>
          <a:prstGeom prst="rect">
            <a:avLst/>
          </a:prstGeom>
          <a:ln>
            <a:noFill/>
          </a:ln>
        </p:spPr>
      </p:pic>
      <p:pic>
        <p:nvPicPr>
          <p:cNvPr id="172" name="Picture 7"/>
          <p:cNvPicPr/>
          <p:nvPr/>
        </p:nvPicPr>
        <p:blipFill>
          <a:blip r:embed="rId4"/>
          <a:stretch/>
        </p:blipFill>
        <p:spPr>
          <a:xfrm>
            <a:off x="9162350" y="2014200"/>
            <a:ext cx="2595600" cy="2192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CustomShape 1"/>
          <p:cNvSpPr/>
          <p:nvPr/>
        </p:nvSpPr>
        <p:spPr>
          <a:xfrm>
            <a:off x="1981560" y="-144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Graphics devices in R</a:t>
            </a:r>
            <a:endParaRPr lang="en-GB" sz="4400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1981200" y="1143360"/>
            <a:ext cx="8228160" cy="5029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 lnSpcReduction="10000"/>
          </a:bodyPr>
          <a:lstStyle/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The plotting window in Rstudio</a:t>
            </a:r>
            <a:endParaRPr lang="en-GB" sz="2180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Needs to be saved manually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Size of the figure can be adjusted manually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Can be copied to clipboard from RStudio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For quick exploratory visualisation</a:t>
            </a:r>
            <a:endParaRPr lang="en-GB" sz="1779" spc="-1">
              <a:latin typeface="Arial"/>
            </a:endParaRPr>
          </a:p>
          <a:p>
            <a:pPr marL="457200">
              <a:spcBef>
                <a:spcPts val="357"/>
              </a:spcBef>
              <a:tabLst>
                <a:tab pos="0" algn="l"/>
              </a:tabLst>
            </a:pP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A file (svg, png, pdf, tiff, jpeg, bmp)</a:t>
            </a:r>
            <a:endParaRPr lang="en-GB" sz="2180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Saved to file from code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Size of the figure can be specified in the code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For creating reproducible figures</a:t>
            </a:r>
            <a:endParaRPr lang="en-GB" sz="1779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png(), pdf(), svg(), ggsave() </a:t>
            </a: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are functions to save plots</a:t>
            </a:r>
            <a:endParaRPr lang="en-GB" sz="1779" spc="-1">
              <a:latin typeface="Arial"/>
            </a:endParaRPr>
          </a:p>
          <a:p>
            <a:pPr marL="343080" indent="-342360">
              <a:spcBef>
                <a:spcPts val="437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Start or close graphical devices with </a:t>
            </a:r>
            <a:r>
              <a:rPr lang="en-GB" sz="2180" spc="-1">
                <a:solidFill>
                  <a:srgbClr val="000000"/>
                </a:solidFill>
                <a:latin typeface="Courier New"/>
                <a:ea typeface="DejaVu Sans"/>
              </a:rPr>
              <a:t>dev.new()</a:t>
            </a: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 or </a:t>
            </a:r>
            <a:r>
              <a:rPr lang="en-GB" sz="2180" spc="-1">
                <a:solidFill>
                  <a:srgbClr val="000000"/>
                </a:solidFill>
                <a:latin typeface="Courier New"/>
                <a:ea typeface="DejaVu Sans"/>
              </a:rPr>
              <a:t>dev.off()</a:t>
            </a:r>
            <a:r>
              <a:rPr lang="en-GB" sz="2180" spc="-1">
                <a:solidFill>
                  <a:srgbClr val="000000"/>
                </a:solidFill>
                <a:latin typeface="Calibri"/>
                <a:ea typeface="DejaVu Sans"/>
              </a:rPr>
              <a:t> respectively</a:t>
            </a:r>
            <a:endParaRPr lang="en-GB" sz="2180" spc="-1">
              <a:latin typeface="Arial"/>
            </a:endParaRPr>
          </a:p>
          <a:p>
            <a:pPr marL="743040" lvl="1" indent="-285120">
              <a:spcBef>
                <a:spcPts val="357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Tip: If your plot is not showing up on the window or file that you are expecting it to, you are probably drawing on the wrong device. </a:t>
            </a: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dev.off()</a:t>
            </a:r>
            <a:r>
              <a:rPr lang="en-GB" sz="1779" spc="-1">
                <a:solidFill>
                  <a:srgbClr val="000000"/>
                </a:solidFill>
                <a:latin typeface="Calibri"/>
                <a:ea typeface="DejaVu Sans"/>
              </a:rPr>
              <a:t> may solve this issue.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endParaRPr lang="en-GB" sz="1779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0" y="3772730"/>
            <a:ext cx="7389720" cy="193753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ggplot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owid_covid_newyear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,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aes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(x =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total_cases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, y =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total_deaths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))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geom_point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scale_x_log10()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scale_y_log10()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geom_smooth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(method = "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lm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")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ggtitle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("OWID Covid data for Jan 01 2021: Total Cases vs. Total Deaths")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xlab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("Total cases")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ylab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("Total deaths")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theme_bw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() + </a:t>
            </a:r>
            <a:endParaRPr lang="en-GB" sz="1200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   theme(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panel.grid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 = </a:t>
            </a:r>
            <a:r>
              <a:rPr lang="en-GB" sz="1200" spc="-1" dirty="0" err="1">
                <a:solidFill>
                  <a:srgbClr val="000000"/>
                </a:solidFill>
                <a:latin typeface="Courier New"/>
                <a:ea typeface="DejaVu Sans"/>
              </a:rPr>
              <a:t>element_blank</a:t>
            </a:r>
            <a:r>
              <a:rPr lang="en-GB" sz="1200" spc="-1" dirty="0">
                <a:solidFill>
                  <a:srgbClr val="000000"/>
                </a:solidFill>
                <a:latin typeface="Courier New"/>
                <a:ea typeface="DejaVu Sans"/>
              </a:rPr>
              <a:t>())</a:t>
            </a:r>
            <a:endParaRPr lang="en-GB" sz="1200" spc="-1" dirty="0"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1981560" y="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Building a graph step-by-step with ggplot2</a:t>
            </a:r>
            <a:endParaRPr lang="en-GB" sz="4400" spc="-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7" name="Picture 5"/>
          <p:cNvPicPr/>
          <p:nvPr/>
        </p:nvPicPr>
        <p:blipFill>
          <a:blip r:embed="rId2"/>
          <a:stretch/>
        </p:blipFill>
        <p:spPr>
          <a:xfrm>
            <a:off x="1639560" y="647640"/>
            <a:ext cx="3472200" cy="2932920"/>
          </a:xfrm>
          <a:prstGeom prst="rect">
            <a:avLst/>
          </a:prstGeom>
          <a:ln>
            <a:noFill/>
          </a:ln>
        </p:spPr>
      </p:pic>
      <p:pic>
        <p:nvPicPr>
          <p:cNvPr id="178" name="Picture 6"/>
          <p:cNvPicPr/>
          <p:nvPr/>
        </p:nvPicPr>
        <p:blipFill>
          <a:blip r:embed="rId3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sp>
        <p:nvSpPr>
          <p:cNvPr id="179" name="CustomShape 3"/>
          <p:cNvSpPr/>
          <p:nvPr/>
        </p:nvSpPr>
        <p:spPr>
          <a:xfrm>
            <a:off x="9170324" y="3917055"/>
            <a:ext cx="253800" cy="253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80" name="Picture 14"/>
          <p:cNvPicPr/>
          <p:nvPr/>
        </p:nvPicPr>
        <p:blipFill>
          <a:blip r:embed="rId4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1" name="Picture 17"/>
          <p:cNvPicPr/>
          <p:nvPr/>
        </p:nvPicPr>
        <p:blipFill>
          <a:blip r:embed="rId5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2" name="Picture 19"/>
          <p:cNvPicPr/>
          <p:nvPr/>
        </p:nvPicPr>
        <p:blipFill>
          <a:blip r:embed="rId6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3" name="Picture 21"/>
          <p:cNvPicPr/>
          <p:nvPr/>
        </p:nvPicPr>
        <p:blipFill>
          <a:blip r:embed="rId7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4" name="Picture 22"/>
          <p:cNvPicPr/>
          <p:nvPr/>
        </p:nvPicPr>
        <p:blipFill>
          <a:blip r:embed="rId8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5" name="Picture 24"/>
          <p:cNvPicPr/>
          <p:nvPr/>
        </p:nvPicPr>
        <p:blipFill>
          <a:blip r:embed="rId9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6" name="Picture 25"/>
          <p:cNvPicPr/>
          <p:nvPr/>
        </p:nvPicPr>
        <p:blipFill>
          <a:blip r:embed="rId10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7" name="Picture 28"/>
          <p:cNvPicPr/>
          <p:nvPr/>
        </p:nvPicPr>
        <p:blipFill>
          <a:blip r:embed="rId11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  <p:pic>
        <p:nvPicPr>
          <p:cNvPr id="188" name="Picture 29"/>
          <p:cNvPicPr/>
          <p:nvPr/>
        </p:nvPicPr>
        <p:blipFill>
          <a:blip r:embed="rId2"/>
          <a:stretch/>
        </p:blipFill>
        <p:spPr>
          <a:xfrm>
            <a:off x="6608204" y="1772535"/>
            <a:ext cx="5377680" cy="4542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1981560" y="-144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>
                <a:solidFill>
                  <a:srgbClr val="000000"/>
                </a:solidFill>
                <a:latin typeface="Calibri"/>
                <a:ea typeface="DejaVu Sans"/>
              </a:rPr>
              <a:t>ggplot2 syntax</a:t>
            </a:r>
            <a:endParaRPr lang="en-GB" sz="4400" spc="-1">
              <a:latin typeface="Arial"/>
            </a:endParaRPr>
          </a:p>
        </p:txBody>
      </p:sp>
      <p:sp>
        <p:nvSpPr>
          <p:cNvPr id="190" name="CustomShape 2"/>
          <p:cNvSpPr/>
          <p:nvPr/>
        </p:nvSpPr>
        <p:spPr>
          <a:xfrm>
            <a:off x="2013240" y="912006"/>
            <a:ext cx="8411040" cy="281556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rmAutofit/>
          </a:bodyPr>
          <a:lstStyle/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7030A0"/>
                </a:solidFill>
                <a:latin typeface="Courier New"/>
                <a:ea typeface="DejaVu Sans"/>
              </a:rPr>
              <a:t>ggplot</a:t>
            </a:r>
            <a:r>
              <a:rPr lang="en-GB" sz="1779" spc="-1">
                <a:solidFill>
                  <a:srgbClr val="000000"/>
                </a:solidFill>
                <a:latin typeface="Courier New"/>
                <a:ea typeface="DejaVu Sans"/>
              </a:rPr>
              <a:t>(data, 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mapping)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00B0F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geom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_point(mapping, stat, position, colour, fill, shape, size, alpha)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00B05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coord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_cartesian()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E46C0A"/>
                </a:solidFill>
                <a:highlight>
                  <a:srgbClr val="00FFFF"/>
                </a:highlight>
                <a:latin typeface="Courier New"/>
                <a:ea typeface="DejaVu Sans"/>
              </a:rPr>
              <a:t>scale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_colour_discrete()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558ED5"/>
                </a:solidFill>
                <a:highlight>
                  <a:srgbClr val="00FFFF"/>
                </a:highlight>
                <a:latin typeface="Courier New"/>
                <a:ea typeface="DejaVu Sans"/>
              </a:rPr>
              <a:t>facet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_wrap()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</a:t>
            </a:r>
            <a:r>
              <a:rPr lang="en-GB" sz="1779" spc="-1">
                <a:solidFill>
                  <a:srgbClr val="FFC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theme</a:t>
            </a: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_bw()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ggtitle() +</a:t>
            </a:r>
            <a:endParaRPr lang="en-GB" sz="1779" spc="-1">
              <a:latin typeface="Arial"/>
            </a:endParaRPr>
          </a:p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	labs()</a:t>
            </a:r>
            <a:endParaRPr lang="en-GB" sz="1779" spc="-1">
              <a:latin typeface="Arial"/>
            </a:endParaRPr>
          </a:p>
        </p:txBody>
      </p:sp>
      <p:sp>
        <p:nvSpPr>
          <p:cNvPr id="191" name="CustomShape 3"/>
          <p:cNvSpPr/>
          <p:nvPr/>
        </p:nvSpPr>
        <p:spPr>
          <a:xfrm>
            <a:off x="2013240" y="4022046"/>
            <a:ext cx="8411040" cy="496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spcBef>
                <a:spcPts val="357"/>
              </a:spcBef>
              <a:tabLst>
                <a:tab pos="0" algn="l"/>
              </a:tabLst>
            </a:pPr>
            <a:r>
              <a:rPr lang="en-GB" sz="1779" spc="-1">
                <a:solidFill>
                  <a:srgbClr val="000000"/>
                </a:solidFill>
                <a:highlight>
                  <a:srgbClr val="00FFFF"/>
                </a:highlight>
                <a:latin typeface="Courier New"/>
                <a:ea typeface="DejaVu Sans"/>
              </a:rPr>
              <a:t>mapping = aes(x, y, colour, fill, shape, size, alpha)</a:t>
            </a:r>
            <a:endParaRPr lang="en-GB" sz="1779" spc="-1">
              <a:latin typeface="Arial"/>
            </a:endParaRPr>
          </a:p>
        </p:txBody>
      </p:sp>
      <p:sp>
        <p:nvSpPr>
          <p:cNvPr id="192" name="CustomShape 4"/>
          <p:cNvSpPr/>
          <p:nvPr/>
        </p:nvSpPr>
        <p:spPr>
          <a:xfrm>
            <a:off x="2013240" y="4820166"/>
            <a:ext cx="8411040" cy="146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Note: Colour, shape, alpha, etc. can be passed </a:t>
            </a:r>
            <a:endParaRPr lang="en-GB" spc="-1">
              <a:latin typeface="Arial"/>
            </a:endParaRPr>
          </a:p>
          <a:p>
            <a:pPr marL="343080" indent="-342360">
              <a:buClr>
                <a:srgbClr val="000000"/>
              </a:buClr>
              <a:buFont typeface="StarSymbol"/>
              <a:buAutoNum type="arabicParenR"/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to the </a:t>
            </a:r>
            <a:r>
              <a:rPr lang="en-GB" spc="-1">
                <a:solidFill>
                  <a:srgbClr val="000000"/>
                </a:solidFill>
                <a:highlight>
                  <a:srgbClr val="00FFFF"/>
                </a:highlight>
                <a:latin typeface="Calibri"/>
                <a:ea typeface="DejaVu Sans"/>
              </a:rPr>
              <a:t>mapping argument - changes attributes based on some variable in the dataset itself (e.g. colour = location, or shape = hdi_class)</a:t>
            </a:r>
            <a:endParaRPr lang="en-GB" spc="-1">
              <a:latin typeface="Arial"/>
            </a:endParaRPr>
          </a:p>
          <a:p>
            <a:pPr marL="343080" indent="-342360">
              <a:buClr>
                <a:srgbClr val="000000"/>
              </a:buClr>
              <a:buFont typeface="StarSymbol"/>
              <a:buAutoNum type="arabicParenR"/>
            </a:pPr>
            <a:r>
              <a:rPr lang="en-GB" spc="-1">
                <a:solidFill>
                  <a:srgbClr val="000000"/>
                </a:solidFill>
                <a:highlight>
                  <a:srgbClr val="00FFFF"/>
                </a:highlight>
                <a:latin typeface="Calibri"/>
                <a:ea typeface="DejaVu Sans"/>
              </a:rPr>
              <a:t>directly as specific arguments in the geom function - changes the attributes to fixed values that are provided separately from the data (e.g. colour = “red” or size = 10)</a:t>
            </a:r>
            <a:endParaRPr lang="en-GB" spc="-1">
              <a:latin typeface="Arial"/>
            </a:endParaRPr>
          </a:p>
        </p:txBody>
      </p:sp>
      <p:sp>
        <p:nvSpPr>
          <p:cNvPr id="193" name="CustomShape 5"/>
          <p:cNvSpPr/>
          <p:nvPr/>
        </p:nvSpPr>
        <p:spPr>
          <a:xfrm>
            <a:off x="8817960" y="282726"/>
            <a:ext cx="1819080" cy="912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Global mapping – applies to the entire plot</a:t>
            </a:r>
            <a:endParaRPr lang="en-GB" spc="-1">
              <a:latin typeface="Arial"/>
            </a:endParaRPr>
          </a:p>
        </p:txBody>
      </p:sp>
      <p:sp>
        <p:nvSpPr>
          <p:cNvPr id="194" name="CustomShape 6"/>
          <p:cNvSpPr/>
          <p:nvPr/>
        </p:nvSpPr>
        <p:spPr>
          <a:xfrm>
            <a:off x="8817960" y="1711206"/>
            <a:ext cx="1574640" cy="36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Geom-specific</a:t>
            </a:r>
            <a:endParaRPr lang="en-GB" spc="-1">
              <a:latin typeface="Arial"/>
            </a:endParaRPr>
          </a:p>
        </p:txBody>
      </p:sp>
      <p:sp>
        <p:nvSpPr>
          <p:cNvPr id="195" name="CustomShape 7"/>
          <p:cNvSpPr/>
          <p:nvPr/>
        </p:nvSpPr>
        <p:spPr>
          <a:xfrm>
            <a:off x="4431720" y="1356246"/>
            <a:ext cx="4300920" cy="50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6" name="CustomShape 8"/>
          <p:cNvSpPr/>
          <p:nvPr/>
        </p:nvSpPr>
        <p:spPr>
          <a:xfrm>
            <a:off x="3447120" y="1210446"/>
            <a:ext cx="984600" cy="30024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7" name="CustomShape 9"/>
          <p:cNvSpPr/>
          <p:nvPr/>
        </p:nvSpPr>
        <p:spPr>
          <a:xfrm flipV="1">
            <a:off x="4710400" y="742806"/>
            <a:ext cx="3985200" cy="317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  <a:effectLst>
            <a:outerShdw blurRad="40000" dist="20160" dir="540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8" name="CustomShape 10"/>
          <p:cNvSpPr/>
          <p:nvPr/>
        </p:nvSpPr>
        <p:spPr>
          <a:xfrm>
            <a:off x="3738040" y="912006"/>
            <a:ext cx="984600" cy="293400"/>
          </a:xfrm>
          <a:prstGeom prst="rect">
            <a:avLst/>
          </a:prstGeom>
          <a:noFill/>
          <a:ln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9" name="CustomShape 11"/>
          <p:cNvSpPr/>
          <p:nvPr/>
        </p:nvSpPr>
        <p:spPr>
          <a:xfrm>
            <a:off x="1981560" y="3652686"/>
            <a:ext cx="18190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alibri"/>
                <a:ea typeface="DejaVu Sans"/>
              </a:rPr>
              <a:t>Where,</a:t>
            </a:r>
            <a:endParaRPr lang="en-GB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46E16-0860-B5C9-9C94-074DF328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DEFEBC8-8018-3D67-CF93-D4D2331BB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560" y="607307"/>
            <a:ext cx="8061978" cy="5643385"/>
          </a:xfrm>
          <a:prstGeom prst="rect">
            <a:avLst/>
          </a:prstGeom>
        </p:spPr>
      </p:pic>
      <p:sp>
        <p:nvSpPr>
          <p:cNvPr id="189" name="CustomShape 1">
            <a:extLst>
              <a:ext uri="{FF2B5EF4-FFF2-40B4-BE49-F238E27FC236}">
                <a16:creationId xmlns:a16="http://schemas.microsoft.com/office/drawing/2014/main" id="{B7B879EE-7528-1548-AADA-5AC1CCC923E7}"/>
              </a:ext>
            </a:extLst>
          </p:cNvPr>
          <p:cNvSpPr/>
          <p:nvPr/>
        </p:nvSpPr>
        <p:spPr>
          <a:xfrm>
            <a:off x="1981560" y="-144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Colours in ggplot2</a:t>
            </a:r>
            <a:endParaRPr lang="en-GB" sz="4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555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A725-D9BC-3419-F355-169E8D131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>
            <a:extLst>
              <a:ext uri="{FF2B5EF4-FFF2-40B4-BE49-F238E27FC236}">
                <a16:creationId xmlns:a16="http://schemas.microsoft.com/office/drawing/2014/main" id="{E65D9A70-1292-CAF4-2C4A-3ECB2F65B0BF}"/>
              </a:ext>
            </a:extLst>
          </p:cNvPr>
          <p:cNvSpPr/>
          <p:nvPr/>
        </p:nvSpPr>
        <p:spPr>
          <a:xfrm>
            <a:off x="1524000" y="0"/>
            <a:ext cx="8644569" cy="61363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2">
            <a:extLst>
              <a:ext uri="{FF2B5EF4-FFF2-40B4-BE49-F238E27FC236}">
                <a16:creationId xmlns:a16="http://schemas.microsoft.com/office/drawing/2014/main" id="{F708F860-8142-5833-456C-7807B9851C91}"/>
              </a:ext>
            </a:extLst>
          </p:cNvPr>
          <p:cNvSpPr/>
          <p:nvPr/>
        </p:nvSpPr>
        <p:spPr>
          <a:xfrm>
            <a:off x="2436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pc="-1" dirty="0">
                <a:solidFill>
                  <a:srgbClr val="000000"/>
                </a:solidFill>
                <a:ea typeface="DejaVu Sans"/>
              </a:rPr>
              <a:t>Let’s explore practically</a:t>
            </a:r>
            <a:endParaRPr lang="en-GB" sz="5400" spc="-1" dirty="0"/>
          </a:p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endParaRPr lang="en-GB" sz="5400" spc="-1" dirty="0"/>
          </a:p>
        </p:txBody>
      </p:sp>
      <p:sp>
        <p:nvSpPr>
          <p:cNvPr id="380" name="CustomShape 3">
            <a:extLst>
              <a:ext uri="{FF2B5EF4-FFF2-40B4-BE49-F238E27FC236}">
                <a16:creationId xmlns:a16="http://schemas.microsoft.com/office/drawing/2014/main" id="{E53AFD1B-6EDC-AC46-039A-C55B9F6CE8AE}"/>
              </a:ext>
            </a:extLst>
          </p:cNvPr>
          <p:cNvSpPr/>
          <p:nvPr/>
        </p:nvSpPr>
        <p:spPr>
          <a:xfrm>
            <a:off x="5656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81" name="Graphic 5" descr="Cmd Terminal outline">
            <a:extLst>
              <a:ext uri="{FF2B5EF4-FFF2-40B4-BE49-F238E27FC236}">
                <a16:creationId xmlns:a16="http://schemas.microsoft.com/office/drawing/2014/main" id="{2022AB90-B8B0-FEC5-78E9-BD286748AB7E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008960" y="2341080"/>
            <a:ext cx="2745360" cy="2745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652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CustomShape 1"/>
          <p:cNvSpPr/>
          <p:nvPr/>
        </p:nvSpPr>
        <p:spPr>
          <a:xfrm>
            <a:off x="1981200" y="936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  <a:cs typeface="Arial" panose="020B0604020202020204" pitchFamily="34" charset="0"/>
              </a:rPr>
              <a:t>How to choose the graph type</a:t>
            </a:r>
            <a:endParaRPr lang="en-GB" sz="3200" spc="-1" dirty="0">
              <a:solidFill>
                <a:schemeClr val="tx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57" name="CustomShape 2"/>
          <p:cNvSpPr/>
          <p:nvPr/>
        </p:nvSpPr>
        <p:spPr>
          <a:xfrm>
            <a:off x="1879680" y="950959"/>
            <a:ext cx="4215600" cy="5308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343080" indent="-34236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spc="-1" dirty="0">
                <a:solidFill>
                  <a:srgbClr val="000000"/>
                </a:solidFill>
                <a:ea typeface="DejaVu Sans"/>
              </a:rPr>
              <a:t>Human perception is not uniformly good at distinguishing different physical aspects – e.g. length is better than volume</a:t>
            </a:r>
            <a:endParaRPr lang="en-GB" sz="2150" spc="-1" dirty="0"/>
          </a:p>
          <a:p>
            <a:pPr marL="343080" indent="-34236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spc="-1" dirty="0">
                <a:solidFill>
                  <a:srgbClr val="000000"/>
                </a:solidFill>
                <a:ea typeface="DejaVu Sans"/>
              </a:rPr>
              <a:t>Factors to help decide on viz:</a:t>
            </a:r>
            <a:endParaRPr lang="en-GB" sz="21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Information – detail or summary?</a:t>
            </a:r>
            <a:endParaRPr lang="en-GB" sz="17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Number of dimensions</a:t>
            </a:r>
            <a:endParaRPr lang="en-GB" sz="17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Comparisons</a:t>
            </a:r>
            <a:endParaRPr lang="en-GB" sz="17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Continuous vs categorical data</a:t>
            </a:r>
            <a:endParaRPr lang="en-GB" sz="17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Scale – e.g. linear or log?</a:t>
            </a:r>
            <a:endParaRPr lang="en-GB" sz="17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Shape and size</a:t>
            </a:r>
            <a:endParaRPr lang="en-GB" sz="17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Colours – distinct? Colour-blind friendly?</a:t>
            </a:r>
            <a:endParaRPr lang="en-GB" sz="17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Legends and labels</a:t>
            </a:r>
            <a:endParaRPr lang="en-GB" sz="1750" spc="-1" dirty="0"/>
          </a:p>
          <a:p>
            <a:pPr marL="743040" lvl="1" indent="-285120">
              <a:spcBef>
                <a:spcPts val="349"/>
              </a:spcBef>
              <a:buClr>
                <a:srgbClr val="000000"/>
              </a:buClr>
              <a:buFont typeface="Arial"/>
              <a:buChar char="–"/>
            </a:pPr>
            <a:r>
              <a:rPr lang="en-GB" sz="1750" spc="-1" dirty="0">
                <a:solidFill>
                  <a:srgbClr val="000000"/>
                </a:solidFill>
                <a:ea typeface="DejaVu Sans"/>
              </a:rPr>
              <a:t>Subplots</a:t>
            </a:r>
            <a:endParaRPr lang="en-GB" sz="1750" spc="-1" dirty="0"/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u="sng" spc="-1" dirty="0">
                <a:solidFill>
                  <a:srgbClr val="0000FF"/>
                </a:solidFill>
                <a:ea typeface="DejaVu Sans"/>
                <a:hlinkClick r:id="rId2"/>
              </a:rPr>
              <a:t>From Data to Viz</a:t>
            </a:r>
            <a:r>
              <a:rPr lang="en-GB" sz="2000" spc="-1" dirty="0">
                <a:solidFill>
                  <a:srgbClr val="000000"/>
                </a:solidFill>
                <a:ea typeface="DejaVu Sans"/>
              </a:rPr>
              <a:t> – A handy tool to help you decide</a:t>
            </a:r>
            <a:endParaRPr lang="en-GB" sz="2000" spc="-1" dirty="0"/>
          </a:p>
        </p:txBody>
      </p:sp>
      <p:pic>
        <p:nvPicPr>
          <p:cNvPr id="158" name="Picture 6"/>
          <p:cNvPicPr/>
          <p:nvPr/>
        </p:nvPicPr>
        <p:blipFill>
          <a:blip r:embed="rId3"/>
          <a:srcRect l="36787" t="13533" r="22616" b="6201"/>
          <a:stretch/>
        </p:blipFill>
        <p:spPr>
          <a:xfrm>
            <a:off x="6197520" y="1260720"/>
            <a:ext cx="4215600" cy="4689720"/>
          </a:xfrm>
          <a:prstGeom prst="rect">
            <a:avLst/>
          </a:prstGeom>
          <a:ln>
            <a:noFill/>
          </a:ln>
        </p:spPr>
      </p:pic>
      <p:sp>
        <p:nvSpPr>
          <p:cNvPr id="159" name="CustomShape 3"/>
          <p:cNvSpPr/>
          <p:nvPr/>
        </p:nvSpPr>
        <p:spPr>
          <a:xfrm>
            <a:off x="6947338" y="5895360"/>
            <a:ext cx="36568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i="1" spc="-1" dirty="0">
                <a:solidFill>
                  <a:srgbClr val="000000"/>
                </a:solidFill>
                <a:latin typeface="Calibri"/>
                <a:ea typeface="DejaVu Sans"/>
              </a:rPr>
              <a:t>The Grammar of Graphics</a:t>
            </a:r>
            <a:r>
              <a:rPr lang="en-GB" spc="-1" dirty="0">
                <a:solidFill>
                  <a:srgbClr val="000000"/>
                </a:solidFill>
                <a:latin typeface="Calibri"/>
                <a:ea typeface="DejaVu Sans"/>
              </a:rPr>
              <a:t>, 2005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CustomShape 2"/>
          <p:cNvSpPr/>
          <p:nvPr/>
        </p:nvSpPr>
        <p:spPr>
          <a:xfrm>
            <a:off x="1984440" y="1712880"/>
            <a:ext cx="274248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pc="-1">
                <a:solidFill>
                  <a:srgbClr val="000000"/>
                </a:solidFill>
                <a:latin typeface="Calibri"/>
                <a:ea typeface="DejaVu Sans"/>
              </a:rPr>
              <a:t>Box-plots</a:t>
            </a:r>
            <a:endParaRPr lang="en-GB" sz="2000" spc="-1">
              <a:latin typeface="Arial"/>
            </a:endParaRPr>
          </a:p>
        </p:txBody>
      </p:sp>
      <p:sp>
        <p:nvSpPr>
          <p:cNvPr id="208" name="CustomShape 3"/>
          <p:cNvSpPr/>
          <p:nvPr/>
        </p:nvSpPr>
        <p:spPr>
          <a:xfrm>
            <a:off x="1984440" y="2080800"/>
            <a:ext cx="274248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Calibri"/>
              </a:rPr>
              <a:t>geom_boxplot()</a:t>
            </a:r>
            <a:endParaRPr lang="en-GB" spc="-1">
              <a:latin typeface="Arial"/>
            </a:endParaRPr>
          </a:p>
        </p:txBody>
      </p:sp>
      <p:pic>
        <p:nvPicPr>
          <p:cNvPr id="209" name="Picture 6" descr="Chart, box and whiske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2641800" y="4245766"/>
            <a:ext cx="2742480" cy="2079360"/>
          </a:xfrm>
          <a:prstGeom prst="rect">
            <a:avLst/>
          </a:prstGeom>
          <a:ln>
            <a:noFill/>
          </a:ln>
        </p:spPr>
      </p:pic>
      <p:pic>
        <p:nvPicPr>
          <p:cNvPr id="210" name="Picture 7" descr="Chart, box and whiske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6164760" y="4328280"/>
            <a:ext cx="2742480" cy="1958760"/>
          </a:xfrm>
          <a:prstGeom prst="rect">
            <a:avLst/>
          </a:prstGeom>
          <a:ln>
            <a:noFill/>
          </a:ln>
        </p:spPr>
      </p:pic>
      <p:pic>
        <p:nvPicPr>
          <p:cNvPr id="211" name="Picture 9" descr="Diagram&#10;&#10;Description automatically generated"/>
          <p:cNvPicPr/>
          <p:nvPr/>
        </p:nvPicPr>
        <p:blipFill>
          <a:blip r:embed="rId4"/>
          <a:stretch/>
        </p:blipFill>
        <p:spPr>
          <a:xfrm>
            <a:off x="3730080" y="1328400"/>
            <a:ext cx="6484680" cy="2948040"/>
          </a:xfrm>
          <a:prstGeom prst="rect">
            <a:avLst/>
          </a:prstGeom>
          <a:ln>
            <a:noFill/>
          </a:ln>
        </p:spPr>
      </p:pic>
      <p:sp>
        <p:nvSpPr>
          <p:cNvPr id="2" name="CustomShape 1">
            <a:extLst>
              <a:ext uri="{FF2B5EF4-FFF2-40B4-BE49-F238E27FC236}">
                <a16:creationId xmlns:a16="http://schemas.microsoft.com/office/drawing/2014/main" id="{3908ECED-FFAB-B0CC-21EA-7056BEEB9470}"/>
              </a:ext>
            </a:extLst>
          </p:cNvPr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Plotting grouped data</a:t>
            </a:r>
            <a:endParaRPr lang="en-GB" sz="4400" b="1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CustomShape 2"/>
          <p:cNvSpPr/>
          <p:nvPr/>
        </p:nvSpPr>
        <p:spPr>
          <a:xfrm>
            <a:off x="1984440" y="1344960"/>
            <a:ext cx="274248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pc="-1">
                <a:solidFill>
                  <a:srgbClr val="000000"/>
                </a:solidFill>
                <a:latin typeface="Calibri"/>
                <a:ea typeface="DejaVu Sans"/>
              </a:rPr>
              <a:t>Bar plots</a:t>
            </a:r>
            <a:endParaRPr lang="en-GB" sz="2000" spc="-1">
              <a:latin typeface="Arial"/>
            </a:endParaRPr>
          </a:p>
        </p:txBody>
      </p:sp>
      <p:sp>
        <p:nvSpPr>
          <p:cNvPr id="214" name="CustomShape 3"/>
          <p:cNvSpPr/>
          <p:nvPr/>
        </p:nvSpPr>
        <p:spPr>
          <a:xfrm>
            <a:off x="1986240" y="1715040"/>
            <a:ext cx="385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geom_bar(</a:t>
            </a: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position=...)</a:t>
            </a:r>
            <a:endParaRPr lang="en-GB" spc="-1">
              <a:latin typeface="Arial"/>
            </a:endParaRPr>
          </a:p>
        </p:txBody>
      </p:sp>
      <p:sp>
        <p:nvSpPr>
          <p:cNvPr id="215" name="CustomShape 4"/>
          <p:cNvSpPr/>
          <p:nvPr/>
        </p:nvSpPr>
        <p:spPr>
          <a:xfrm>
            <a:off x="7740480" y="5292720"/>
            <a:ext cx="26330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position="fill"</a:t>
            </a:r>
            <a:endParaRPr lang="en-GB" spc="-1">
              <a:latin typeface="Arial"/>
            </a:endParaRPr>
          </a:p>
        </p:txBody>
      </p:sp>
      <p:sp>
        <p:nvSpPr>
          <p:cNvPr id="216" name="CustomShape 5"/>
          <p:cNvSpPr/>
          <p:nvPr/>
        </p:nvSpPr>
        <p:spPr>
          <a:xfrm>
            <a:off x="4726200" y="5292720"/>
            <a:ext cx="24764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Calibri"/>
              </a:rPr>
              <a:t>position="stack"</a:t>
            </a:r>
            <a:endParaRPr lang="en-GB" spc="-1">
              <a:latin typeface="Arial"/>
            </a:endParaRPr>
          </a:p>
        </p:txBody>
      </p:sp>
      <p:pic>
        <p:nvPicPr>
          <p:cNvPr id="217" name="Picture 8" descr="Chart, ba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1827840" y="2550600"/>
            <a:ext cx="2742480" cy="2742480"/>
          </a:xfrm>
          <a:prstGeom prst="rect">
            <a:avLst/>
          </a:prstGeom>
          <a:ln>
            <a:noFill/>
          </a:ln>
        </p:spPr>
      </p:pic>
      <p:pic>
        <p:nvPicPr>
          <p:cNvPr id="218" name="Picture 9" descr="Chart, ba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4724400" y="2550600"/>
            <a:ext cx="2742480" cy="2742480"/>
          </a:xfrm>
          <a:prstGeom prst="rect">
            <a:avLst/>
          </a:prstGeom>
          <a:ln>
            <a:noFill/>
          </a:ln>
        </p:spPr>
      </p:pic>
      <p:pic>
        <p:nvPicPr>
          <p:cNvPr id="219" name="Picture 10" descr="Chart, bar chart&#10;&#10;Description automatically generated"/>
          <p:cNvPicPr/>
          <p:nvPr/>
        </p:nvPicPr>
        <p:blipFill>
          <a:blip r:embed="rId4"/>
          <a:stretch/>
        </p:blipFill>
        <p:spPr>
          <a:xfrm>
            <a:off x="7628880" y="2550600"/>
            <a:ext cx="2742480" cy="2742480"/>
          </a:xfrm>
          <a:prstGeom prst="rect">
            <a:avLst/>
          </a:prstGeom>
          <a:ln>
            <a:noFill/>
          </a:ln>
        </p:spPr>
      </p:pic>
      <p:sp>
        <p:nvSpPr>
          <p:cNvPr id="220" name="CustomShape 6"/>
          <p:cNvSpPr/>
          <p:nvPr/>
        </p:nvSpPr>
        <p:spPr>
          <a:xfrm>
            <a:off x="1827840" y="5345640"/>
            <a:ext cx="274248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DejaVu Sans"/>
              </a:rPr>
              <a:t>position="dodge"</a:t>
            </a:r>
            <a:endParaRPr lang="en-GB" spc="-1">
              <a:latin typeface="Arial"/>
            </a:endParaRPr>
          </a:p>
        </p:txBody>
      </p:sp>
      <p:sp>
        <p:nvSpPr>
          <p:cNvPr id="3" name="CustomShape 1">
            <a:extLst>
              <a:ext uri="{FF2B5EF4-FFF2-40B4-BE49-F238E27FC236}">
                <a16:creationId xmlns:a16="http://schemas.microsoft.com/office/drawing/2014/main" id="{F30F4E2F-2E25-1EFB-458D-FAAED785ECD3}"/>
              </a:ext>
            </a:extLst>
          </p:cNvPr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Plotting grouped data</a:t>
            </a:r>
            <a:endParaRPr lang="en-GB" sz="4400" b="1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Plotting grouped data</a:t>
            </a:r>
            <a:endParaRPr lang="en-GB" sz="4400" b="1" spc="-1" dirty="0">
              <a:latin typeface="Arial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1984440" y="1344960"/>
            <a:ext cx="274248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z="2000" b="1" spc="-1">
                <a:solidFill>
                  <a:srgbClr val="000000"/>
                </a:solidFill>
                <a:latin typeface="Calibri"/>
                <a:ea typeface="DejaVu Sans"/>
              </a:rPr>
              <a:t>Dot plots</a:t>
            </a:r>
            <a:endParaRPr lang="en-GB" sz="2000" spc="-1">
              <a:latin typeface="Arial"/>
            </a:endParaRPr>
          </a:p>
        </p:txBody>
      </p:sp>
      <p:sp>
        <p:nvSpPr>
          <p:cNvPr id="223" name="CustomShape 3"/>
          <p:cNvSpPr/>
          <p:nvPr/>
        </p:nvSpPr>
        <p:spPr>
          <a:xfrm>
            <a:off x="1986240" y="1715040"/>
            <a:ext cx="38541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>
                <a:solidFill>
                  <a:srgbClr val="000000"/>
                </a:solidFill>
                <a:latin typeface="Courier New"/>
                <a:ea typeface="DejaVu Sans"/>
              </a:rPr>
              <a:t>geom_dotplot()</a:t>
            </a:r>
            <a:endParaRPr lang="en-GB" spc="-1">
              <a:latin typeface="Arial"/>
            </a:endParaRPr>
          </a:p>
        </p:txBody>
      </p:sp>
      <p:sp>
        <p:nvSpPr>
          <p:cNvPr id="224" name="CustomShape 4"/>
          <p:cNvSpPr/>
          <p:nvPr/>
        </p:nvSpPr>
        <p:spPr>
          <a:xfrm>
            <a:off x="6258900" y="5394240"/>
            <a:ext cx="5185080" cy="1187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ggplot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(…)+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geom_boxplot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(position = "dodge")+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geom_dotplot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pc="-1" dirty="0">
              <a:latin typeface="Arial"/>
            </a:endParaRPr>
          </a:p>
        </p:txBody>
      </p:sp>
      <p:sp>
        <p:nvSpPr>
          <p:cNvPr id="225" name="CustomShape 5"/>
          <p:cNvSpPr/>
          <p:nvPr/>
        </p:nvSpPr>
        <p:spPr>
          <a:xfrm>
            <a:off x="1814160" y="5256360"/>
            <a:ext cx="275796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ggplot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(…)+ 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geom_boxplot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(…)+ 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geom_dotplot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(…)</a:t>
            </a:r>
            <a:endParaRPr lang="en-GB" spc="-1" dirty="0">
              <a:latin typeface="Arial"/>
            </a:endParaRPr>
          </a:p>
        </p:txBody>
      </p:sp>
      <p:sp>
        <p:nvSpPr>
          <p:cNvPr id="226" name="CustomShape 6"/>
          <p:cNvSpPr/>
          <p:nvPr/>
        </p:nvSpPr>
        <p:spPr>
          <a:xfrm>
            <a:off x="4739880" y="3560400"/>
            <a:ext cx="2742480" cy="639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pc="-1">
                <a:solidFill>
                  <a:srgbClr val="000000"/>
                </a:solidFill>
                <a:latin typeface="Courier New"/>
                <a:ea typeface="DejaVu Sans"/>
              </a:rPr>
              <a:t>ggplot(…)+ geom_dotplot(…)</a:t>
            </a:r>
            <a:endParaRPr lang="en-GB" spc="-1">
              <a:latin typeface="Arial"/>
            </a:endParaRPr>
          </a:p>
        </p:txBody>
      </p:sp>
      <p:pic>
        <p:nvPicPr>
          <p:cNvPr id="227" name="Picture 10" descr="Chart, scatte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4833840" y="1243080"/>
            <a:ext cx="2304000" cy="2319840"/>
          </a:xfrm>
          <a:prstGeom prst="rect">
            <a:avLst/>
          </a:prstGeom>
          <a:ln>
            <a:noFill/>
          </a:ln>
        </p:spPr>
      </p:pic>
      <p:pic>
        <p:nvPicPr>
          <p:cNvPr id="228" name="Picture 12" descr="Chart, scatte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1814160" y="3142440"/>
            <a:ext cx="2742480" cy="2113920"/>
          </a:xfrm>
          <a:prstGeom prst="rect">
            <a:avLst/>
          </a:prstGeom>
          <a:ln>
            <a:noFill/>
          </a:ln>
        </p:spPr>
      </p:pic>
      <p:pic>
        <p:nvPicPr>
          <p:cNvPr id="229" name="Picture 13" descr="Chart, box and whisker chart&#10;&#10;Description automatically generated"/>
          <p:cNvPicPr/>
          <p:nvPr/>
        </p:nvPicPr>
        <p:blipFill>
          <a:blip r:embed="rId4"/>
          <a:stretch/>
        </p:blipFill>
        <p:spPr>
          <a:xfrm>
            <a:off x="7482360" y="3280320"/>
            <a:ext cx="2742480" cy="211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1981200" y="684000"/>
            <a:ext cx="8228160" cy="1144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>
                <a:solidFill>
                  <a:srgbClr val="000000"/>
                </a:solidFill>
                <a:latin typeface="Calibri"/>
                <a:ea typeface="DejaVu Sans"/>
              </a:rPr>
              <a:t>Understanding factors</a:t>
            </a:r>
            <a:endParaRPr lang="en-GB" sz="4400" spc="-1"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1981200" y="1640160"/>
            <a:ext cx="8384760" cy="3577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Factors are used to represent categorical data.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Factors don't have to be binary! You can have many categories.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When you import a table to R, your categorical columns are treated as characters ("Germany", "Belgium", "Germany", etc.) or numbers (1, 2): using safest option -  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DejaVu Sans"/>
              </a:rPr>
              <a:t>stringsAsFactors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 = FALSE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 argument in 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read...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 functions.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You know where your categories are presented. Convert the relevant column into factor: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  df1$col1 &lt;- 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DejaVu Sans"/>
              </a:rPr>
              <a:t>as.factor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(df1$col1)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DejaVu Sans"/>
              </a:rPr>
              <a:t>Factors have levels, you can check all the categories within the factor:</a:t>
            </a: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ourier New"/>
                <a:ea typeface="DejaVu Sans"/>
              </a:rPr>
              <a:t>  levels(df1$col1)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</a:pPr>
            <a:endParaRPr lang="en-GB" sz="2000" spc="-1" dirty="0">
              <a:latin typeface="Arial"/>
            </a:endParaRPr>
          </a:p>
          <a:p>
            <a:pPr marL="343080" indent="-342360">
              <a:spcBef>
                <a:spcPts val="400"/>
              </a:spcBef>
              <a:buClr>
                <a:srgbClr val="FF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FF0000"/>
                </a:solidFill>
                <a:latin typeface="Calibri"/>
                <a:ea typeface="Calibri"/>
              </a:rPr>
              <a:t>You need to have your categories as factors in order to analyse and to plot the data by group!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</a:pPr>
            <a:endParaRPr lang="en-GB" sz="2000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CustomShape 1"/>
          <p:cNvSpPr/>
          <p:nvPr/>
        </p:nvSpPr>
        <p:spPr>
          <a:xfrm>
            <a:off x="1981200" y="65052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>
                <a:solidFill>
                  <a:srgbClr val="000000"/>
                </a:solidFill>
                <a:latin typeface="Calibri"/>
                <a:ea typeface="DejaVu Sans"/>
              </a:rPr>
              <a:t>Wide vs. Long data format</a:t>
            </a:r>
            <a:endParaRPr lang="en-GB" sz="4400" spc="-1">
              <a:latin typeface="Arial"/>
            </a:endParaRPr>
          </a:p>
        </p:txBody>
      </p:sp>
      <p:pic>
        <p:nvPicPr>
          <p:cNvPr id="233" name="Picture 4" descr="A picture containing text, crossword, photo, different&#10;&#10;Description automatically generated"/>
          <p:cNvPicPr/>
          <p:nvPr/>
        </p:nvPicPr>
        <p:blipFill>
          <a:blip r:embed="rId2"/>
          <a:stretch/>
        </p:blipFill>
        <p:spPr>
          <a:xfrm>
            <a:off x="1887240" y="2494440"/>
            <a:ext cx="8322840" cy="2705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Picture 4" descr="Table&#10;&#10;Description automatically generated"/>
          <p:cNvPicPr/>
          <p:nvPr/>
        </p:nvPicPr>
        <p:blipFill rotWithShape="1">
          <a:blip r:embed="rId2"/>
          <a:srcRect t="11950" b="12126"/>
          <a:stretch/>
        </p:blipFill>
        <p:spPr>
          <a:xfrm>
            <a:off x="1984440" y="2691893"/>
            <a:ext cx="8035200" cy="2023430"/>
          </a:xfrm>
          <a:prstGeom prst="rect">
            <a:avLst/>
          </a:prstGeom>
          <a:ln>
            <a:noFill/>
          </a:ln>
        </p:spPr>
      </p:pic>
      <p:sp>
        <p:nvSpPr>
          <p:cNvPr id="240" name="CustomShape 2"/>
          <p:cNvSpPr/>
          <p:nvPr/>
        </p:nvSpPr>
        <p:spPr>
          <a:xfrm>
            <a:off x="2664084" y="5710075"/>
            <a:ext cx="5889960" cy="36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GB" b="1" spc="-1" dirty="0">
                <a:solidFill>
                  <a:srgbClr val="FF0000"/>
                </a:solidFill>
                <a:latin typeface="Calibri"/>
              </a:rPr>
              <a:t>To plot by groups we need our data to be in a long format!</a:t>
            </a:r>
            <a:endParaRPr lang="en-GB" b="1" spc="-1" dirty="0"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D6BA7-C969-9B43-AF5E-D5D918D67420}"/>
              </a:ext>
            </a:extLst>
          </p:cNvPr>
          <p:cNvSpPr txBox="1"/>
          <p:nvPr/>
        </p:nvSpPr>
        <p:spPr>
          <a:xfrm>
            <a:off x="1002149" y="2287841"/>
            <a:ext cx="93335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FF0000"/>
                </a:solidFill>
              </a:rPr>
              <a:t>pivot_longer</a:t>
            </a:r>
            <a:r>
              <a:rPr lang="en-GB" b="1" dirty="0">
                <a:solidFill>
                  <a:srgbClr val="FF0000"/>
                </a:solidFill>
              </a:rPr>
              <a:t>(data = </a:t>
            </a:r>
            <a:r>
              <a:rPr lang="en-GB" b="1" dirty="0" err="1">
                <a:solidFill>
                  <a:srgbClr val="FF0000"/>
                </a:solidFill>
              </a:rPr>
              <a:t>chrData</a:t>
            </a:r>
            <a:r>
              <a:rPr lang="en-GB" b="1" dirty="0">
                <a:solidFill>
                  <a:srgbClr val="FF0000"/>
                </a:solidFill>
              </a:rPr>
              <a:t>, cols = -region, </a:t>
            </a:r>
            <a:r>
              <a:rPr lang="en-GB" b="1" dirty="0" err="1">
                <a:solidFill>
                  <a:srgbClr val="FF0000"/>
                </a:solidFill>
              </a:rPr>
              <a:t>names_to</a:t>
            </a:r>
            <a:r>
              <a:rPr lang="en-GB" b="1" dirty="0">
                <a:solidFill>
                  <a:srgbClr val="FF0000"/>
                </a:solidFill>
              </a:rPr>
              <a:t> = "variable", </a:t>
            </a:r>
            <a:r>
              <a:rPr lang="en-GB" b="1" dirty="0" err="1">
                <a:solidFill>
                  <a:srgbClr val="FF0000"/>
                </a:solidFill>
              </a:rPr>
              <a:t>values_to</a:t>
            </a:r>
            <a:r>
              <a:rPr lang="en-GB" b="1" dirty="0">
                <a:solidFill>
                  <a:srgbClr val="FF0000"/>
                </a:solidFill>
              </a:rPr>
              <a:t> = "value")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46AA4-34F6-6841-A92B-D9CAD4A95988}"/>
              </a:ext>
            </a:extLst>
          </p:cNvPr>
          <p:cNvSpPr txBox="1"/>
          <p:nvPr/>
        </p:nvSpPr>
        <p:spPr>
          <a:xfrm>
            <a:off x="1369164" y="5047048"/>
            <a:ext cx="847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 err="1">
                <a:solidFill>
                  <a:srgbClr val="0070C0"/>
                </a:solidFill>
              </a:rPr>
              <a:t>pivot_wider</a:t>
            </a:r>
            <a:r>
              <a:rPr lang="en-GB" b="1" dirty="0">
                <a:solidFill>
                  <a:srgbClr val="0070C0"/>
                </a:solidFill>
              </a:rPr>
              <a:t>(data = </a:t>
            </a:r>
            <a:r>
              <a:rPr lang="en-GB" b="1" dirty="0" err="1">
                <a:solidFill>
                  <a:srgbClr val="0070C0"/>
                </a:solidFill>
              </a:rPr>
              <a:t>chrData</a:t>
            </a:r>
            <a:r>
              <a:rPr lang="en-GB" b="1" dirty="0">
                <a:solidFill>
                  <a:srgbClr val="0070C0"/>
                </a:solidFill>
              </a:rPr>
              <a:t>, </a:t>
            </a:r>
            <a:r>
              <a:rPr lang="en-GB" b="1" dirty="0" err="1">
                <a:solidFill>
                  <a:srgbClr val="0070C0"/>
                </a:solidFill>
              </a:rPr>
              <a:t>names_from</a:t>
            </a:r>
            <a:r>
              <a:rPr lang="en-GB" b="1" dirty="0">
                <a:solidFill>
                  <a:srgbClr val="0070C0"/>
                </a:solidFill>
              </a:rPr>
              <a:t> = variable, </a:t>
            </a:r>
            <a:r>
              <a:rPr lang="en-GB" b="1" dirty="0" err="1">
                <a:solidFill>
                  <a:srgbClr val="0070C0"/>
                </a:solidFill>
              </a:rPr>
              <a:t>values_from</a:t>
            </a:r>
            <a:r>
              <a:rPr lang="en-GB" b="1" dirty="0">
                <a:solidFill>
                  <a:srgbClr val="0070C0"/>
                </a:solidFill>
              </a:rPr>
              <a:t> = value)</a:t>
            </a:r>
            <a:endParaRPr lang="en-US" dirty="0"/>
          </a:p>
        </p:txBody>
      </p:sp>
      <p:sp>
        <p:nvSpPr>
          <p:cNvPr id="2" name="TextShape 1">
            <a:extLst>
              <a:ext uri="{FF2B5EF4-FFF2-40B4-BE49-F238E27FC236}">
                <a16:creationId xmlns:a16="http://schemas.microsoft.com/office/drawing/2014/main" id="{FC7DD67E-ADC0-936D-BBEE-3D00E1BF3F0A}"/>
              </a:ext>
            </a:extLst>
          </p:cNvPr>
          <p:cNvSpPr txBox="1"/>
          <p:nvPr/>
        </p:nvSpPr>
        <p:spPr>
          <a:xfrm>
            <a:off x="1855920" y="572040"/>
            <a:ext cx="847980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</a:rPr>
              <a:t>Reshaping data with </a:t>
            </a:r>
            <a:r>
              <a:rPr lang="en-GB" sz="4400" b="1" spc="-1" dirty="0" err="1">
                <a:solidFill>
                  <a:srgbClr val="000000"/>
                </a:solidFill>
                <a:latin typeface="Calibri"/>
              </a:rPr>
              <a:t>tidyr</a:t>
            </a:r>
            <a:endParaRPr lang="en-US" sz="4400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F54D8-A052-76DC-866D-BF8FAEFC0D82}"/>
              </a:ext>
            </a:extLst>
          </p:cNvPr>
          <p:cNvSpPr txBox="1"/>
          <p:nvPr/>
        </p:nvSpPr>
        <p:spPr>
          <a:xfrm>
            <a:off x="2559206" y="1818671"/>
            <a:ext cx="6099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alibri"/>
              </a:rPr>
              <a:t>Wide-to-long format:</a:t>
            </a:r>
          </a:p>
        </p:txBody>
      </p:sp>
      <p:sp>
        <p:nvSpPr>
          <p:cNvPr id="5" name="CustomShape 4">
            <a:extLst>
              <a:ext uri="{FF2B5EF4-FFF2-40B4-BE49-F238E27FC236}">
                <a16:creationId xmlns:a16="http://schemas.microsoft.com/office/drawing/2014/main" id="{223C68D5-330D-B127-9F9D-2522A1FD36B0}"/>
              </a:ext>
            </a:extLst>
          </p:cNvPr>
          <p:cNvSpPr/>
          <p:nvPr/>
        </p:nvSpPr>
        <p:spPr>
          <a:xfrm>
            <a:off x="2864468" y="4653749"/>
            <a:ext cx="5489192" cy="3693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Calibri"/>
              </a:rPr>
              <a:t> Long-to-wide format: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D7B618-A4AE-C679-20BE-0D701C1A95A2}"/>
              </a:ext>
            </a:extLst>
          </p:cNvPr>
          <p:cNvSpPr txBox="1"/>
          <p:nvPr/>
        </p:nvSpPr>
        <p:spPr>
          <a:xfrm>
            <a:off x="9481380" y="5893135"/>
            <a:ext cx="2866571" cy="36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GB" b="1" spc="-1" dirty="0" err="1">
                <a:solidFill>
                  <a:srgbClr val="000000"/>
                </a:solidFill>
                <a:latin typeface="Calibri"/>
              </a:rPr>
              <a:t>tidyr</a:t>
            </a:r>
            <a:r>
              <a:rPr lang="en-GB" spc="-1" dirty="0">
                <a:solidFill>
                  <a:srgbClr val="000000"/>
                </a:solidFill>
                <a:latin typeface="Calibri"/>
              </a:rPr>
              <a:t> is a part of </a:t>
            </a:r>
            <a:r>
              <a:rPr lang="en-GB" spc="-1" dirty="0" err="1">
                <a:solidFill>
                  <a:srgbClr val="000000"/>
                </a:solidFill>
                <a:latin typeface="Calibri"/>
              </a:rPr>
              <a:t>Tidyverse</a:t>
            </a:r>
            <a:r>
              <a:rPr lang="en-GB" spc="-1" dirty="0">
                <a:solidFill>
                  <a:srgbClr val="000000"/>
                </a:solidFill>
                <a:latin typeface="Calibri"/>
              </a:rPr>
              <a:t> 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CustomShape 1"/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Error bars – </a:t>
            </a:r>
            <a:r>
              <a:rPr lang="en-GB" sz="4400" b="1" spc="-1" dirty="0" err="1">
                <a:solidFill>
                  <a:srgbClr val="000000"/>
                </a:solidFill>
                <a:latin typeface="Calibri"/>
                <a:ea typeface="DejaVu Sans"/>
              </a:rPr>
              <a:t>geom_bar</a:t>
            </a: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()</a:t>
            </a:r>
            <a:endParaRPr lang="en-GB" sz="4400" b="1" spc="-1" dirty="0">
              <a:latin typeface="Arial"/>
            </a:endParaRPr>
          </a:p>
        </p:txBody>
      </p:sp>
      <p:pic>
        <p:nvPicPr>
          <p:cNvPr id="245" name="Picture 7" descr="Chart, bar chart&#10;&#10;Description automatically generated"/>
          <p:cNvPicPr/>
          <p:nvPr/>
        </p:nvPicPr>
        <p:blipFill>
          <a:blip r:embed="rId2"/>
          <a:stretch/>
        </p:blipFill>
        <p:spPr>
          <a:xfrm>
            <a:off x="1464651" y="1284699"/>
            <a:ext cx="8958549" cy="3383610"/>
          </a:xfrm>
          <a:prstGeom prst="rect">
            <a:avLst/>
          </a:prstGeom>
          <a:ln>
            <a:noFill/>
          </a:ln>
        </p:spPr>
      </p:pic>
      <p:sp>
        <p:nvSpPr>
          <p:cNvPr id="246" name="CustomShape 2"/>
          <p:cNvSpPr/>
          <p:nvPr/>
        </p:nvSpPr>
        <p:spPr>
          <a:xfrm>
            <a:off x="1981200" y="4536047"/>
            <a:ext cx="8442000" cy="173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ggplot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(data) 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+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geom_bar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aes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(x=group, y=mean), stat="identity", fill="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DejaVu Sans"/>
              </a:rPr>
              <a:t>forestgreen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", alpha=0.5) 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+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geom_errorbar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DejaVu Sans"/>
              </a:rPr>
              <a:t>aes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x=group, 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ymin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=mean-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sd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, 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ymax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=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mean+sd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), width=0.4, </a:t>
            </a:r>
            <a:r>
              <a:rPr lang="en-US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colour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="orange", alpha=0.9, size=1.5) + </a:t>
            </a:r>
            <a:r>
              <a:rPr lang="en-US" b="1" spc="-1" dirty="0" err="1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ggtitle</a:t>
            </a:r>
            <a:r>
              <a:rPr lang="en-US" spc="-1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DejaVu Sans"/>
              </a:rPr>
              <a:t>("using standard deviation")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1"/>
          <p:cNvSpPr/>
          <p:nvPr/>
        </p:nvSpPr>
        <p:spPr>
          <a:xfrm>
            <a:off x="1981200" y="27468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SD, SE, CI</a:t>
            </a:r>
            <a:endParaRPr lang="en-GB" sz="4400" b="1" spc="-1" dirty="0">
              <a:latin typeface="Arial"/>
            </a:endParaRPr>
          </a:p>
        </p:txBody>
      </p:sp>
      <p:sp>
        <p:nvSpPr>
          <p:cNvPr id="248" name="CustomShape 2"/>
          <p:cNvSpPr/>
          <p:nvPr/>
        </p:nvSpPr>
        <p:spPr>
          <a:xfrm>
            <a:off x="1976520" y="1532880"/>
            <a:ext cx="8160120" cy="4479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marL="285840" indent="-285120">
              <a:buClr>
                <a:srgbClr val="212529"/>
              </a:buClr>
              <a:buFont typeface="Arial"/>
              <a:buChar char="•"/>
            </a:pPr>
            <a:r>
              <a:rPr lang="en-US" spc="-1" dirty="0">
                <a:solidFill>
                  <a:srgbClr val="212529"/>
                </a:solidFill>
                <a:latin typeface="Montserrat"/>
                <a:ea typeface="DejaVu Sans"/>
              </a:rPr>
              <a:t>Standard Deviation (SD) </a:t>
            </a:r>
            <a:r>
              <a:rPr lang="en-US" spc="-1" dirty="0">
                <a:solidFill>
                  <a:srgbClr val="212529"/>
                </a:solidFill>
                <a:latin typeface="Roboto Slab"/>
                <a:ea typeface="DejaVu Sans"/>
              </a:rPr>
              <a:t>represents the amount of dispersion of the variable.</a:t>
            </a:r>
            <a:r>
              <a:rPr lang="en-US" spc="-1" dirty="0">
                <a:solidFill>
                  <a:srgbClr val="212529"/>
                </a:solidFill>
                <a:latin typeface="Roboto Slab"/>
                <a:ea typeface="Calibri"/>
              </a:rPr>
              <a:t> </a:t>
            </a: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</a:rPr>
              <a:t>Calculated as the root square of the variance:</a:t>
            </a:r>
            <a:endParaRPr lang="en-GB" spc="-1" dirty="0">
              <a:latin typeface="Arial"/>
            </a:endParaRPr>
          </a:p>
          <a:p>
            <a:pPr marL="285840" indent="-285120">
              <a:buClr>
                <a:srgbClr val="212529"/>
              </a:buClr>
              <a:buFont typeface="Arial"/>
              <a:buChar char="•"/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 &lt;-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 &lt;- 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sqrt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var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))</a:t>
            </a:r>
            <a:endParaRPr lang="en-GB" spc="-1" dirty="0">
              <a:latin typeface="Arial"/>
            </a:endParaRPr>
          </a:p>
          <a:p>
            <a:pPr marL="285840" indent="-285120"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</a:rPr>
              <a:t>Standard Error (SE) is the standard deviation of the vector sampling distribution. Calculated as the SD divided by the square root of the sample size.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se = </a:t>
            </a:r>
            <a:r>
              <a:rPr lang="en-US" b="1" spc="-1" dirty="0" err="1">
                <a:solidFill>
                  <a:srgbClr val="000000"/>
                </a:solidFill>
                <a:latin typeface="Courier New"/>
                <a:ea typeface="Calibri"/>
              </a:rPr>
              <a:t>sd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 / 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sqrt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length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))</a:t>
            </a:r>
            <a:endParaRPr lang="en-GB" spc="-1" dirty="0">
              <a:latin typeface="Arial"/>
            </a:endParaRPr>
          </a:p>
          <a:p>
            <a:pPr marL="285840" indent="-285120"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</a:rPr>
              <a:t>Confidence Interval (CI).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alibri"/>
                <a:ea typeface="Calibri"/>
              </a:rPr>
              <a:t>This interval is defined so that there is a specified probability that a value lies within it. It is calculated as t * SE. Where t is the value of the Student's t-distribution for a specific alpha. 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alpha=0.05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t=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qt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((1-alpha)/2 + .5, </a:t>
            </a:r>
            <a:r>
              <a:rPr lang="en-US" b="1" spc="-1" dirty="0">
                <a:solidFill>
                  <a:srgbClr val="000000"/>
                </a:solidFill>
                <a:latin typeface="Courier New"/>
                <a:ea typeface="Calibri"/>
              </a:rPr>
              <a:t>length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US" spc="-1" dirty="0" err="1">
                <a:solidFill>
                  <a:srgbClr val="000000"/>
                </a:solidFill>
                <a:latin typeface="Courier New"/>
                <a:ea typeface="Calibri"/>
              </a:rPr>
              <a:t>vec</a:t>
            </a:r>
            <a:r>
              <a:rPr lang="en-US" spc="-1" dirty="0">
                <a:solidFill>
                  <a:srgbClr val="000000"/>
                </a:solidFill>
                <a:latin typeface="Courier New"/>
                <a:ea typeface="Calibri"/>
              </a:rPr>
              <a:t>)-1)   </a:t>
            </a:r>
            <a:r>
              <a:rPr lang="en-US" i="1" spc="-1" dirty="0">
                <a:solidFill>
                  <a:srgbClr val="000000"/>
                </a:solidFill>
                <a:latin typeface="Courier New"/>
                <a:ea typeface="Calibri"/>
              </a:rPr>
              <a:t># tend to 1.96 if sample size is big enough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i="1" spc="-1" dirty="0">
                <a:solidFill>
                  <a:srgbClr val="000000"/>
                </a:solidFill>
                <a:latin typeface="Courier New"/>
                <a:ea typeface="Calibri"/>
              </a:rPr>
              <a:t>CI=t*se</a:t>
            </a:r>
            <a:endParaRPr lang="en-GB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en-GB" spc="-1" dirty="0">
              <a:latin typeface="Arial"/>
            </a:endParaRPr>
          </a:p>
        </p:txBody>
      </p:sp>
      <p:sp>
        <p:nvSpPr>
          <p:cNvPr id="249" name="CustomShape 3"/>
          <p:cNvSpPr/>
          <p:nvPr/>
        </p:nvSpPr>
        <p:spPr>
          <a:xfrm>
            <a:off x="1976520" y="5763600"/>
            <a:ext cx="823824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FF0000"/>
                </a:solidFill>
                <a:latin typeface="Calibri"/>
                <a:ea typeface="DejaVu Sans"/>
              </a:rPr>
              <a:t>Hint: easier way to add error bars without calculation! </a:t>
            </a:r>
            <a:r>
              <a:rPr lang="en-GB" spc="-1" dirty="0">
                <a:solidFill>
                  <a:srgbClr val="FF0000"/>
                </a:solidFill>
                <a:latin typeface="Calibri"/>
                <a:ea typeface="Calibri"/>
              </a:rPr>
              <a:t>Explore </a:t>
            </a:r>
            <a:r>
              <a:rPr lang="en-GB" b="1" spc="-1" dirty="0" err="1">
                <a:solidFill>
                  <a:srgbClr val="FF0000"/>
                </a:solidFill>
                <a:latin typeface="Courier New"/>
                <a:ea typeface="Calibri"/>
              </a:rPr>
              <a:t>stat_summary</a:t>
            </a:r>
            <a:r>
              <a:rPr lang="en-GB" b="1" spc="-1" dirty="0">
                <a:solidFill>
                  <a:srgbClr val="FF0000"/>
                </a:solidFill>
                <a:latin typeface="Courier New"/>
                <a:ea typeface="Calibri"/>
              </a:rPr>
              <a:t>()</a:t>
            </a:r>
            <a:endParaRPr lang="en-GB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ustomShape 1"/>
          <p:cNvSpPr/>
          <p:nvPr/>
        </p:nvSpPr>
        <p:spPr>
          <a:xfrm>
            <a:off x="1981200" y="147960"/>
            <a:ext cx="8228880" cy="114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Faceting</a:t>
            </a:r>
            <a:endParaRPr lang="en-GB" sz="4400" b="1" spc="-1" dirty="0">
              <a:latin typeface="Arial"/>
            </a:endParaRPr>
          </a:p>
        </p:txBody>
      </p:sp>
      <p:sp>
        <p:nvSpPr>
          <p:cNvPr id="251" name="CustomShape 2"/>
          <p:cNvSpPr/>
          <p:nvPr/>
        </p:nvSpPr>
        <p:spPr>
          <a:xfrm>
            <a:off x="1981200" y="1130400"/>
            <a:ext cx="8228880" cy="89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>
                <a:solidFill>
                  <a:srgbClr val="000000"/>
                </a:solidFill>
                <a:latin typeface="Courier New"/>
                <a:ea typeface="Calibri"/>
              </a:rPr>
              <a:t>facet_wrap(~var)</a:t>
            </a:r>
            <a:r>
              <a:rPr lang="en-GB" sz="2000" spc="-1">
                <a:solidFill>
                  <a:srgbClr val="000000"/>
                </a:solidFill>
                <a:latin typeface="Calibri"/>
                <a:ea typeface="Calibri"/>
              </a:rPr>
              <a:t> builds a new chart for each level of a categorical variable</a:t>
            </a:r>
            <a:endParaRPr lang="en-GB" sz="2000" spc="-1">
              <a:latin typeface="Arial"/>
            </a:endParaRPr>
          </a:p>
        </p:txBody>
      </p:sp>
      <p:pic>
        <p:nvPicPr>
          <p:cNvPr id="252" name="Picture 4" descr="Chart, waterfall chart&#10;&#10;Description automatically generated"/>
          <p:cNvPicPr/>
          <p:nvPr/>
        </p:nvPicPr>
        <p:blipFill>
          <a:blip r:embed="rId2"/>
          <a:stretch/>
        </p:blipFill>
        <p:spPr>
          <a:xfrm>
            <a:off x="2156520" y="1917000"/>
            <a:ext cx="2742480" cy="1958760"/>
          </a:xfrm>
          <a:prstGeom prst="rect">
            <a:avLst/>
          </a:prstGeom>
          <a:ln>
            <a:noFill/>
          </a:ln>
        </p:spPr>
      </p:pic>
      <p:pic>
        <p:nvPicPr>
          <p:cNvPr id="253" name="Picture 5" descr="Chart, box and whisker chart&#10;&#10;Description automatically generated"/>
          <p:cNvPicPr/>
          <p:nvPr/>
        </p:nvPicPr>
        <p:blipFill>
          <a:blip r:embed="rId3"/>
          <a:stretch/>
        </p:blipFill>
        <p:spPr>
          <a:xfrm>
            <a:off x="5632680" y="1917000"/>
            <a:ext cx="2742480" cy="1958760"/>
          </a:xfrm>
          <a:prstGeom prst="rect">
            <a:avLst/>
          </a:prstGeom>
          <a:ln>
            <a:noFill/>
          </a:ln>
        </p:spPr>
      </p:pic>
      <p:sp>
        <p:nvSpPr>
          <p:cNvPr id="254" name="CustomShape 3"/>
          <p:cNvSpPr/>
          <p:nvPr/>
        </p:nvSpPr>
        <p:spPr>
          <a:xfrm>
            <a:off x="1992720" y="3803760"/>
            <a:ext cx="8228880" cy="892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facet_grid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(var1~var2)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 builds one chart for each combinations of 2 categorical variables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endParaRPr lang="en-GB" sz="2000" spc="-1" dirty="0">
              <a:latin typeface="Arial"/>
            </a:endParaRPr>
          </a:p>
        </p:txBody>
      </p:sp>
      <p:pic>
        <p:nvPicPr>
          <p:cNvPr id="255" name="Picture 8" descr="Chart, scatter chart&#10;&#10;Description automatically generated"/>
          <p:cNvPicPr/>
          <p:nvPr/>
        </p:nvPicPr>
        <p:blipFill>
          <a:blip r:embed="rId4"/>
          <a:stretch/>
        </p:blipFill>
        <p:spPr>
          <a:xfrm>
            <a:off x="4239120" y="4249440"/>
            <a:ext cx="2445120" cy="2460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>
                <a:solidFill>
                  <a:srgbClr val="000000"/>
                </a:solidFill>
                <a:latin typeface="Calibri"/>
                <a:ea typeface="DejaVu Sans"/>
              </a:rPr>
              <a:t>Basic statistics</a:t>
            </a:r>
            <a:endParaRPr lang="en-GB" sz="4400" spc="-1">
              <a:latin typeface="Arial"/>
            </a:endParaRPr>
          </a:p>
        </p:txBody>
      </p:sp>
      <p:sp>
        <p:nvSpPr>
          <p:cNvPr id="195" name="CustomShape 2"/>
          <p:cNvSpPr/>
          <p:nvPr/>
        </p:nvSpPr>
        <p:spPr>
          <a:xfrm>
            <a:off x="1981200" y="1700280"/>
            <a:ext cx="8227800" cy="4863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10000"/>
          </a:bodyPr>
          <a:lstStyle/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Correlations – 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cor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(), 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cor.test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()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T-test (parametric):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Courier New"/>
              <a:buChar char="o"/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 Unpaired 2-group t-test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t.test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y~x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) 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# where y is numeric and x is a binary factor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t.test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(y1,y2)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 # where y1 and y2 are numeric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Paired 2-group t-test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t.test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(y1,y2, paired=TRUE)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 # where y1 &amp; y2 are numeric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Non-parametric tests: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Unpaired 2-group Mann-Whitney U Test 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wilcox.test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y~A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) 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# where y is numeric and A is A binary factor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wilcox.test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y,x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 # where y and x are numeric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Courier New"/>
              <a:buChar char="o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Paired 2-group Wilcoxon Signed Rank Test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wilcox.test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(y1,y2, paired=TRUE) </a:t>
            </a: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# where y1 and y2 are numeric</a:t>
            </a:r>
            <a:endParaRPr lang="en-GB" sz="2000" spc="-1" dirty="0">
              <a:latin typeface="Arial"/>
            </a:endParaRPr>
          </a:p>
          <a:p>
            <a:pPr marL="343080" indent="-342000">
              <a:spcBef>
                <a:spcPts val="4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000" spc="-1" dirty="0">
                <a:solidFill>
                  <a:srgbClr val="000000"/>
                </a:solidFill>
                <a:latin typeface="Calibri"/>
                <a:ea typeface="Calibri"/>
              </a:rPr>
              <a:t>More than 2 groups - analysis of variance (ANOVA, parametric)</a:t>
            </a:r>
            <a:endParaRPr lang="en-GB" sz="2000" spc="-1" dirty="0">
              <a:latin typeface="Arial"/>
            </a:endParaRPr>
          </a:p>
          <a:p>
            <a:pPr>
              <a:spcBef>
                <a:spcPts val="400"/>
              </a:spcBef>
              <a:tabLst>
                <a:tab pos="0" algn="l"/>
              </a:tabLst>
            </a:pP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aov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(), </a:t>
            </a:r>
            <a:r>
              <a:rPr lang="en-GB" sz="2000" spc="-1" dirty="0" err="1">
                <a:solidFill>
                  <a:srgbClr val="000000"/>
                </a:solidFill>
                <a:latin typeface="Courier New"/>
                <a:ea typeface="Calibri"/>
              </a:rPr>
              <a:t>anova</a:t>
            </a:r>
            <a:r>
              <a:rPr lang="en-GB" sz="2000" spc="-1" dirty="0">
                <a:solidFill>
                  <a:srgbClr val="000000"/>
                </a:solidFill>
                <a:latin typeface="Courier New"/>
                <a:ea typeface="Calibri"/>
              </a:rPr>
              <a:t>()</a:t>
            </a:r>
            <a:endParaRPr lang="en-GB" sz="2000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CustomShape 1"/>
          <p:cNvSpPr/>
          <p:nvPr/>
        </p:nvSpPr>
        <p:spPr>
          <a:xfrm>
            <a:off x="1981200" y="274680"/>
            <a:ext cx="8228520" cy="1141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4400" b="1" spc="-1" dirty="0">
                <a:solidFill>
                  <a:srgbClr val="000000"/>
                </a:solidFill>
                <a:latin typeface="Calibri"/>
                <a:ea typeface="DejaVu Sans"/>
              </a:rPr>
              <a:t>Adding statistics to the plots</a:t>
            </a:r>
            <a:endParaRPr lang="en-GB" sz="4400" b="1" spc="-1" dirty="0">
              <a:latin typeface="Arial"/>
            </a:endParaRPr>
          </a:p>
        </p:txBody>
      </p:sp>
      <p:sp>
        <p:nvSpPr>
          <p:cNvPr id="197" name="CustomShape 2"/>
          <p:cNvSpPr/>
          <p:nvPr/>
        </p:nvSpPr>
        <p:spPr>
          <a:xfrm>
            <a:off x="1981200" y="1600200"/>
            <a:ext cx="8228520" cy="4524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10000"/>
          </a:bodyPr>
          <a:lstStyle/>
          <a:p>
            <a:pPr>
              <a:spcBef>
                <a:spcPts val="479"/>
              </a:spcBef>
              <a:tabLst>
                <a:tab pos="0" algn="l"/>
              </a:tabLst>
            </a:pPr>
            <a:r>
              <a:rPr lang="en-GB" sz="2400" spc="-1" dirty="0">
                <a:solidFill>
                  <a:srgbClr val="000000"/>
                </a:solidFill>
                <a:latin typeface="Courier New"/>
                <a:ea typeface="DejaVu Sans"/>
              </a:rPr>
              <a:t>library</a:t>
            </a:r>
            <a:r>
              <a:rPr lang="en-GB" sz="2400" b="1" spc="-1" dirty="0">
                <a:solidFill>
                  <a:srgbClr val="000000"/>
                </a:solidFill>
                <a:latin typeface="Courier New"/>
                <a:ea typeface="DejaVu Sans"/>
              </a:rPr>
              <a:t>(</a:t>
            </a:r>
            <a:r>
              <a:rPr lang="en-GB" sz="2400" b="1" spc="-1" dirty="0" err="1">
                <a:solidFill>
                  <a:srgbClr val="000000"/>
                </a:solidFill>
                <a:latin typeface="Courier New"/>
                <a:ea typeface="Calibri"/>
              </a:rPr>
              <a:t>ggpubr</a:t>
            </a:r>
            <a:r>
              <a:rPr lang="en-GB" sz="2400" b="1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Perform the test</a:t>
            </a:r>
            <a:endParaRPr lang="en-GB" sz="2400" spc="-1" dirty="0">
              <a:latin typeface="Arial"/>
            </a:endParaRPr>
          </a:p>
          <a:p>
            <a:pPr marL="343080" indent="-342000" algn="just">
              <a:spcBef>
                <a:spcPts val="479"/>
              </a:spcBef>
              <a:tabLst>
                <a:tab pos="0" algn="l"/>
              </a:tabLst>
            </a:pPr>
            <a:r>
              <a:rPr lang="en-GB" sz="2400" b="1" spc="-1" dirty="0" err="1">
                <a:solidFill>
                  <a:srgbClr val="000000"/>
                </a:solidFill>
                <a:latin typeface="Courier New"/>
                <a:ea typeface="Calibri"/>
              </a:rPr>
              <a:t>compare_means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(formula, data, method = "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wilcox.test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", paired = FALSE,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group.by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NULL,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ref.group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NULL, </a:t>
            </a:r>
            <a:r>
              <a:rPr lang="en-GB" sz="2400" b="1" spc="-1" dirty="0">
                <a:solidFill>
                  <a:srgbClr val="000000"/>
                </a:solidFill>
                <a:latin typeface="Courier New"/>
                <a:ea typeface="Calibri"/>
              </a:rPr>
              <a:t>...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tabLst>
                <a:tab pos="0" algn="l"/>
              </a:tabLst>
            </a:pP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*method = "</a:t>
            </a:r>
            <a:r>
              <a:rPr lang="en-GB" sz="2400" spc="-1" dirty="0" err="1">
                <a:solidFill>
                  <a:srgbClr val="000000"/>
                </a:solidFill>
                <a:latin typeface="Calibri"/>
                <a:ea typeface="Calibri"/>
              </a:rPr>
              <a:t>t.test</a:t>
            </a: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", "</a:t>
            </a:r>
            <a:r>
              <a:rPr lang="en-GB" sz="2400" spc="-1" dirty="0" err="1">
                <a:solidFill>
                  <a:srgbClr val="000000"/>
                </a:solidFill>
                <a:latin typeface="Calibri"/>
                <a:ea typeface="Calibri"/>
              </a:rPr>
              <a:t>anova</a:t>
            </a: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"</a:t>
            </a:r>
            <a:endParaRPr lang="en-GB" sz="2400" spc="-1" dirty="0">
              <a:latin typeface="Arial"/>
            </a:endParaRPr>
          </a:p>
          <a:p>
            <a:pPr marL="343080" indent="-342000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GB" sz="2400" spc="-1" dirty="0">
                <a:solidFill>
                  <a:srgbClr val="000000"/>
                </a:solidFill>
                <a:latin typeface="Calibri"/>
                <a:ea typeface="Calibri"/>
              </a:rPr>
              <a:t>Or just add the significance levels to the plot</a:t>
            </a:r>
            <a:endParaRPr lang="en-GB" sz="2400" spc="-1" dirty="0">
              <a:latin typeface="Arial"/>
            </a:endParaRPr>
          </a:p>
          <a:p>
            <a:pPr>
              <a:spcBef>
                <a:spcPts val="479"/>
              </a:spcBef>
              <a:tabLst>
                <a:tab pos="0" algn="l"/>
              </a:tabLst>
            </a:pPr>
            <a:r>
              <a:rPr lang="en-GB" sz="2400" b="1" spc="-1" dirty="0" err="1">
                <a:solidFill>
                  <a:srgbClr val="000000"/>
                </a:solidFill>
                <a:latin typeface="Courier New"/>
                <a:ea typeface="Calibri"/>
              </a:rPr>
              <a:t>stat_compare_means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(mapping = NULL, comparisons = NULL,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hide.ns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FALSE, label = NULL,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label.x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NULL, </a:t>
            </a:r>
            <a:r>
              <a:rPr lang="en-GB" sz="2400" spc="-1" dirty="0" err="1">
                <a:solidFill>
                  <a:srgbClr val="000000"/>
                </a:solidFill>
                <a:latin typeface="Courier New"/>
                <a:ea typeface="Calibri"/>
              </a:rPr>
              <a:t>label.y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 = NULL, </a:t>
            </a:r>
            <a:r>
              <a:rPr lang="en-GB" sz="2400" b="1" spc="-1" dirty="0">
                <a:solidFill>
                  <a:srgbClr val="000000"/>
                </a:solidFill>
                <a:latin typeface="Courier New"/>
                <a:ea typeface="Calibri"/>
              </a:rPr>
              <a:t>...</a:t>
            </a:r>
            <a:r>
              <a:rPr lang="en-GB" sz="2400" spc="-1" dirty="0">
                <a:solidFill>
                  <a:srgbClr val="000000"/>
                </a:solidFill>
                <a:latin typeface="Courier New"/>
                <a:ea typeface="Calibri"/>
              </a:rPr>
              <a:t>)</a:t>
            </a:r>
            <a:endParaRPr lang="en-GB" sz="2400" spc="-1" dirty="0">
              <a:latin typeface="Arial"/>
            </a:endParaRPr>
          </a:p>
          <a:p>
            <a:pPr marL="342900" indent="-342900">
              <a:spcBef>
                <a:spcPts val="641"/>
              </a:spcBef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GB" sz="2400" spc="-1" dirty="0">
                <a:latin typeface="Arial"/>
              </a:rPr>
              <a:t>If adjusted p-values are required</a:t>
            </a:r>
          </a:p>
          <a:p>
            <a:pPr>
              <a:spcBef>
                <a:spcPts val="641"/>
              </a:spcBef>
              <a:tabLst>
                <a:tab pos="0" algn="l"/>
              </a:tabLst>
            </a:pPr>
            <a:r>
              <a:rPr lang="en-GB" sz="2400" b="1" spc="-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stat_pvalue_manual</a:t>
            </a:r>
            <a:r>
              <a:rPr lang="en-GB" sz="2400" spc="-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2400" spc="-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stat.test</a:t>
            </a:r>
            <a:r>
              <a:rPr lang="en-GB" sz="2400" spc="-1" dirty="0">
                <a:latin typeface="Courier New" panose="02070309020205020404" pitchFamily="49" charset="0"/>
                <a:cs typeface="Courier New" panose="02070309020205020404" pitchFamily="49" charset="0"/>
              </a:rPr>
              <a:t>, label = "</a:t>
            </a:r>
            <a:r>
              <a:rPr lang="en-GB" sz="2400" spc="-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p.adj.signif</a:t>
            </a:r>
            <a:r>
              <a:rPr lang="en-GB" sz="2400" spc="-1" dirty="0">
                <a:latin typeface="Courier New" panose="02070309020205020404" pitchFamily="49" charset="0"/>
                <a:cs typeface="Courier New" panose="02070309020205020404" pitchFamily="49" charset="0"/>
              </a:rPr>
              <a:t>”, </a:t>
            </a:r>
            <a:r>
              <a:rPr lang="en-GB" sz="2400" spc="-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hide.ns</a:t>
            </a:r>
            <a:r>
              <a:rPr lang="en-GB" sz="2400" spc="-1" dirty="0">
                <a:latin typeface="Courier New" panose="02070309020205020404" pitchFamily="49" charset="0"/>
                <a:cs typeface="Courier New" panose="02070309020205020404" pitchFamily="49" charset="0"/>
              </a:rPr>
              <a:t> = TRUE, ...)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F7D8-062C-D5F7-0987-5F8A07E91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ustomShape 1">
            <a:extLst>
              <a:ext uri="{FF2B5EF4-FFF2-40B4-BE49-F238E27FC236}">
                <a16:creationId xmlns:a16="http://schemas.microsoft.com/office/drawing/2014/main" id="{42BD4FAC-662F-7E5A-D96C-3BA33EDB0862}"/>
              </a:ext>
            </a:extLst>
          </p:cNvPr>
          <p:cNvSpPr/>
          <p:nvPr/>
        </p:nvSpPr>
        <p:spPr>
          <a:xfrm>
            <a:off x="1524000" y="0"/>
            <a:ext cx="8435248" cy="57508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9" name="CustomShape 2">
            <a:extLst>
              <a:ext uri="{FF2B5EF4-FFF2-40B4-BE49-F238E27FC236}">
                <a16:creationId xmlns:a16="http://schemas.microsoft.com/office/drawing/2014/main" id="{17E2D102-E2F1-0129-F42D-532A280580F9}"/>
              </a:ext>
            </a:extLst>
          </p:cNvPr>
          <p:cNvSpPr/>
          <p:nvPr/>
        </p:nvSpPr>
        <p:spPr>
          <a:xfrm>
            <a:off x="2436960" y="2222640"/>
            <a:ext cx="3518640" cy="2411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5400" b="1" spc="-1" dirty="0">
                <a:solidFill>
                  <a:schemeClr val="tx2"/>
                </a:solidFill>
                <a:ea typeface="DejaVu Sans"/>
              </a:rPr>
              <a:t>Let’s explore practically</a:t>
            </a:r>
            <a:endParaRPr lang="en-GB" sz="5400" spc="-1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1"/>
              </a:spcAft>
              <a:tabLst>
                <a:tab pos="0" algn="l"/>
              </a:tabLst>
            </a:pPr>
            <a:endParaRPr lang="en-GB" sz="5400" spc="-1" dirty="0">
              <a:solidFill>
                <a:schemeClr val="tx2"/>
              </a:solidFill>
            </a:endParaRPr>
          </a:p>
        </p:txBody>
      </p:sp>
      <p:sp>
        <p:nvSpPr>
          <p:cNvPr id="380" name="CustomShape 3">
            <a:extLst>
              <a:ext uri="{FF2B5EF4-FFF2-40B4-BE49-F238E27FC236}">
                <a16:creationId xmlns:a16="http://schemas.microsoft.com/office/drawing/2014/main" id="{86A8C77C-A7A9-E005-11DC-48A744E2D86B}"/>
              </a:ext>
            </a:extLst>
          </p:cNvPr>
          <p:cNvSpPr/>
          <p:nvPr/>
        </p:nvSpPr>
        <p:spPr>
          <a:xfrm>
            <a:off x="5656800" y="851400"/>
            <a:ext cx="4637520" cy="5153760"/>
          </a:xfrm>
          <a:custGeom>
            <a:avLst/>
            <a:gdLst/>
            <a:ahLst/>
            <a:cxnLst/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1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4"/>
                  <a:pt x="2445216" y="109244"/>
                </a:cubicBezTo>
                <a:cubicBezTo>
                  <a:pt x="1625714" y="109244"/>
                  <a:pt x="1625714" y="109244"/>
                  <a:pt x="1625714" y="109244"/>
                </a:cubicBezTo>
                <a:cubicBezTo>
                  <a:pt x="1572615" y="109244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8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1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381" name="Graphic 5" descr="Cmd Terminal outline">
            <a:extLst>
              <a:ext uri="{FF2B5EF4-FFF2-40B4-BE49-F238E27FC236}">
                <a16:creationId xmlns:a16="http://schemas.microsoft.com/office/drawing/2014/main" id="{6D21C3E6-15C4-BC7B-096D-FAA533CB3B75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008960" y="2341080"/>
            <a:ext cx="2745360" cy="274536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085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CustomShape 1"/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Useful references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89" name="CustomShape 2"/>
          <p:cNvSpPr/>
          <p:nvPr/>
        </p:nvSpPr>
        <p:spPr>
          <a:xfrm>
            <a:off x="1981200" y="2034720"/>
            <a:ext cx="8227800" cy="42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2"/>
              </a:rPr>
              <a:t>R Programming for Data Science (Roger Peng)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Ch. 3, 4, 5, 9</a:t>
            </a:r>
            <a:endParaRPr lang="en-GB" sz="2180" spc="-1" dirty="0"/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3"/>
              </a:rPr>
              <a:t>Swirl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Interactive learning</a:t>
            </a:r>
            <a:endParaRPr lang="en-GB" sz="2180" spc="-1" dirty="0"/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ea typeface="DejaVu Sans"/>
                <a:hlinkClick r:id="rId4"/>
              </a:rPr>
              <a:t>R for Data Science (Hadley Wickham)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– Using </a:t>
            </a:r>
            <a:r>
              <a:rPr lang="en-GB" sz="2180" spc="-1" dirty="0" err="1">
                <a:solidFill>
                  <a:srgbClr val="000000"/>
                </a:solidFill>
                <a:ea typeface="DejaVu Sans"/>
              </a:rPr>
              <a:t>Dplyr</a:t>
            </a:r>
            <a:r>
              <a:rPr lang="en-GB" sz="2180" spc="-1" dirty="0">
                <a:solidFill>
                  <a:srgbClr val="000000"/>
                </a:solidFill>
                <a:ea typeface="DejaVu Sans"/>
              </a:rPr>
              <a:t> verbs</a:t>
            </a:r>
            <a:endParaRPr lang="en-GB" sz="218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5"/>
              </a:rPr>
              <a:t>The data.table package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Intro</a:t>
            </a:r>
            <a:endParaRPr lang="en-GB" sz="215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6"/>
              </a:rPr>
              <a:t>A data.table and Dplyr tour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Side by side comparison of functions</a:t>
            </a:r>
            <a:endParaRPr lang="en-GB" sz="2150" spc="-1" dirty="0"/>
          </a:p>
          <a:p>
            <a:pPr marL="343080" indent="-342000">
              <a:spcBef>
                <a:spcPts val="431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50" u="sng" spc="-1" dirty="0">
                <a:solidFill>
                  <a:srgbClr val="0000FF"/>
                </a:solidFill>
                <a:ea typeface="DejaVu Sans"/>
                <a:hlinkClick r:id="rId7"/>
              </a:rPr>
              <a:t>Cheatsheets</a:t>
            </a:r>
            <a:r>
              <a:rPr lang="en-GB" sz="2150" spc="-1" dirty="0">
                <a:solidFill>
                  <a:srgbClr val="000000"/>
                </a:solidFill>
                <a:ea typeface="DejaVu Sans"/>
              </a:rPr>
              <a:t> – quick reference for tasks like data wrangling, visualisation, and several packages</a:t>
            </a:r>
            <a:endParaRPr lang="en-GB" sz="2150" spc="-1" dirty="0"/>
          </a:p>
          <a:p>
            <a:pPr marL="150480">
              <a:spcBef>
                <a:spcPts val="437"/>
              </a:spcBef>
              <a:tabLst>
                <a:tab pos="0" algn="l"/>
              </a:tabLst>
            </a:pPr>
            <a:endParaRPr lang="en-GB" sz="2150" spc="-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2"/>
          <p:cNvSpPr/>
          <p:nvPr/>
        </p:nvSpPr>
        <p:spPr>
          <a:xfrm>
            <a:off x="1981200" y="2034720"/>
            <a:ext cx="8227800" cy="4249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latin typeface="Calibri"/>
                <a:ea typeface="DejaVu Sans"/>
                <a:hlinkClick r:id="rId2"/>
              </a:rPr>
              <a:t>https://github.com/EmilHvitfeldt/r-color-palettes</a:t>
            </a:r>
            <a:r>
              <a:rPr lang="en-GB" sz="2180" spc="-1" dirty="0">
                <a:solidFill>
                  <a:srgbClr val="000000"/>
                </a:solidFill>
                <a:latin typeface="Calibri"/>
                <a:ea typeface="DejaVu Sans"/>
              </a:rPr>
              <a:t> - a huge list of R palettes</a:t>
            </a:r>
            <a:endParaRPr lang="en-GB" sz="2180" spc="-1" dirty="0">
              <a:latin typeface="Arial"/>
            </a:endParaRPr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latin typeface="Calibri"/>
                <a:ea typeface="DejaVu Sans"/>
                <a:hlinkClick r:id="rId3"/>
              </a:rPr>
              <a:t>https://colorbrewer2.org/</a:t>
            </a:r>
            <a:r>
              <a:rPr lang="en-GB" sz="2180" spc="-1" dirty="0">
                <a:solidFill>
                  <a:srgbClr val="000000"/>
                </a:solidFill>
                <a:latin typeface="Calibri"/>
                <a:ea typeface="DejaVu Sans"/>
              </a:rPr>
              <a:t> - </a:t>
            </a:r>
            <a:r>
              <a:rPr lang="en-GB" sz="2180" spc="-1" dirty="0" err="1">
                <a:solidFill>
                  <a:srgbClr val="000000"/>
                </a:solidFill>
                <a:latin typeface="Calibri"/>
                <a:ea typeface="DejaVu Sans"/>
              </a:rPr>
              <a:t>RColorBrewer</a:t>
            </a:r>
            <a:r>
              <a:rPr lang="en-GB" sz="2180" spc="-1" dirty="0">
                <a:solidFill>
                  <a:srgbClr val="000000"/>
                </a:solidFill>
                <a:latin typeface="Calibri"/>
                <a:ea typeface="DejaVu Sans"/>
              </a:rPr>
              <a:t> package based on this tool by Cynthia Brewer</a:t>
            </a:r>
            <a:endParaRPr lang="en-GB" sz="2180" spc="-1" dirty="0">
              <a:latin typeface="Arial"/>
            </a:endParaRPr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u="sng" spc="-1" dirty="0">
                <a:solidFill>
                  <a:srgbClr val="0000FF"/>
                </a:solidFill>
                <a:latin typeface="Calibri"/>
                <a:ea typeface="DejaVu Sans"/>
                <a:hlinkClick r:id="rId4"/>
              </a:rPr>
              <a:t>https://jokergoo.github.io/ComplexHeatmap-reference/book/</a:t>
            </a:r>
            <a:r>
              <a:rPr lang="en-GB" sz="2180" spc="-1" dirty="0">
                <a:solidFill>
                  <a:srgbClr val="000000"/>
                </a:solidFill>
                <a:latin typeface="Calibri"/>
                <a:ea typeface="DejaVu Sans"/>
              </a:rPr>
              <a:t> - R package to produce Complex Heatmaps</a:t>
            </a:r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latin typeface="Arial"/>
                <a:hlinkClick r:id="rId5"/>
              </a:rPr>
              <a:t>https://carriebrown.github.io/r-novice-gapminder/challenges/</a:t>
            </a:r>
            <a:r>
              <a:rPr lang="en-GB" sz="2180" spc="-1" dirty="0">
                <a:solidFill>
                  <a:srgbClr val="000000"/>
                </a:solidFill>
                <a:latin typeface="Calibri"/>
              </a:rPr>
              <a:t> - R challenges</a:t>
            </a:r>
          </a:p>
          <a:p>
            <a:pPr marL="343080" indent="-342000">
              <a:spcBef>
                <a:spcPts val="437"/>
              </a:spcBef>
              <a:buClr>
                <a:srgbClr val="000000"/>
              </a:buClr>
              <a:buFont typeface="Arial"/>
              <a:buChar char="•"/>
            </a:pPr>
            <a:r>
              <a:rPr lang="en-GB" sz="2180" spc="-1" dirty="0">
                <a:latin typeface="Arial"/>
                <a:hlinkClick r:id="rId6"/>
              </a:rPr>
              <a:t>https://rosalind.info/problems/locations/</a:t>
            </a:r>
            <a:r>
              <a:rPr lang="en-GB" sz="2180" spc="-1" dirty="0">
                <a:solidFill>
                  <a:srgbClr val="000000"/>
                </a:solidFill>
                <a:latin typeface="Calibri"/>
              </a:rPr>
              <a:t> - biological programming and algorithmic challenges (mainly geared towards python, but can be solved using R </a:t>
            </a:r>
            <a:r>
              <a:rPr lang="en-GB" sz="2180" spc="-1">
                <a:solidFill>
                  <a:srgbClr val="000000"/>
                </a:solidFill>
                <a:latin typeface="Calibri"/>
              </a:rPr>
              <a:t>as well)</a:t>
            </a:r>
            <a:endParaRPr lang="en-GB" sz="2180" spc="-1" dirty="0">
              <a:latin typeface="Arial"/>
            </a:endParaRPr>
          </a:p>
        </p:txBody>
      </p:sp>
      <p:sp>
        <p:nvSpPr>
          <p:cNvPr id="2" name="CustomShape 1">
            <a:extLst>
              <a:ext uri="{FF2B5EF4-FFF2-40B4-BE49-F238E27FC236}">
                <a16:creationId xmlns:a16="http://schemas.microsoft.com/office/drawing/2014/main" id="{6E8A13AE-8789-6470-DDB4-A3CD0A60C230}"/>
              </a:ext>
            </a:extLst>
          </p:cNvPr>
          <p:cNvSpPr/>
          <p:nvPr/>
        </p:nvSpPr>
        <p:spPr>
          <a:xfrm>
            <a:off x="1981200" y="684000"/>
            <a:ext cx="8227800" cy="1143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3200" b="1" spc="-1" dirty="0">
                <a:solidFill>
                  <a:schemeClr val="tx2"/>
                </a:solidFill>
                <a:latin typeface="+mj-lt"/>
                <a:ea typeface="DejaVu Sans"/>
              </a:rPr>
              <a:t>Useful references</a:t>
            </a:r>
            <a:endParaRPr lang="en-GB" sz="3200" spc="-1" dirty="0">
              <a:solidFill>
                <a:schemeClr val="tx2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DM Theme">
  <a:themeElements>
    <a:clrScheme name="NDM">
      <a:dk1>
        <a:srgbClr val="000000"/>
      </a:dk1>
      <a:lt1>
        <a:sysClr val="window" lastClr="FFFFFF"/>
      </a:lt1>
      <a:dk2>
        <a:srgbClr val="002147"/>
      </a:dk2>
      <a:lt2>
        <a:srgbClr val="D4D4D2"/>
      </a:lt2>
      <a:accent1>
        <a:srgbClr val="158045"/>
      </a:accent1>
      <a:accent2>
        <a:srgbClr val="CDD940"/>
      </a:accent2>
      <a:accent3>
        <a:srgbClr val="A4BE4D"/>
      </a:accent3>
      <a:accent4>
        <a:srgbClr val="5D9E4D"/>
      </a:accent4>
      <a:accent5>
        <a:srgbClr val="F0E542"/>
      </a:accent5>
      <a:accent6>
        <a:srgbClr val="EB5F17"/>
      </a:accent6>
      <a:hlink>
        <a:srgbClr val="3382CD"/>
      </a:hlink>
      <a:folHlink>
        <a:srgbClr val="C548EC"/>
      </a:folHlink>
    </a:clrScheme>
    <a:fontScheme name="ND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DM_PPT_template_MASTER" id="{D1C27AE8-2CED-4EF7-9174-5B5125D06FDC}" vid="{ACA32C27-257B-47F4-8E2D-B169706B63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ab369c5-a05c-461f-99e1-15ed0fecd0da" xsi:nil="true"/>
    <lcf76f155ced4ddcb4097134ff3c332f xmlns="e600375e-0dac-43ee-9114-dcd03922427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BA350413EDD947A3F6ACC23D1F4FFB" ma:contentTypeVersion="9" ma:contentTypeDescription="Create a new document." ma:contentTypeScope="" ma:versionID="dbde6584570009b297ca43877451a763">
  <xsd:schema xmlns:xsd="http://www.w3.org/2001/XMLSchema" xmlns:xs="http://www.w3.org/2001/XMLSchema" xmlns:p="http://schemas.microsoft.com/office/2006/metadata/properties" xmlns:ns2="e600375e-0dac-43ee-9114-dcd03922427f" xmlns:ns3="1ab369c5-a05c-461f-99e1-15ed0fecd0da" targetNamespace="http://schemas.microsoft.com/office/2006/metadata/properties" ma:root="true" ma:fieldsID="6866cbd6de072e12cd40cfee6eb974aa" ns2:_="" ns3:_="">
    <xsd:import namespace="e600375e-0dac-43ee-9114-dcd03922427f"/>
    <xsd:import namespace="1ab369c5-a05c-461f-99e1-15ed0fecd0d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00375e-0dac-43ee-9114-dcd03922427f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eeb44a9-b924-44d0-8ed9-f8b504a4ba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369c5-a05c-461f-99e1-15ed0fecd0d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55138652-fb3e-4668-bcab-d4198cefc52f}" ma:internalName="TaxCatchAll" ma:showField="CatchAllData" ma:web="1ab369c5-a05c-461f-99e1-15ed0fecd0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47941D-A3F1-499B-B823-FB3DDE3427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F4F2C3-A33F-483B-9069-9B84E43D30DE}">
  <ds:schemaRefs>
    <ds:schemaRef ds:uri="http://www.w3.org/XML/1998/namespace"/>
    <ds:schemaRef ds:uri="1ab369c5-a05c-461f-99e1-15ed0fecd0da"/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e600375e-0dac-43ee-9114-dcd03922427f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55FEB74-942C-4E71-8EA7-895D37962E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00375e-0dac-43ee-9114-dcd03922427f"/>
    <ds:schemaRef ds:uri="1ab369c5-a05c-461f-99e1-15ed0fecd0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NDM_PPT_template_V1</Template>
  <TotalTime>10854</TotalTime>
  <Words>1752</Words>
  <Application>Microsoft Macintosh PowerPoint</Application>
  <PresentationFormat>Widescreen</PresentationFormat>
  <Paragraphs>175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Courier New</vt:lpstr>
      <vt:lpstr>DejaVu Sans</vt:lpstr>
      <vt:lpstr>Montserrat</vt:lpstr>
      <vt:lpstr>Roboto Slab</vt:lpstr>
      <vt:lpstr>StarSymbol</vt:lpstr>
      <vt:lpstr>Wingdings 3</vt:lpstr>
      <vt:lpstr>NDM Theme</vt:lpstr>
      <vt:lpstr>Computational training Session 8 Data analysis and visualisation in R</vt:lpstr>
      <vt:lpstr>Today’s plan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Helen Lockstone</dc:creator>
  <cp:lastModifiedBy>Irina Chelysheva</cp:lastModifiedBy>
  <cp:revision>136</cp:revision>
  <cp:lastPrinted>2023-03-22T10:23:18Z</cp:lastPrinted>
  <dcterms:created xsi:type="dcterms:W3CDTF">2023-09-30T14:44:32Z</dcterms:created>
  <dcterms:modified xsi:type="dcterms:W3CDTF">2025-10-21T13:14:42Z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0x01010018BA350413EDD947A3F6ACC23D1F4FFB</vt:lpwstr>
  </property>
</Properties>
</file>