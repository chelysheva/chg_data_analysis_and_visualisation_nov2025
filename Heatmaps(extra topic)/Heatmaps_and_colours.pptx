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4"/>
  </p:sldMasterIdLst>
  <p:notesMasterIdLst>
    <p:notesMasterId r:id="rId15"/>
  </p:notesMasterIdLst>
  <p:handoutMasterIdLst>
    <p:handoutMasterId r:id="rId16"/>
  </p:handoutMasterIdLst>
  <p:sldIdLst>
    <p:sldId id="294" r:id="rId5"/>
    <p:sldId id="306" r:id="rId6"/>
    <p:sldId id="262" r:id="rId7"/>
    <p:sldId id="263" r:id="rId8"/>
    <p:sldId id="264" r:id="rId9"/>
    <p:sldId id="265" r:id="rId10"/>
    <p:sldId id="310" r:id="rId11"/>
    <p:sldId id="311" r:id="rId12"/>
    <p:sldId id="312" r:id="rId13"/>
    <p:sldId id="278" r:id="rId14"/>
  </p:sldIdLst>
  <p:sldSz cx="12192000" cy="6858000"/>
  <p:notesSz cx="6797675" cy="9926638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139" userDrawn="1">
          <p15:clr>
            <a:srgbClr val="A4A3A4"/>
          </p15:clr>
        </p15:guide>
        <p15:guide id="2" pos="3840" userDrawn="1">
          <p15:clr>
            <a:srgbClr val="A4A3A4"/>
          </p15:clr>
        </p15:guide>
        <p15:guide id="3" orient="horz" pos="2364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2147"/>
    <a:srgbClr val="D4D4D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0940" autoAdjust="0"/>
    <p:restoredTop sz="95021"/>
  </p:normalViewPr>
  <p:slideViewPr>
    <p:cSldViewPr snapToGrid="0" showGuides="1">
      <p:cViewPr varScale="1">
        <p:scale>
          <a:sx n="116" d="100"/>
          <a:sy n="116" d="100"/>
        </p:scale>
        <p:origin x="264" y="184"/>
      </p:cViewPr>
      <p:guideLst>
        <p:guide orient="horz" pos="1139"/>
        <p:guide pos="3840"/>
        <p:guide orient="horz" pos="2364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68" d="100"/>
          <a:sy n="68" d="100"/>
        </p:scale>
        <p:origin x="3628" y="5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viewProps" Target="viewProp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openxmlformats.org/officeDocument/2006/relationships/handoutMaster" Target="handoutMasters/handoutMaster1.xml"/><Relationship Id="rId20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6.xml"/><Relationship Id="rId19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49688" y="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940AA94-B4D6-4599-8A68-C78733F5DE89}" type="datetimeFigureOut">
              <a:rPr lang="en-GB" smtClean="0"/>
              <a:t>06/11/2025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942975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49688" y="942975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442BE68-9E55-41F8-B614-1CED6B294F9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2115803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5659" cy="498056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50443" y="0"/>
            <a:ext cx="2945659" cy="498056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5A8EF2C-F38B-4955-816B-A73D6586B690}" type="datetimeFigureOut">
              <a:rPr lang="en-GB" smtClean="0"/>
              <a:t>06/11/2025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22275" y="1241425"/>
            <a:ext cx="5953125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79768" y="4777194"/>
            <a:ext cx="5438140" cy="3908614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428584"/>
            <a:ext cx="2945659" cy="49805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50443" y="9428584"/>
            <a:ext cx="2945659" cy="49805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8C86E21-9429-470D-BC18-1A647D35621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2320905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object 2">
            <a:extLst>
              <a:ext uri="{FF2B5EF4-FFF2-40B4-BE49-F238E27FC236}">
                <a16:creationId xmlns:a16="http://schemas.microsoft.com/office/drawing/2014/main" id="{836D9CEB-3676-24AC-694C-A0744925C634}"/>
              </a:ext>
            </a:extLst>
          </p:cNvPr>
          <p:cNvPicPr/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00" y="12"/>
            <a:ext cx="12192393" cy="685798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D761E9E-ED51-992F-D7E0-B9A9CFC550B3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794044" y="2320033"/>
            <a:ext cx="7705725" cy="1786731"/>
          </a:xfrm>
        </p:spPr>
        <p:txBody>
          <a:bodyPr anchor="b"/>
          <a:lstStyle>
            <a:lvl1pPr algn="l">
              <a:lnSpc>
                <a:spcPts val="6250"/>
              </a:lnSpc>
              <a:defRPr sz="4900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Title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5B4C36A-DF60-9B29-34E4-41C2FAC12B85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794044" y="4490242"/>
            <a:ext cx="7705725" cy="472283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24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 dirty="0"/>
              <a:t>Subtitle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3058EC2E-4C9F-5404-3640-0C65E4031B57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94044" y="5344417"/>
            <a:ext cx="7705725" cy="370584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defRPr sz="1600">
                <a:solidFill>
                  <a:schemeClr val="bg1"/>
                </a:solidFill>
              </a:defRPr>
            </a:lvl1pPr>
            <a:lvl2pPr>
              <a:defRPr>
                <a:solidFill>
                  <a:schemeClr val="accent1"/>
                </a:solidFill>
              </a:defRPr>
            </a:lvl2pPr>
            <a:lvl3pPr>
              <a:defRPr>
                <a:solidFill>
                  <a:schemeClr val="accent1"/>
                </a:solidFill>
              </a:defRPr>
            </a:lvl3pPr>
            <a:lvl4pPr>
              <a:defRPr>
                <a:solidFill>
                  <a:schemeClr val="accent1"/>
                </a:solidFill>
              </a:defRPr>
            </a:lvl4pPr>
            <a:lvl5pPr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en-GB" dirty="0"/>
              <a:t>Presenter and/or date</a:t>
            </a:r>
            <a:endParaRPr lang="en-US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FA8D99D0-08E8-DACD-7022-00D90D05BFAF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1663" y="614622"/>
            <a:ext cx="2054673" cy="975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89411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divider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bg object 16">
            <a:extLst>
              <a:ext uri="{FF2B5EF4-FFF2-40B4-BE49-F238E27FC236}">
                <a16:creationId xmlns:a16="http://schemas.microsoft.com/office/drawing/2014/main" id="{2133F4BD-3A05-6BF0-9599-0623746B96D1}"/>
              </a:ext>
            </a:extLst>
          </p:cNvPr>
          <p:cNvSpPr/>
          <p:nvPr userDrawn="1"/>
        </p:nvSpPr>
        <p:spPr>
          <a:xfrm>
            <a:off x="0" y="68"/>
            <a:ext cx="12193270" cy="6858000"/>
          </a:xfrm>
          <a:custGeom>
            <a:avLst/>
            <a:gdLst/>
            <a:ahLst/>
            <a:cxnLst/>
            <a:rect l="l" t="t" r="r" b="b"/>
            <a:pathLst>
              <a:path w="12193270" h="6858000">
                <a:moveTo>
                  <a:pt x="12193206" y="0"/>
                </a:moveTo>
                <a:lnTo>
                  <a:pt x="0" y="0"/>
                </a:lnTo>
                <a:lnTo>
                  <a:pt x="0" y="258064"/>
                </a:lnTo>
                <a:lnTo>
                  <a:pt x="7924190" y="6857936"/>
                </a:lnTo>
                <a:lnTo>
                  <a:pt x="12193206" y="6857936"/>
                </a:lnTo>
                <a:lnTo>
                  <a:pt x="12193206" y="0"/>
                </a:lnTo>
                <a:close/>
              </a:path>
            </a:pathLst>
          </a:custGeom>
          <a:solidFill>
            <a:srgbClr val="092147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D761E9E-ED51-992F-D7E0-B9A9CFC550B3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794045" y="4313933"/>
            <a:ext cx="3854155" cy="1786731"/>
          </a:xfrm>
        </p:spPr>
        <p:txBody>
          <a:bodyPr anchor="t" anchorCtr="0"/>
          <a:lstStyle>
            <a:lvl1pPr algn="l">
              <a:lnSpc>
                <a:spcPts val="4700"/>
              </a:lnSpc>
              <a:defRPr sz="3600">
                <a:solidFill>
                  <a:schemeClr val="tx2"/>
                </a:solidFill>
              </a:defRPr>
            </a:lvl1pPr>
          </a:lstStyle>
          <a:p>
            <a:r>
              <a:rPr lang="en-GB" dirty="0"/>
              <a:t>Section title</a:t>
            </a:r>
          </a:p>
        </p:txBody>
      </p:sp>
    </p:spTree>
    <p:extLst>
      <p:ext uri="{BB962C8B-B14F-4D97-AF65-F5344CB8AC3E}">
        <p14:creationId xmlns:p14="http://schemas.microsoft.com/office/powerpoint/2010/main" val="10230978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divid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bg object 16">
            <a:extLst>
              <a:ext uri="{FF2B5EF4-FFF2-40B4-BE49-F238E27FC236}">
                <a16:creationId xmlns:a16="http://schemas.microsoft.com/office/drawing/2014/main" id="{2133F4BD-3A05-6BF0-9599-0623746B96D1}"/>
              </a:ext>
            </a:extLst>
          </p:cNvPr>
          <p:cNvSpPr/>
          <p:nvPr userDrawn="1"/>
        </p:nvSpPr>
        <p:spPr>
          <a:xfrm flipH="1">
            <a:off x="0" y="68"/>
            <a:ext cx="12193270" cy="6858000"/>
          </a:xfrm>
          <a:custGeom>
            <a:avLst/>
            <a:gdLst/>
            <a:ahLst/>
            <a:cxnLst/>
            <a:rect l="l" t="t" r="r" b="b"/>
            <a:pathLst>
              <a:path w="12193270" h="6858000">
                <a:moveTo>
                  <a:pt x="12193206" y="0"/>
                </a:moveTo>
                <a:lnTo>
                  <a:pt x="0" y="0"/>
                </a:lnTo>
                <a:lnTo>
                  <a:pt x="0" y="258064"/>
                </a:lnTo>
                <a:lnTo>
                  <a:pt x="7924190" y="6857936"/>
                </a:lnTo>
                <a:lnTo>
                  <a:pt x="12193206" y="6857936"/>
                </a:lnTo>
                <a:lnTo>
                  <a:pt x="12193206" y="0"/>
                </a:lnTo>
                <a:close/>
              </a:path>
            </a:pathLst>
          </a:custGeom>
          <a:solidFill>
            <a:srgbClr val="092147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D761E9E-ED51-992F-D7E0-B9A9CFC550B3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794045" y="4313933"/>
            <a:ext cx="3854155" cy="1786731"/>
          </a:xfrm>
        </p:spPr>
        <p:txBody>
          <a:bodyPr anchor="t" anchorCtr="0"/>
          <a:lstStyle>
            <a:lvl1pPr algn="l">
              <a:lnSpc>
                <a:spcPts val="4700"/>
              </a:lnSpc>
              <a:defRPr sz="3600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Section title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033F56EB-3E8E-3A6B-FF7F-5BC6CD9B42B1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244197" y="250167"/>
            <a:ext cx="7947803" cy="6607833"/>
          </a:xfrm>
          <a:custGeom>
            <a:avLst/>
            <a:gdLst>
              <a:gd name="connsiteX0" fmla="*/ 0 w 7947804"/>
              <a:gd name="connsiteY0" fmla="*/ 6780294 h 6780294"/>
              <a:gd name="connsiteX1" fmla="*/ 0 w 7947804"/>
              <a:gd name="connsiteY1" fmla="*/ 0 h 6780294"/>
              <a:gd name="connsiteX2" fmla="*/ 7947804 w 7947804"/>
              <a:gd name="connsiteY2" fmla="*/ 6780294 h 6780294"/>
              <a:gd name="connsiteX3" fmla="*/ 0 w 7947804"/>
              <a:gd name="connsiteY3" fmla="*/ 6780294 h 6780294"/>
              <a:gd name="connsiteX0" fmla="*/ 0 w 7947804"/>
              <a:gd name="connsiteY0" fmla="*/ 6607765 h 6607765"/>
              <a:gd name="connsiteX1" fmla="*/ 7944929 w 7947804"/>
              <a:gd name="connsiteY1" fmla="*/ 0 h 6607765"/>
              <a:gd name="connsiteX2" fmla="*/ 7947804 w 7947804"/>
              <a:gd name="connsiteY2" fmla="*/ 6607765 h 6607765"/>
              <a:gd name="connsiteX3" fmla="*/ 0 w 7947804"/>
              <a:gd name="connsiteY3" fmla="*/ 6607765 h 660776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947804" h="6607765">
                <a:moveTo>
                  <a:pt x="0" y="6607765"/>
                </a:moveTo>
                <a:lnTo>
                  <a:pt x="7944929" y="0"/>
                </a:lnTo>
                <a:cubicBezTo>
                  <a:pt x="7945887" y="2202588"/>
                  <a:pt x="7946846" y="4405177"/>
                  <a:pt x="7947804" y="6607765"/>
                </a:cubicBezTo>
                <a:lnTo>
                  <a:pt x="0" y="6607765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665059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Singl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object 5">
            <a:extLst>
              <a:ext uri="{FF2B5EF4-FFF2-40B4-BE49-F238E27FC236}">
                <a16:creationId xmlns:a16="http://schemas.microsoft.com/office/drawing/2014/main" id="{3260914D-2179-F5E7-6AEF-1B3FCD15B664}"/>
              </a:ext>
            </a:extLst>
          </p:cNvPr>
          <p:cNvSpPr/>
          <p:nvPr/>
        </p:nvSpPr>
        <p:spPr>
          <a:xfrm>
            <a:off x="0" y="6320155"/>
            <a:ext cx="12193270" cy="537845"/>
          </a:xfrm>
          <a:custGeom>
            <a:avLst/>
            <a:gdLst/>
            <a:ahLst/>
            <a:cxnLst/>
            <a:rect l="l" t="t" r="r" b="b"/>
            <a:pathLst>
              <a:path w="12193270" h="537845">
                <a:moveTo>
                  <a:pt x="12193206" y="0"/>
                </a:moveTo>
                <a:lnTo>
                  <a:pt x="0" y="0"/>
                </a:lnTo>
                <a:lnTo>
                  <a:pt x="0" y="537654"/>
                </a:lnTo>
                <a:lnTo>
                  <a:pt x="12193206" y="537654"/>
                </a:lnTo>
                <a:lnTo>
                  <a:pt x="12193206" y="0"/>
                </a:lnTo>
                <a:close/>
              </a:path>
            </a:pathLst>
          </a:custGeom>
          <a:solidFill>
            <a:schemeClr val="tx2"/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BCD3216-EE4B-142A-37B2-8F088BC53FF9}"/>
              </a:ext>
            </a:extLst>
          </p:cNvPr>
          <p:cNvSpPr>
            <a:spLocks noGrp="1"/>
          </p:cNvSpPr>
          <p:nvPr userDrawn="1">
            <p:ph type="title" hasCustomPrompt="1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Heading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993640-ACD6-D0FB-E6D2-1A10789FAB47}"/>
              </a:ext>
            </a:extLst>
          </p:cNvPr>
          <p:cNvSpPr>
            <a:spLocks noGrp="1"/>
          </p:cNvSpPr>
          <p:nvPr userDrawn="1">
            <p:ph idx="1"/>
          </p:nvPr>
        </p:nvSpPr>
        <p:spPr>
          <a:xfrm>
            <a:off x="790574" y="1759636"/>
            <a:ext cx="10596563" cy="3776889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A1F628B-3C3B-56B9-B7C1-39C05962BD71}"/>
              </a:ext>
            </a:extLst>
          </p:cNvPr>
          <p:cNvSpPr>
            <a:spLocks noGrp="1"/>
          </p:cNvSpPr>
          <p:nvPr userDrawn="1">
            <p:ph type="sldNum" sz="quarter" idx="10"/>
          </p:nvPr>
        </p:nvSpPr>
        <p:spPr>
          <a:xfrm>
            <a:off x="11691143" y="6438899"/>
            <a:ext cx="269875" cy="25717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7CC3F808-C7E8-4131-9EFE-B613B7BC3B90}" type="slidenum">
              <a:rPr lang="en-GB" smtClean="0"/>
              <a:pPr/>
              <a:t>‹#›</a:t>
            </a:fld>
            <a:endParaRPr lang="en-GB" dirty="0"/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789562BF-709C-4632-9ABB-4C737CB763F9}"/>
              </a:ext>
            </a:extLst>
          </p:cNvPr>
          <p:cNvGrpSpPr/>
          <p:nvPr userDrawn="1"/>
        </p:nvGrpSpPr>
        <p:grpSpPr>
          <a:xfrm>
            <a:off x="316179" y="6438899"/>
            <a:ext cx="2926714" cy="297053"/>
            <a:chOff x="316179" y="6438899"/>
            <a:chExt cx="2926714" cy="297053"/>
          </a:xfrm>
        </p:grpSpPr>
        <p:pic>
          <p:nvPicPr>
            <p:cNvPr id="22" name="Picture 21">
              <a:extLst>
                <a:ext uri="{FF2B5EF4-FFF2-40B4-BE49-F238E27FC236}">
                  <a16:creationId xmlns:a16="http://schemas.microsoft.com/office/drawing/2014/main" id="{F9E6E1D9-0164-49D5-AB17-F7F0D91798EF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1032"/>
            <a:stretch/>
          </p:blipFill>
          <p:spPr>
            <a:xfrm>
              <a:off x="600074" y="6438899"/>
              <a:ext cx="2642819" cy="297053"/>
            </a:xfrm>
            <a:prstGeom prst="rect">
              <a:avLst/>
            </a:prstGeom>
          </p:spPr>
        </p:pic>
        <p:sp>
          <p:nvSpPr>
            <p:cNvPr id="12" name="object 6">
              <a:extLst>
                <a:ext uri="{FF2B5EF4-FFF2-40B4-BE49-F238E27FC236}">
                  <a16:creationId xmlns:a16="http://schemas.microsoft.com/office/drawing/2014/main" id="{939C92E6-C602-0651-B37F-991BF596228E}"/>
                </a:ext>
              </a:extLst>
            </p:cNvPr>
            <p:cNvSpPr/>
            <p:nvPr/>
          </p:nvSpPr>
          <p:spPr>
            <a:xfrm>
              <a:off x="316179" y="6458418"/>
              <a:ext cx="254635" cy="254635"/>
            </a:xfrm>
            <a:custGeom>
              <a:avLst/>
              <a:gdLst/>
              <a:ahLst/>
              <a:cxnLst/>
              <a:rect l="l" t="t" r="r" b="b"/>
              <a:pathLst>
                <a:path w="254634" h="254634">
                  <a:moveTo>
                    <a:pt x="254419" y="0"/>
                  </a:moveTo>
                  <a:lnTo>
                    <a:pt x="126784" y="105625"/>
                  </a:lnTo>
                  <a:lnTo>
                    <a:pt x="0" y="25"/>
                  </a:lnTo>
                  <a:lnTo>
                    <a:pt x="0" y="254419"/>
                  </a:lnTo>
                  <a:lnTo>
                    <a:pt x="254419" y="254419"/>
                  </a:lnTo>
                  <a:lnTo>
                    <a:pt x="254419" y="0"/>
                  </a:lnTo>
                  <a:close/>
                </a:path>
              </a:pathLst>
            </a:custGeom>
            <a:solidFill>
              <a:schemeClr val="bg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37395665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object 5">
            <a:extLst>
              <a:ext uri="{FF2B5EF4-FFF2-40B4-BE49-F238E27FC236}">
                <a16:creationId xmlns:a16="http://schemas.microsoft.com/office/drawing/2014/main" id="{3260914D-2179-F5E7-6AEF-1B3FCD15B664}"/>
              </a:ext>
            </a:extLst>
          </p:cNvPr>
          <p:cNvSpPr/>
          <p:nvPr/>
        </p:nvSpPr>
        <p:spPr>
          <a:xfrm>
            <a:off x="0" y="6320345"/>
            <a:ext cx="12193270" cy="537845"/>
          </a:xfrm>
          <a:custGeom>
            <a:avLst/>
            <a:gdLst/>
            <a:ahLst/>
            <a:cxnLst/>
            <a:rect l="l" t="t" r="r" b="b"/>
            <a:pathLst>
              <a:path w="12193270" h="537845">
                <a:moveTo>
                  <a:pt x="12193206" y="0"/>
                </a:moveTo>
                <a:lnTo>
                  <a:pt x="0" y="0"/>
                </a:lnTo>
                <a:lnTo>
                  <a:pt x="0" y="537654"/>
                </a:lnTo>
                <a:lnTo>
                  <a:pt x="12193206" y="537654"/>
                </a:lnTo>
                <a:lnTo>
                  <a:pt x="12193206" y="0"/>
                </a:lnTo>
                <a:close/>
              </a:path>
            </a:pathLst>
          </a:custGeom>
          <a:solidFill>
            <a:schemeClr val="tx2"/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BCD3216-EE4B-142A-37B2-8F088BC53FF9}"/>
              </a:ext>
            </a:extLst>
          </p:cNvPr>
          <p:cNvSpPr>
            <a:spLocks noGrp="1"/>
          </p:cNvSpPr>
          <p:nvPr userDrawn="1">
            <p:ph type="title" hasCustomPrompt="1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Heading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993640-ACD6-D0FB-E6D2-1A10789FAB47}"/>
              </a:ext>
            </a:extLst>
          </p:cNvPr>
          <p:cNvSpPr>
            <a:spLocks noGrp="1"/>
          </p:cNvSpPr>
          <p:nvPr userDrawn="1">
            <p:ph idx="1"/>
          </p:nvPr>
        </p:nvSpPr>
        <p:spPr>
          <a:xfrm>
            <a:off x="790574" y="1759636"/>
            <a:ext cx="5059643" cy="3776889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A1F628B-3C3B-56B9-B7C1-39C05962BD71}"/>
              </a:ext>
            </a:extLst>
          </p:cNvPr>
          <p:cNvSpPr>
            <a:spLocks noGrp="1"/>
          </p:cNvSpPr>
          <p:nvPr userDrawn="1">
            <p:ph type="sldNum" sz="quarter" idx="10"/>
          </p:nvPr>
        </p:nvSpPr>
        <p:spPr>
          <a:xfrm>
            <a:off x="11691143" y="6438899"/>
            <a:ext cx="269875" cy="25717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7CC3F808-C7E8-4131-9EFE-B613B7BC3B90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A6039FF1-6A15-29CE-1C78-37FA0E0DC74D}"/>
              </a:ext>
            </a:extLst>
          </p:cNvPr>
          <p:cNvSpPr>
            <a:spLocks noGrp="1"/>
          </p:cNvSpPr>
          <p:nvPr userDrawn="1">
            <p:ph idx="11"/>
          </p:nvPr>
        </p:nvSpPr>
        <p:spPr>
          <a:xfrm>
            <a:off x="6341781" y="1759636"/>
            <a:ext cx="5059643" cy="3776889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592B2C36-95E6-467B-9243-129A97F24B4B}"/>
              </a:ext>
            </a:extLst>
          </p:cNvPr>
          <p:cNvGrpSpPr/>
          <p:nvPr userDrawn="1"/>
        </p:nvGrpSpPr>
        <p:grpSpPr>
          <a:xfrm>
            <a:off x="316179" y="6438899"/>
            <a:ext cx="2926714" cy="297053"/>
            <a:chOff x="316179" y="6438899"/>
            <a:chExt cx="2926714" cy="297053"/>
          </a:xfrm>
        </p:grpSpPr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7F4D5055-8A98-4FB3-9EAB-F90E47333D1E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1032"/>
            <a:stretch/>
          </p:blipFill>
          <p:spPr>
            <a:xfrm>
              <a:off x="600074" y="6438899"/>
              <a:ext cx="2642819" cy="297053"/>
            </a:xfrm>
            <a:prstGeom prst="rect">
              <a:avLst/>
            </a:prstGeom>
          </p:spPr>
        </p:pic>
        <p:sp>
          <p:nvSpPr>
            <p:cNvPr id="15" name="object 6">
              <a:extLst>
                <a:ext uri="{FF2B5EF4-FFF2-40B4-BE49-F238E27FC236}">
                  <a16:creationId xmlns:a16="http://schemas.microsoft.com/office/drawing/2014/main" id="{4D71878C-405C-4B8F-A753-8B7ED6E1ED67}"/>
                </a:ext>
              </a:extLst>
            </p:cNvPr>
            <p:cNvSpPr/>
            <p:nvPr/>
          </p:nvSpPr>
          <p:spPr>
            <a:xfrm>
              <a:off x="316179" y="6458418"/>
              <a:ext cx="254635" cy="254635"/>
            </a:xfrm>
            <a:custGeom>
              <a:avLst/>
              <a:gdLst/>
              <a:ahLst/>
              <a:cxnLst/>
              <a:rect l="l" t="t" r="r" b="b"/>
              <a:pathLst>
                <a:path w="254634" h="254634">
                  <a:moveTo>
                    <a:pt x="254419" y="0"/>
                  </a:moveTo>
                  <a:lnTo>
                    <a:pt x="126784" y="105625"/>
                  </a:lnTo>
                  <a:lnTo>
                    <a:pt x="0" y="25"/>
                  </a:lnTo>
                  <a:lnTo>
                    <a:pt x="0" y="254419"/>
                  </a:lnTo>
                  <a:lnTo>
                    <a:pt x="254419" y="254419"/>
                  </a:lnTo>
                  <a:lnTo>
                    <a:pt x="254419" y="0"/>
                  </a:lnTo>
                  <a:close/>
                </a:path>
              </a:pathLst>
            </a:custGeom>
            <a:solidFill>
              <a:schemeClr val="bg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19963783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&amp; imag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978AB8AC-51C0-A282-3E41-4FF8078F8B66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6341780" y="0"/>
            <a:ext cx="5850219" cy="6320155"/>
          </a:xfrm>
          <a:prstGeom prst="rect">
            <a:avLst/>
          </a:pr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anchor="ctr" anchorCtr="0"/>
          <a:lstStyle>
            <a:lvl1pPr algn="ctr">
              <a:defRPr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Click to add picture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BCD3216-EE4B-142A-37B2-8F088BC53FF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03274" y="805180"/>
            <a:ext cx="5046943" cy="1094014"/>
          </a:xfrm>
        </p:spPr>
        <p:txBody>
          <a:bodyPr/>
          <a:lstStyle>
            <a:lvl1pPr>
              <a:lnSpc>
                <a:spcPts val="4000"/>
              </a:lnSpc>
              <a:defRPr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Heading</a:t>
            </a:r>
            <a:endParaRPr lang="en-GB" dirty="0"/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4D4EDD70-4D9F-74D7-CC79-3FFEE13768B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803274" y="2142653"/>
            <a:ext cx="5046943" cy="3393871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17" name="object 6">
            <a:extLst>
              <a:ext uri="{FF2B5EF4-FFF2-40B4-BE49-F238E27FC236}">
                <a16:creationId xmlns:a16="http://schemas.microsoft.com/office/drawing/2014/main" id="{DE730B1B-F47E-F663-D5A7-1F15CBC7E9A7}"/>
              </a:ext>
            </a:extLst>
          </p:cNvPr>
          <p:cNvSpPr/>
          <p:nvPr/>
        </p:nvSpPr>
        <p:spPr>
          <a:xfrm>
            <a:off x="0" y="6320155"/>
            <a:ext cx="12193270" cy="537845"/>
          </a:xfrm>
          <a:custGeom>
            <a:avLst/>
            <a:gdLst/>
            <a:ahLst/>
            <a:cxnLst/>
            <a:rect l="l" t="t" r="r" b="b"/>
            <a:pathLst>
              <a:path w="12193270" h="537845">
                <a:moveTo>
                  <a:pt x="12193206" y="0"/>
                </a:moveTo>
                <a:lnTo>
                  <a:pt x="0" y="0"/>
                </a:lnTo>
                <a:lnTo>
                  <a:pt x="0" y="537654"/>
                </a:lnTo>
                <a:lnTo>
                  <a:pt x="12193206" y="537654"/>
                </a:lnTo>
                <a:lnTo>
                  <a:pt x="12193206" y="0"/>
                </a:lnTo>
                <a:close/>
              </a:path>
            </a:pathLst>
          </a:custGeom>
          <a:solidFill>
            <a:schemeClr val="tx2"/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A1F628B-3C3B-56B9-B7C1-39C05962BD7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1691143" y="6438899"/>
            <a:ext cx="269875" cy="25717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7CC3F808-C7E8-4131-9EFE-B613B7BC3B90}" type="slidenum">
              <a:rPr lang="en-GB" smtClean="0"/>
              <a:pPr/>
              <a:t>‹#›</a:t>
            </a:fld>
            <a:endParaRPr lang="en-GB" dirty="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21C710AF-4B2A-4BBB-8788-8441A63BFD19}"/>
              </a:ext>
            </a:extLst>
          </p:cNvPr>
          <p:cNvGrpSpPr/>
          <p:nvPr userDrawn="1"/>
        </p:nvGrpSpPr>
        <p:grpSpPr>
          <a:xfrm>
            <a:off x="316179" y="6438899"/>
            <a:ext cx="2926714" cy="297053"/>
            <a:chOff x="316179" y="6438899"/>
            <a:chExt cx="2926714" cy="297053"/>
          </a:xfrm>
        </p:grpSpPr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044B295D-1DFC-441A-8C87-EC7319DCB4E0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1032"/>
            <a:stretch/>
          </p:blipFill>
          <p:spPr>
            <a:xfrm>
              <a:off x="600074" y="6438899"/>
              <a:ext cx="2642819" cy="297053"/>
            </a:xfrm>
            <a:prstGeom prst="rect">
              <a:avLst/>
            </a:prstGeom>
          </p:spPr>
        </p:pic>
        <p:sp>
          <p:nvSpPr>
            <p:cNvPr id="15" name="object 6">
              <a:extLst>
                <a:ext uri="{FF2B5EF4-FFF2-40B4-BE49-F238E27FC236}">
                  <a16:creationId xmlns:a16="http://schemas.microsoft.com/office/drawing/2014/main" id="{51AC7A92-6A29-45ED-BA28-19BF42427299}"/>
                </a:ext>
              </a:extLst>
            </p:cNvPr>
            <p:cNvSpPr/>
            <p:nvPr/>
          </p:nvSpPr>
          <p:spPr>
            <a:xfrm>
              <a:off x="316179" y="6458418"/>
              <a:ext cx="254635" cy="254635"/>
            </a:xfrm>
            <a:custGeom>
              <a:avLst/>
              <a:gdLst/>
              <a:ahLst/>
              <a:cxnLst/>
              <a:rect l="l" t="t" r="r" b="b"/>
              <a:pathLst>
                <a:path w="254634" h="254634">
                  <a:moveTo>
                    <a:pt x="254419" y="0"/>
                  </a:moveTo>
                  <a:lnTo>
                    <a:pt x="126784" y="105625"/>
                  </a:lnTo>
                  <a:lnTo>
                    <a:pt x="0" y="25"/>
                  </a:lnTo>
                  <a:lnTo>
                    <a:pt x="0" y="254419"/>
                  </a:lnTo>
                  <a:lnTo>
                    <a:pt x="254419" y="254419"/>
                  </a:lnTo>
                  <a:lnTo>
                    <a:pt x="254419" y="0"/>
                  </a:lnTo>
                  <a:close/>
                </a:path>
              </a:pathLst>
            </a:custGeom>
            <a:solidFill>
              <a:schemeClr val="bg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36246587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&amp; imag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7">
            <a:extLst>
              <a:ext uri="{FF2B5EF4-FFF2-40B4-BE49-F238E27FC236}">
                <a16:creationId xmlns:a16="http://schemas.microsoft.com/office/drawing/2014/main" id="{4D3C0B78-D624-3C20-A0D8-A752505C93D5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0" y="0"/>
            <a:ext cx="5850219" cy="6320155"/>
          </a:xfrm>
          <a:prstGeom prst="rect">
            <a:avLst/>
          </a:pr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anchor="ctr" anchorCtr="0"/>
          <a:lstStyle>
            <a:lvl1pPr algn="ctr">
              <a:defRPr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Click to add picture</a:t>
            </a:r>
          </a:p>
        </p:txBody>
      </p:sp>
      <p:sp>
        <p:nvSpPr>
          <p:cNvPr id="17" name="object 6">
            <a:extLst>
              <a:ext uri="{FF2B5EF4-FFF2-40B4-BE49-F238E27FC236}">
                <a16:creationId xmlns:a16="http://schemas.microsoft.com/office/drawing/2014/main" id="{DE730B1B-F47E-F663-D5A7-1F15CBC7E9A7}"/>
              </a:ext>
            </a:extLst>
          </p:cNvPr>
          <p:cNvSpPr/>
          <p:nvPr/>
        </p:nvSpPr>
        <p:spPr>
          <a:xfrm>
            <a:off x="0" y="6320155"/>
            <a:ext cx="12193270" cy="537845"/>
          </a:xfrm>
          <a:custGeom>
            <a:avLst/>
            <a:gdLst/>
            <a:ahLst/>
            <a:cxnLst/>
            <a:rect l="l" t="t" r="r" b="b"/>
            <a:pathLst>
              <a:path w="12193270" h="537845">
                <a:moveTo>
                  <a:pt x="12193206" y="0"/>
                </a:moveTo>
                <a:lnTo>
                  <a:pt x="0" y="0"/>
                </a:lnTo>
                <a:lnTo>
                  <a:pt x="0" y="537654"/>
                </a:lnTo>
                <a:lnTo>
                  <a:pt x="12193206" y="537654"/>
                </a:lnTo>
                <a:lnTo>
                  <a:pt x="12193206" y="0"/>
                </a:lnTo>
                <a:close/>
              </a:path>
            </a:pathLst>
          </a:custGeom>
          <a:solidFill>
            <a:schemeClr val="tx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A1F628B-3C3B-56B9-B7C1-39C05962BD7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1691143" y="6438899"/>
            <a:ext cx="269875" cy="25717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7CC3F808-C7E8-4131-9EFE-B613B7BC3B90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BCD3216-EE4B-142A-37B2-8F088BC53FF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340197" y="806400"/>
            <a:ext cx="5059642" cy="1094014"/>
          </a:xfrm>
        </p:spPr>
        <p:txBody>
          <a:bodyPr/>
          <a:lstStyle>
            <a:lvl1pPr>
              <a:lnSpc>
                <a:spcPts val="4000"/>
              </a:lnSpc>
              <a:defRPr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Heading</a:t>
            </a:r>
            <a:endParaRPr lang="en-GB" dirty="0"/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4D4EDD70-4D9F-74D7-CC79-3FFEE13768B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338612" y="2142653"/>
            <a:ext cx="5059643" cy="3393871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A4051C04-F9E5-476C-9476-DEB53CE93B17}"/>
              </a:ext>
            </a:extLst>
          </p:cNvPr>
          <p:cNvGrpSpPr/>
          <p:nvPr userDrawn="1"/>
        </p:nvGrpSpPr>
        <p:grpSpPr>
          <a:xfrm>
            <a:off x="316179" y="6438899"/>
            <a:ext cx="2926714" cy="297053"/>
            <a:chOff x="316179" y="6438899"/>
            <a:chExt cx="2926714" cy="297053"/>
          </a:xfrm>
        </p:grpSpPr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132338D1-8321-470F-B388-E7C1399D5728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1032"/>
            <a:stretch/>
          </p:blipFill>
          <p:spPr>
            <a:xfrm>
              <a:off x="600074" y="6438899"/>
              <a:ext cx="2642819" cy="297053"/>
            </a:xfrm>
            <a:prstGeom prst="rect">
              <a:avLst/>
            </a:prstGeom>
          </p:spPr>
        </p:pic>
        <p:sp>
          <p:nvSpPr>
            <p:cNvPr id="15" name="object 6">
              <a:extLst>
                <a:ext uri="{FF2B5EF4-FFF2-40B4-BE49-F238E27FC236}">
                  <a16:creationId xmlns:a16="http://schemas.microsoft.com/office/drawing/2014/main" id="{EE00DAA1-7EF7-4644-AAC0-6D3B74E0B7CC}"/>
                </a:ext>
              </a:extLst>
            </p:cNvPr>
            <p:cNvSpPr/>
            <p:nvPr/>
          </p:nvSpPr>
          <p:spPr>
            <a:xfrm>
              <a:off x="316179" y="6458418"/>
              <a:ext cx="254635" cy="254635"/>
            </a:xfrm>
            <a:custGeom>
              <a:avLst/>
              <a:gdLst/>
              <a:ahLst/>
              <a:cxnLst/>
              <a:rect l="l" t="t" r="r" b="b"/>
              <a:pathLst>
                <a:path w="254634" h="254634">
                  <a:moveTo>
                    <a:pt x="254419" y="0"/>
                  </a:moveTo>
                  <a:lnTo>
                    <a:pt x="126784" y="105625"/>
                  </a:lnTo>
                  <a:lnTo>
                    <a:pt x="0" y="25"/>
                  </a:lnTo>
                  <a:lnTo>
                    <a:pt x="0" y="254419"/>
                  </a:lnTo>
                  <a:lnTo>
                    <a:pt x="254419" y="254419"/>
                  </a:lnTo>
                  <a:lnTo>
                    <a:pt x="254419" y="0"/>
                  </a:lnTo>
                  <a:close/>
                </a:path>
              </a:pathLst>
            </a:custGeom>
            <a:solidFill>
              <a:schemeClr val="bg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15206578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object 5">
            <a:extLst>
              <a:ext uri="{FF2B5EF4-FFF2-40B4-BE49-F238E27FC236}">
                <a16:creationId xmlns:a16="http://schemas.microsoft.com/office/drawing/2014/main" id="{3260914D-2179-F5E7-6AEF-1B3FCD15B664}"/>
              </a:ext>
            </a:extLst>
          </p:cNvPr>
          <p:cNvSpPr/>
          <p:nvPr/>
        </p:nvSpPr>
        <p:spPr>
          <a:xfrm>
            <a:off x="0" y="6320345"/>
            <a:ext cx="12193270" cy="537845"/>
          </a:xfrm>
          <a:custGeom>
            <a:avLst/>
            <a:gdLst/>
            <a:ahLst/>
            <a:cxnLst/>
            <a:rect l="l" t="t" r="r" b="b"/>
            <a:pathLst>
              <a:path w="12193270" h="537845">
                <a:moveTo>
                  <a:pt x="12193206" y="0"/>
                </a:moveTo>
                <a:lnTo>
                  <a:pt x="0" y="0"/>
                </a:lnTo>
                <a:lnTo>
                  <a:pt x="0" y="537654"/>
                </a:lnTo>
                <a:lnTo>
                  <a:pt x="12193206" y="537654"/>
                </a:lnTo>
                <a:lnTo>
                  <a:pt x="12193206" y="0"/>
                </a:lnTo>
                <a:close/>
              </a:path>
            </a:pathLst>
          </a:custGeom>
          <a:solidFill>
            <a:schemeClr val="tx2"/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BCD3216-EE4B-142A-37B2-8F088BC53FF9}"/>
              </a:ext>
            </a:extLst>
          </p:cNvPr>
          <p:cNvSpPr>
            <a:spLocks noGrp="1"/>
          </p:cNvSpPr>
          <p:nvPr userDrawn="1">
            <p:ph type="title" hasCustomPrompt="1"/>
          </p:nvPr>
        </p:nvSpPr>
        <p:spPr>
          <a:xfrm>
            <a:off x="790574" y="736600"/>
            <a:ext cx="10596563" cy="701675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Heading</a:t>
            </a:r>
            <a:endParaRPr lang="en-GB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A1F628B-3C3B-56B9-B7C1-39C05962BD71}"/>
              </a:ext>
            </a:extLst>
          </p:cNvPr>
          <p:cNvSpPr>
            <a:spLocks noGrp="1"/>
          </p:cNvSpPr>
          <p:nvPr userDrawn="1">
            <p:ph type="sldNum" sz="quarter" idx="10"/>
          </p:nvPr>
        </p:nvSpPr>
        <p:spPr>
          <a:xfrm>
            <a:off x="11691143" y="6438899"/>
            <a:ext cx="269875" cy="25717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7CC3F808-C7E8-4131-9EFE-B613B7BC3B90}" type="slidenum">
              <a:rPr lang="en-GB" smtClean="0"/>
              <a:pPr/>
              <a:t>‹#›</a:t>
            </a:fld>
            <a:endParaRPr lang="en-GB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17B5E80C-411B-41BE-9BF2-2C0185B49FB6}"/>
              </a:ext>
            </a:extLst>
          </p:cNvPr>
          <p:cNvGrpSpPr/>
          <p:nvPr userDrawn="1"/>
        </p:nvGrpSpPr>
        <p:grpSpPr>
          <a:xfrm>
            <a:off x="316179" y="6438899"/>
            <a:ext cx="2926714" cy="297053"/>
            <a:chOff x="316179" y="6438899"/>
            <a:chExt cx="2926714" cy="297053"/>
          </a:xfrm>
        </p:grpSpPr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DB394468-E324-45CD-98F0-52A4B8F8F6F3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1032"/>
            <a:stretch/>
          </p:blipFill>
          <p:spPr>
            <a:xfrm>
              <a:off x="600074" y="6438899"/>
              <a:ext cx="2642819" cy="297053"/>
            </a:xfrm>
            <a:prstGeom prst="rect">
              <a:avLst/>
            </a:prstGeom>
          </p:spPr>
        </p:pic>
        <p:sp>
          <p:nvSpPr>
            <p:cNvPr id="14" name="object 6">
              <a:extLst>
                <a:ext uri="{FF2B5EF4-FFF2-40B4-BE49-F238E27FC236}">
                  <a16:creationId xmlns:a16="http://schemas.microsoft.com/office/drawing/2014/main" id="{BD963DFF-1C9C-4D17-BB1B-45D80042CB9E}"/>
                </a:ext>
              </a:extLst>
            </p:cNvPr>
            <p:cNvSpPr/>
            <p:nvPr/>
          </p:nvSpPr>
          <p:spPr>
            <a:xfrm>
              <a:off x="316179" y="6458418"/>
              <a:ext cx="254635" cy="254635"/>
            </a:xfrm>
            <a:custGeom>
              <a:avLst/>
              <a:gdLst/>
              <a:ahLst/>
              <a:cxnLst/>
              <a:rect l="l" t="t" r="r" b="b"/>
              <a:pathLst>
                <a:path w="254634" h="254634">
                  <a:moveTo>
                    <a:pt x="254419" y="0"/>
                  </a:moveTo>
                  <a:lnTo>
                    <a:pt x="126784" y="105625"/>
                  </a:lnTo>
                  <a:lnTo>
                    <a:pt x="0" y="25"/>
                  </a:lnTo>
                  <a:lnTo>
                    <a:pt x="0" y="254419"/>
                  </a:lnTo>
                  <a:lnTo>
                    <a:pt x="254419" y="254419"/>
                  </a:lnTo>
                  <a:lnTo>
                    <a:pt x="254419" y="0"/>
                  </a:lnTo>
                  <a:close/>
                </a:path>
              </a:pathLst>
            </a:custGeom>
            <a:solidFill>
              <a:schemeClr val="bg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362321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object 5">
            <a:extLst>
              <a:ext uri="{FF2B5EF4-FFF2-40B4-BE49-F238E27FC236}">
                <a16:creationId xmlns:a16="http://schemas.microsoft.com/office/drawing/2014/main" id="{B187C576-EF9A-D690-8A5C-00ACB0CA8005}"/>
              </a:ext>
            </a:extLst>
          </p:cNvPr>
          <p:cNvSpPr/>
          <p:nvPr/>
        </p:nvSpPr>
        <p:spPr>
          <a:xfrm>
            <a:off x="0" y="6320345"/>
            <a:ext cx="12193270" cy="537845"/>
          </a:xfrm>
          <a:custGeom>
            <a:avLst/>
            <a:gdLst/>
            <a:ahLst/>
            <a:cxnLst/>
            <a:rect l="l" t="t" r="r" b="b"/>
            <a:pathLst>
              <a:path w="12193270" h="537845">
                <a:moveTo>
                  <a:pt x="12193206" y="0"/>
                </a:moveTo>
                <a:lnTo>
                  <a:pt x="0" y="0"/>
                </a:lnTo>
                <a:lnTo>
                  <a:pt x="0" y="537654"/>
                </a:lnTo>
                <a:lnTo>
                  <a:pt x="12193206" y="537654"/>
                </a:lnTo>
                <a:lnTo>
                  <a:pt x="12193206" y="0"/>
                </a:lnTo>
                <a:close/>
              </a:path>
            </a:pathLst>
          </a:custGeom>
          <a:solidFill>
            <a:schemeClr val="tx2"/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D080629-0743-4B8D-004F-B54A043A3E3D}"/>
              </a:ext>
            </a:extLst>
          </p:cNvPr>
          <p:cNvSpPr>
            <a:spLocks noGrp="1"/>
          </p:cNvSpPr>
          <p:nvPr userDrawn="1">
            <p:ph type="sldNum" sz="quarter" idx="10"/>
          </p:nvPr>
        </p:nvSpPr>
        <p:spPr>
          <a:xfrm>
            <a:off x="11691143" y="6438899"/>
            <a:ext cx="269875" cy="25717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7CC3F808-C7E8-4131-9EFE-B613B7BC3B90}" type="slidenum">
              <a:rPr lang="en-GB" smtClean="0"/>
              <a:pPr/>
              <a:t>‹#›</a:t>
            </a:fld>
            <a:endParaRPr lang="en-GB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8DAD65CD-B03E-46D9-957C-1EAC5CFB3133}"/>
              </a:ext>
            </a:extLst>
          </p:cNvPr>
          <p:cNvGrpSpPr/>
          <p:nvPr userDrawn="1"/>
        </p:nvGrpSpPr>
        <p:grpSpPr>
          <a:xfrm>
            <a:off x="316179" y="6438899"/>
            <a:ext cx="2926714" cy="297053"/>
            <a:chOff x="316179" y="6438899"/>
            <a:chExt cx="2926714" cy="297053"/>
          </a:xfrm>
        </p:grpSpPr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72C14D30-76AE-49F2-AF99-A99DC4609D33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1032"/>
            <a:stretch/>
          </p:blipFill>
          <p:spPr>
            <a:xfrm>
              <a:off x="600074" y="6438899"/>
              <a:ext cx="2642819" cy="297053"/>
            </a:xfrm>
            <a:prstGeom prst="rect">
              <a:avLst/>
            </a:prstGeom>
          </p:spPr>
        </p:pic>
        <p:sp>
          <p:nvSpPr>
            <p:cNvPr id="13" name="object 6">
              <a:extLst>
                <a:ext uri="{FF2B5EF4-FFF2-40B4-BE49-F238E27FC236}">
                  <a16:creationId xmlns:a16="http://schemas.microsoft.com/office/drawing/2014/main" id="{5D139899-D8DB-4C65-9900-ACEB04004147}"/>
                </a:ext>
              </a:extLst>
            </p:cNvPr>
            <p:cNvSpPr/>
            <p:nvPr/>
          </p:nvSpPr>
          <p:spPr>
            <a:xfrm>
              <a:off x="316179" y="6458418"/>
              <a:ext cx="254635" cy="254635"/>
            </a:xfrm>
            <a:custGeom>
              <a:avLst/>
              <a:gdLst/>
              <a:ahLst/>
              <a:cxnLst/>
              <a:rect l="l" t="t" r="r" b="b"/>
              <a:pathLst>
                <a:path w="254634" h="254634">
                  <a:moveTo>
                    <a:pt x="254419" y="0"/>
                  </a:moveTo>
                  <a:lnTo>
                    <a:pt x="126784" y="105625"/>
                  </a:lnTo>
                  <a:lnTo>
                    <a:pt x="0" y="25"/>
                  </a:lnTo>
                  <a:lnTo>
                    <a:pt x="0" y="254419"/>
                  </a:lnTo>
                  <a:lnTo>
                    <a:pt x="254419" y="254419"/>
                  </a:lnTo>
                  <a:lnTo>
                    <a:pt x="254419" y="0"/>
                  </a:lnTo>
                  <a:close/>
                </a:path>
              </a:pathLst>
            </a:custGeom>
            <a:solidFill>
              <a:schemeClr val="bg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37979178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bg object 16">
            <a:extLst>
              <a:ext uri="{FF2B5EF4-FFF2-40B4-BE49-F238E27FC236}">
                <a16:creationId xmlns:a16="http://schemas.microsoft.com/office/drawing/2014/main" id="{2133F4BD-3A05-6BF0-9599-0623746B96D1}"/>
              </a:ext>
            </a:extLst>
          </p:cNvPr>
          <p:cNvSpPr/>
          <p:nvPr userDrawn="1"/>
        </p:nvSpPr>
        <p:spPr>
          <a:xfrm>
            <a:off x="0" y="68"/>
            <a:ext cx="12193270" cy="6858000"/>
          </a:xfrm>
          <a:custGeom>
            <a:avLst/>
            <a:gdLst/>
            <a:ahLst/>
            <a:cxnLst/>
            <a:rect l="l" t="t" r="r" b="b"/>
            <a:pathLst>
              <a:path w="12193270" h="6858000">
                <a:moveTo>
                  <a:pt x="12193206" y="0"/>
                </a:moveTo>
                <a:lnTo>
                  <a:pt x="0" y="0"/>
                </a:lnTo>
                <a:lnTo>
                  <a:pt x="0" y="258064"/>
                </a:lnTo>
                <a:lnTo>
                  <a:pt x="7924190" y="6857936"/>
                </a:lnTo>
                <a:lnTo>
                  <a:pt x="12193206" y="6857936"/>
                </a:lnTo>
                <a:lnTo>
                  <a:pt x="12193206" y="0"/>
                </a:lnTo>
                <a:close/>
              </a:path>
            </a:pathLst>
          </a:custGeom>
          <a:solidFill>
            <a:schemeClr val="tx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D761E9E-ED51-992F-D7E0-B9A9CFC550B3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794045" y="4241800"/>
            <a:ext cx="3396956" cy="1425250"/>
          </a:xfrm>
        </p:spPr>
        <p:txBody>
          <a:bodyPr anchor="b" anchorCtr="0"/>
          <a:lstStyle>
            <a:lvl1pPr algn="l">
              <a:lnSpc>
                <a:spcPts val="4200"/>
              </a:lnSpc>
              <a:defRPr sz="3600">
                <a:solidFill>
                  <a:schemeClr val="tx2"/>
                </a:solidFill>
              </a:defRPr>
            </a:lvl1pPr>
          </a:lstStyle>
          <a:p>
            <a:r>
              <a:rPr lang="en-GB" dirty="0"/>
              <a:t>Thank you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E7C25EF-3794-428C-B7F8-BF804CDF254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28355" y="504799"/>
            <a:ext cx="2054673" cy="975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85632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Title+Subhead+Text">
  <p:cSld name="3_Title+Subhead+Text">
    <p:bg>
      <p:bgPr>
        <a:solidFill>
          <a:schemeClr val="lt1">
            <a:alpha val="0"/>
          </a:schemeClr>
        </a:solidFill>
        <a:effectLst/>
      </p:bgPr>
    </p:bg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24"/>
          <p:cNvSpPr txBox="1">
            <a:spLocks noGrp="1"/>
          </p:cNvSpPr>
          <p:nvPr>
            <p:ph type="title"/>
          </p:nvPr>
        </p:nvSpPr>
        <p:spPr>
          <a:xfrm>
            <a:off x="652347" y="426248"/>
            <a:ext cx="10887309" cy="134159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rm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  <a:defRPr sz="400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24"/>
          <p:cNvSpPr txBox="1">
            <a:spLocks noGrp="1"/>
          </p:cNvSpPr>
          <p:nvPr>
            <p:ph type="body" idx="1"/>
          </p:nvPr>
        </p:nvSpPr>
        <p:spPr>
          <a:xfrm>
            <a:off x="652344" y="2476653"/>
            <a:ext cx="10887312" cy="38108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lt2"/>
              </a:buClr>
              <a:buSzPts val="2200"/>
              <a:buFont typeface="Arial"/>
              <a:buNone/>
              <a:defRPr sz="2200">
                <a:solidFill>
                  <a:schemeClr val="lt2"/>
                </a:solidFill>
              </a:defRPr>
            </a:lvl1pPr>
            <a:lvl2pPr marL="914400" lvl="1" indent="-3683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lt2"/>
              </a:buClr>
              <a:buSzPts val="2200"/>
              <a:buFont typeface="Arial"/>
              <a:buChar char="•"/>
              <a:defRPr sz="2200">
                <a:solidFill>
                  <a:schemeClr val="lt2"/>
                </a:solidFill>
              </a:defRPr>
            </a:lvl2pPr>
            <a:lvl3pPr marL="1371600" lvl="2" indent="-3683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lt2"/>
              </a:buClr>
              <a:buSzPts val="2200"/>
              <a:buFont typeface="Arial"/>
              <a:buChar char="•"/>
              <a:defRPr sz="2200">
                <a:solidFill>
                  <a:schemeClr val="lt2"/>
                </a:solidFill>
              </a:defRPr>
            </a:lvl3pPr>
            <a:lvl4pPr marL="1828800" lvl="3" indent="-3683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lt2"/>
              </a:buClr>
              <a:buSzPts val="2200"/>
              <a:buFont typeface="Arial"/>
              <a:buChar char="•"/>
              <a:defRPr sz="2200">
                <a:solidFill>
                  <a:schemeClr val="lt2"/>
                </a:solidFill>
              </a:defRPr>
            </a:lvl4pPr>
            <a:lvl5pPr marL="2286000" lvl="4" indent="-3683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lt2"/>
              </a:buClr>
              <a:buSzPts val="2200"/>
              <a:buFont typeface="Arial"/>
              <a:buChar char="•"/>
              <a:defRPr sz="2200">
                <a:solidFill>
                  <a:schemeClr val="lt2"/>
                </a:solidFill>
              </a:defRPr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6" name="Google Shape;26;p24"/>
          <p:cNvSpPr txBox="1">
            <a:spLocks noGrp="1"/>
          </p:cNvSpPr>
          <p:nvPr>
            <p:ph type="body" idx="2"/>
          </p:nvPr>
        </p:nvSpPr>
        <p:spPr>
          <a:xfrm>
            <a:off x="651519" y="1785116"/>
            <a:ext cx="10888963" cy="5658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2"/>
              </a:buClr>
              <a:buSzPts val="3000"/>
              <a:buNone/>
              <a:defRPr sz="3000" b="1">
                <a:solidFill>
                  <a:schemeClr val="lt2"/>
                </a:solidFill>
              </a:defRPr>
            </a:lvl1pPr>
            <a:lvl2pPr marL="914400" lvl="1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1800"/>
              <a:buChar char="»"/>
              <a:defRPr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7" name="Google Shape;27;p24"/>
          <p:cNvSpPr txBox="1">
            <a:spLocks noGrp="1"/>
          </p:cNvSpPr>
          <p:nvPr>
            <p:ph type="sldNum" idx="12"/>
          </p:nvPr>
        </p:nvSpPr>
        <p:spPr>
          <a:xfrm>
            <a:off x="11451187" y="6396610"/>
            <a:ext cx="740813" cy="3638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44093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904AF42-88AD-4FB0-CD35-33806BE7946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691143" y="6438899"/>
            <a:ext cx="269875" cy="25717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ctr">
              <a:defRPr sz="1200">
                <a:solidFill>
                  <a:schemeClr val="tx1"/>
                </a:solidFill>
              </a:defRPr>
            </a:lvl1pPr>
          </a:lstStyle>
          <a:p>
            <a:fld id="{7CC3F808-C7E8-4131-9EFE-B613B7BC3B90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E42BF69-49C3-FAD1-45E5-BF111E4C49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0574" y="736600"/>
            <a:ext cx="10596563" cy="7016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9E2E246-AA27-06D0-C7D1-3CF06C88413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90574" y="1759636"/>
            <a:ext cx="10596563" cy="3776889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3654881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6" r:id="rId2"/>
    <p:sldLayoutId id="2147483665" r:id="rId3"/>
    <p:sldLayoutId id="2147483650" r:id="rId4"/>
    <p:sldLayoutId id="2147483658" r:id="rId5"/>
    <p:sldLayoutId id="2147483659" r:id="rId6"/>
    <p:sldLayoutId id="2147483660" r:id="rId7"/>
    <p:sldLayoutId id="2147483661" r:id="rId8"/>
    <p:sldLayoutId id="2147483655" r:id="rId9"/>
    <p:sldLayoutId id="2147483664" r:id="rId10"/>
    <p:sldLayoutId id="2147483666" r:id="rId11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ftr="0" dt="0"/>
  <p:txStyles>
    <p:titleStyle>
      <a:lvl1pPr algn="l" defTabSz="914400" rtl="0" eaLnBrk="1" latinLnBrk="0" hangingPunct="1">
        <a:lnSpc>
          <a:spcPts val="4700"/>
        </a:lnSpc>
        <a:spcBef>
          <a:spcPct val="0"/>
        </a:spcBef>
        <a:buNone/>
        <a:defRPr sz="3200" b="1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1000"/>
        </a:spcBef>
        <a:buFont typeface="Arial" panose="020B0604020202020204" pitchFamily="34" charset="0"/>
        <a:buNone/>
        <a:defRPr sz="2000" kern="1200">
          <a:solidFill>
            <a:schemeClr val="tx2"/>
          </a:solidFill>
          <a:latin typeface="+mn-lt"/>
          <a:ea typeface="+mn-ea"/>
          <a:cs typeface="+mn-cs"/>
        </a:defRPr>
      </a:lvl1pPr>
      <a:lvl2pPr marL="374650" indent="-37465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2"/>
          </a:solidFill>
          <a:latin typeface="+mn-lt"/>
          <a:ea typeface="+mn-ea"/>
          <a:cs typeface="+mn-cs"/>
        </a:defRPr>
      </a:lvl2pPr>
      <a:lvl3pPr marL="628650" indent="-24765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2"/>
          </a:solidFill>
          <a:latin typeface="+mn-lt"/>
          <a:ea typeface="+mn-ea"/>
          <a:cs typeface="+mn-cs"/>
        </a:defRPr>
      </a:lvl3pPr>
      <a:lvl4pPr marL="898525" indent="-269875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2"/>
          </a:solidFill>
          <a:latin typeface="+mn-lt"/>
          <a:ea typeface="+mn-ea"/>
          <a:cs typeface="+mn-cs"/>
        </a:defRPr>
      </a:lvl4pPr>
      <a:lvl5pPr marL="1165225" indent="-2540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tabLst/>
        <a:defRPr sz="1400" kern="1200">
          <a:solidFill>
            <a:schemeClr val="tx2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  <p15:guide id="3" pos="506" userDrawn="1">
          <p15:clr>
            <a:srgbClr val="F26B43"/>
          </p15:clr>
        </p15:guide>
        <p15:guide id="4" pos="7173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9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EmilHvitfeldt/r-color-palettes" TargetMode="External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9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9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jokergoo/ComplexHeatmap" TargetMode="External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9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9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9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colorbrewer2.org/" TargetMode="External"/><Relationship Id="rId2" Type="http://schemas.openxmlformats.org/officeDocument/2006/relationships/hyperlink" Target="https://github.com/EmilHvitfeldt/r-color-palettes" TargetMode="External"/><Relationship Id="rId1" Type="http://schemas.openxmlformats.org/officeDocument/2006/relationships/slideLayout" Target="../slideLayouts/slideLayout9.xml"/><Relationship Id="rId6" Type="http://schemas.openxmlformats.org/officeDocument/2006/relationships/hyperlink" Target="https://rosalind.info/problems/locations/" TargetMode="External"/><Relationship Id="rId5" Type="http://schemas.openxmlformats.org/officeDocument/2006/relationships/hyperlink" Target="https://carriebrown.github.io/r-novice-gapminder/challenges/" TargetMode="External"/><Relationship Id="rId4" Type="http://schemas.openxmlformats.org/officeDocument/2006/relationships/hyperlink" Target="https://jokergoo.github.io/ComplexHeatmap-reference/book/" TargetMode="Externa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swirlstats.com/students.html" TargetMode="External"/><Relationship Id="rId7" Type="http://schemas.openxmlformats.org/officeDocument/2006/relationships/hyperlink" Target="https://rstudio.com/resources/cheatsheets/" TargetMode="External"/><Relationship Id="rId2" Type="http://schemas.openxmlformats.org/officeDocument/2006/relationships/hyperlink" Target="https://bookdown.org/rdpeng/rprogdatascience/" TargetMode="External"/><Relationship Id="rId1" Type="http://schemas.openxmlformats.org/officeDocument/2006/relationships/slideLayout" Target="../slideLayouts/slideLayout9.xml"/><Relationship Id="rId6" Type="http://schemas.openxmlformats.org/officeDocument/2006/relationships/hyperlink" Target="https://atrebas.github.io/post/2019-03-03-datatable-dplyr/" TargetMode="External"/><Relationship Id="rId5" Type="http://schemas.openxmlformats.org/officeDocument/2006/relationships/hyperlink" Target="https://cran.r-project.org/web/packages/data.table/vignettes/datatable-intro.html" TargetMode="External"/><Relationship Id="rId4" Type="http://schemas.openxmlformats.org/officeDocument/2006/relationships/hyperlink" Target="https://r4ds.had.co.nz/transform.html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7586F3-FD96-4B2E-9404-933DB064B0F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94044" y="2320033"/>
            <a:ext cx="10399473" cy="1786731"/>
          </a:xfrm>
        </p:spPr>
        <p:txBody>
          <a:bodyPr/>
          <a:lstStyle/>
          <a:p>
            <a:pPr>
              <a:lnSpc>
                <a:spcPct val="150000"/>
              </a:lnSpc>
            </a:pPr>
            <a:r>
              <a:rPr lang="en-GB" sz="4000" dirty="0"/>
              <a:t>Computational training</a:t>
            </a:r>
            <a:br>
              <a:rPr lang="en-GB" sz="4000" dirty="0"/>
            </a:br>
            <a:r>
              <a:rPr lang="en-US" sz="4000" dirty="0"/>
              <a:t>Data analysis and </a:t>
            </a:r>
            <a:r>
              <a:rPr lang="en-US" sz="4000" dirty="0" err="1"/>
              <a:t>visualisation</a:t>
            </a:r>
            <a:r>
              <a:rPr lang="en-US" sz="4000" dirty="0"/>
              <a:t> in R</a:t>
            </a:r>
            <a:br>
              <a:rPr lang="en-US" sz="4000" dirty="0"/>
            </a:br>
            <a:r>
              <a:rPr lang="en-US" sz="4000" dirty="0"/>
              <a:t>Extra - Heatmaps and </a:t>
            </a:r>
            <a:r>
              <a:rPr lang="en-US" sz="4000" dirty="0" err="1"/>
              <a:t>colours</a:t>
            </a:r>
            <a:endParaRPr lang="en-GB" sz="40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F072A71-9D48-48B4-9F02-5D51D93F02E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07/11/2025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EB1664B-680F-4D25-A8EF-F12D7904FA5A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794044" y="5344417"/>
            <a:ext cx="8864963" cy="370584"/>
          </a:xfrm>
        </p:spPr>
        <p:txBody>
          <a:bodyPr/>
          <a:lstStyle/>
          <a:p>
            <a:r>
              <a:rPr lang="en-GB" sz="2000" dirty="0"/>
              <a:t>Dr Irina Chelysheva, Senior Lecturer in </a:t>
            </a:r>
            <a:r>
              <a:rPr lang="en-GB" sz="2000"/>
              <a:t>Human Genomics</a:t>
            </a:r>
            <a:r>
              <a:rPr lang="ru-RU" sz="2000"/>
              <a:t> </a:t>
            </a:r>
            <a:endParaRPr lang="en-US" sz="2000" dirty="0"/>
          </a:p>
          <a:p>
            <a:r>
              <a:rPr lang="ru-RU" sz="2000" dirty="0"/>
              <a:t>(</a:t>
            </a:r>
            <a:r>
              <a:rPr lang="en-US" sz="2000" dirty="0"/>
              <a:t>acknowledgements: Dr </a:t>
            </a:r>
            <a:r>
              <a:rPr lang="en-GB" sz="2000" dirty="0"/>
              <a:t>Srinivasa Rao</a:t>
            </a:r>
            <a:r>
              <a:rPr lang="en-US" sz="2000" dirty="0"/>
              <a:t>)</a:t>
            </a:r>
            <a:endParaRPr lang="en-GB" sz="2000" dirty="0"/>
          </a:p>
        </p:txBody>
      </p:sp>
    </p:spTree>
    <p:extLst>
      <p:ext uri="{BB962C8B-B14F-4D97-AF65-F5344CB8AC3E}">
        <p14:creationId xmlns:p14="http://schemas.microsoft.com/office/powerpoint/2010/main" val="26555566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CustomShape 2"/>
          <p:cNvSpPr/>
          <p:nvPr/>
        </p:nvSpPr>
        <p:spPr>
          <a:xfrm>
            <a:off x="1491423" y="413133"/>
            <a:ext cx="3657960" cy="4894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82800" tIns="41400" rIns="82800" bIns="41400" anchor="ctr">
            <a:normAutofit/>
          </a:bodyPr>
          <a:lstStyle/>
          <a:p>
            <a:pPr marL="360">
              <a:spcBef>
                <a:spcPts val="320"/>
              </a:spcBef>
              <a:spcAft>
                <a:spcPts val="544"/>
              </a:spcAft>
              <a:buClr>
                <a:srgbClr val="000000"/>
              </a:buClr>
              <a:buSzPct val="80000"/>
            </a:pPr>
            <a:r>
              <a:rPr lang="en-US" sz="1600" b="1" spc="-1" dirty="0">
                <a:solidFill>
                  <a:srgbClr val="000000"/>
                </a:solidFill>
                <a:latin typeface="Calibri"/>
                <a:ea typeface="DejaVu Sans"/>
              </a:rPr>
              <a:t>Extra topic:</a:t>
            </a:r>
          </a:p>
          <a:p>
            <a:pPr marL="216000" indent="-215640">
              <a:spcBef>
                <a:spcPts val="320"/>
              </a:spcBef>
              <a:spcAft>
                <a:spcPts val="544"/>
              </a:spcAft>
              <a:buClr>
                <a:srgbClr val="000000"/>
              </a:buClr>
              <a:buSzPct val="80000"/>
              <a:buFont typeface="Wingdings 3" charset="2"/>
              <a:buChar char=""/>
            </a:pPr>
            <a:r>
              <a:rPr lang="en-US" sz="1600" b="1" spc="-1" dirty="0">
                <a:solidFill>
                  <a:srgbClr val="000000"/>
                </a:solidFill>
                <a:latin typeface="Calibri"/>
                <a:ea typeface="DejaVu Sans"/>
              </a:rPr>
              <a:t>Data </a:t>
            </a:r>
            <a:r>
              <a:rPr lang="en-US" sz="1600" b="1" spc="-1" dirty="0" err="1">
                <a:solidFill>
                  <a:srgbClr val="000000"/>
                </a:solidFill>
                <a:latin typeface="Calibri"/>
                <a:ea typeface="DejaVu Sans"/>
              </a:rPr>
              <a:t>Visualisation</a:t>
            </a:r>
            <a:endParaRPr lang="en-GB" sz="1600" spc="-1" dirty="0">
              <a:latin typeface="Arial"/>
            </a:endParaRPr>
          </a:p>
          <a:p>
            <a:pPr lvl="1" indent="-215640">
              <a:spcBef>
                <a:spcPts val="320"/>
              </a:spcBef>
              <a:spcAft>
                <a:spcPts val="544"/>
              </a:spcAft>
              <a:buClr>
                <a:srgbClr val="000000"/>
              </a:buClr>
              <a:buSzPct val="80000"/>
              <a:buFont typeface="Wingdings 3" charset="2"/>
              <a:buChar char=""/>
            </a:pPr>
            <a:r>
              <a:rPr lang="en-US" sz="1600" spc="-1" dirty="0" err="1">
                <a:solidFill>
                  <a:srgbClr val="000000"/>
                </a:solidFill>
                <a:latin typeface="Calibri"/>
                <a:ea typeface="DejaVu Sans"/>
              </a:rPr>
              <a:t>Colours</a:t>
            </a:r>
            <a:endParaRPr lang="en-GB" sz="1600" spc="-1" dirty="0">
              <a:latin typeface="Arial"/>
            </a:endParaRPr>
          </a:p>
          <a:p>
            <a:pPr lvl="1" indent="-215640">
              <a:spcBef>
                <a:spcPts val="320"/>
              </a:spcBef>
              <a:spcAft>
                <a:spcPts val="544"/>
              </a:spcAft>
              <a:buClr>
                <a:srgbClr val="000000"/>
              </a:buClr>
              <a:buSzPct val="80000"/>
              <a:buFont typeface="Wingdings 3" charset="2"/>
              <a:buChar char=""/>
            </a:pPr>
            <a:r>
              <a:rPr lang="en-US" sz="1600" spc="-1" dirty="0">
                <a:solidFill>
                  <a:srgbClr val="000000"/>
                </a:solidFill>
                <a:latin typeface="Calibri"/>
                <a:ea typeface="DejaVu Sans"/>
              </a:rPr>
              <a:t>Heatmaps</a:t>
            </a:r>
            <a:endParaRPr lang="en-GB" sz="1600" spc="-1" dirty="0">
              <a:latin typeface="Arial"/>
            </a:endParaRPr>
          </a:p>
          <a:p>
            <a:pPr lvl="1" indent="-215640">
              <a:spcBef>
                <a:spcPts val="320"/>
              </a:spcBef>
              <a:spcAft>
                <a:spcPts val="544"/>
              </a:spcAft>
              <a:buClr>
                <a:srgbClr val="000000"/>
              </a:buClr>
              <a:buSzPct val="80000"/>
              <a:buFont typeface="Wingdings 3" charset="2"/>
              <a:buChar char=""/>
            </a:pPr>
            <a:r>
              <a:rPr lang="en-US" sz="1600" spc="-1" dirty="0">
                <a:solidFill>
                  <a:srgbClr val="000000"/>
                </a:solidFill>
                <a:latin typeface="Calibri"/>
                <a:ea typeface="DejaVu Sans"/>
              </a:rPr>
              <a:t>PCA</a:t>
            </a:r>
            <a:endParaRPr lang="en-GB" sz="1600" spc="-1" dirty="0">
              <a:latin typeface="Arial"/>
            </a:endParaRPr>
          </a:p>
          <a:p>
            <a:pPr lvl="1" indent="-215640">
              <a:spcBef>
                <a:spcPts val="320"/>
              </a:spcBef>
              <a:spcAft>
                <a:spcPts val="544"/>
              </a:spcAft>
              <a:buClr>
                <a:srgbClr val="000000"/>
              </a:buClr>
              <a:buSzPct val="80000"/>
              <a:buFont typeface="Wingdings 3" charset="2"/>
              <a:buChar char=""/>
            </a:pPr>
            <a:r>
              <a:rPr lang="en-US" sz="1600" spc="-1" dirty="0" err="1">
                <a:solidFill>
                  <a:srgbClr val="000000"/>
                </a:solidFill>
                <a:latin typeface="Calibri"/>
                <a:ea typeface="DejaVu Sans"/>
              </a:rPr>
              <a:t>Plotly</a:t>
            </a:r>
            <a:endParaRPr lang="en-GB" sz="1600" spc="-1" dirty="0"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CustomShape 1"/>
          <p:cNvSpPr/>
          <p:nvPr/>
        </p:nvSpPr>
        <p:spPr>
          <a:xfrm>
            <a:off x="1981200" y="9360"/>
            <a:ext cx="8227800" cy="11437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GB" sz="4400" b="1" spc="-1">
                <a:solidFill>
                  <a:srgbClr val="000000"/>
                </a:solidFill>
                <a:latin typeface="Calibri"/>
                <a:ea typeface="DejaVu Sans"/>
              </a:rPr>
              <a:t>Colours in R</a:t>
            </a:r>
            <a:endParaRPr lang="en-GB" sz="4400" spc="-1">
              <a:latin typeface="Arial"/>
            </a:endParaRPr>
          </a:p>
        </p:txBody>
      </p:sp>
      <p:sp>
        <p:nvSpPr>
          <p:cNvPr id="205" name="CustomShape 2"/>
          <p:cNvSpPr/>
          <p:nvPr/>
        </p:nvSpPr>
        <p:spPr>
          <a:xfrm>
            <a:off x="1981200" y="1260720"/>
            <a:ext cx="8161920" cy="71136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>
            <a:normAutofit lnSpcReduction="10000"/>
          </a:bodyPr>
          <a:lstStyle/>
          <a:p>
            <a:pPr marL="343080" indent="-342000">
              <a:spcBef>
                <a:spcPts val="431"/>
              </a:spcBef>
              <a:buClr>
                <a:srgbClr val="000000"/>
              </a:buClr>
              <a:buFont typeface="Arial"/>
              <a:buChar char="•"/>
            </a:pPr>
            <a:r>
              <a:rPr lang="en-GB" sz="2150" spc="-1">
                <a:solidFill>
                  <a:srgbClr val="000000"/>
                </a:solidFill>
                <a:latin typeface="Calibri"/>
                <a:ea typeface="DejaVu Sans"/>
              </a:rPr>
              <a:t>Represented as named colours (e.g. “red”, “mediumspringgreen”) or hexadecimal code (e.g. “#FF0000FF”, “#00FA9AFF”)</a:t>
            </a:r>
            <a:endParaRPr lang="en-GB" sz="2150" spc="-1">
              <a:latin typeface="Arial"/>
            </a:endParaRPr>
          </a:p>
        </p:txBody>
      </p:sp>
      <p:pic>
        <p:nvPicPr>
          <p:cNvPr id="206" name="Picture 7"/>
          <p:cNvPicPr/>
          <p:nvPr/>
        </p:nvPicPr>
        <p:blipFill>
          <a:blip r:embed="rId2"/>
          <a:srcRect l="3301" t="2885" r="3106" b="2791"/>
          <a:stretch/>
        </p:blipFill>
        <p:spPr>
          <a:xfrm>
            <a:off x="1523640" y="1972800"/>
            <a:ext cx="9142920" cy="4884120"/>
          </a:xfrm>
          <a:prstGeom prst="rect">
            <a:avLst/>
          </a:prstGeom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7" name="Picture 2"/>
          <p:cNvPicPr/>
          <p:nvPr/>
        </p:nvPicPr>
        <p:blipFill>
          <a:blip r:embed="rId2"/>
          <a:srcRect l="3916" t="11003" r="6079" b="12622"/>
          <a:stretch/>
        </p:blipFill>
        <p:spPr>
          <a:xfrm>
            <a:off x="1652881" y="1064945"/>
            <a:ext cx="7394040" cy="5243040"/>
          </a:xfrm>
          <a:prstGeom prst="rect">
            <a:avLst/>
          </a:prstGeom>
          <a:ln>
            <a:noFill/>
          </a:ln>
        </p:spPr>
      </p:pic>
      <p:sp>
        <p:nvSpPr>
          <p:cNvPr id="208" name="CustomShape 1"/>
          <p:cNvSpPr/>
          <p:nvPr/>
        </p:nvSpPr>
        <p:spPr>
          <a:xfrm>
            <a:off x="1981200" y="9360"/>
            <a:ext cx="8227800" cy="11437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GB" sz="4400" b="1" spc="-1">
                <a:solidFill>
                  <a:srgbClr val="000000"/>
                </a:solidFill>
                <a:latin typeface="Calibri"/>
                <a:ea typeface="DejaVu Sans"/>
              </a:rPr>
              <a:t>Colours in R</a:t>
            </a:r>
            <a:endParaRPr lang="en-GB" sz="4400" spc="-1">
              <a:latin typeface="Arial"/>
            </a:endParaRPr>
          </a:p>
        </p:txBody>
      </p:sp>
      <p:sp>
        <p:nvSpPr>
          <p:cNvPr id="209" name="CustomShape 2"/>
          <p:cNvSpPr/>
          <p:nvPr/>
        </p:nvSpPr>
        <p:spPr>
          <a:xfrm>
            <a:off x="7303439" y="951120"/>
            <a:ext cx="4693929" cy="328356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>
            <a:normAutofit fontScale="97000"/>
          </a:bodyPr>
          <a:lstStyle/>
          <a:p>
            <a:pPr marL="343080" indent="-342000">
              <a:spcBef>
                <a:spcPts val="431"/>
              </a:spcBef>
              <a:buClr>
                <a:srgbClr val="000000"/>
              </a:buClr>
              <a:buFont typeface="Arial"/>
              <a:buChar char="•"/>
            </a:pPr>
            <a:r>
              <a:rPr lang="en-GB" sz="2000" spc="-1" dirty="0">
                <a:solidFill>
                  <a:srgbClr val="000000"/>
                </a:solidFill>
                <a:latin typeface="Calibri"/>
                <a:ea typeface="DejaVu Sans"/>
              </a:rPr>
              <a:t>Palettes – a set of colours that can be used together</a:t>
            </a:r>
            <a:endParaRPr lang="en-GB" sz="2000" spc="-1" dirty="0">
              <a:latin typeface="Arial"/>
            </a:endParaRPr>
          </a:p>
          <a:p>
            <a:pPr marL="343080" indent="-342000">
              <a:spcBef>
                <a:spcPts val="431"/>
              </a:spcBef>
              <a:buClr>
                <a:srgbClr val="000000"/>
              </a:buClr>
              <a:buFont typeface="Arial"/>
              <a:buChar char="•"/>
            </a:pPr>
            <a:r>
              <a:rPr lang="en-GB" sz="2000" spc="-1" dirty="0" err="1">
                <a:solidFill>
                  <a:srgbClr val="000000"/>
                </a:solidFill>
                <a:latin typeface="Calibri"/>
                <a:ea typeface="DejaVu Sans"/>
              </a:rPr>
              <a:t>RColorBrewer</a:t>
            </a:r>
            <a:r>
              <a:rPr lang="en-GB" sz="2000" spc="-1" dirty="0">
                <a:solidFill>
                  <a:srgbClr val="000000"/>
                </a:solidFill>
                <a:latin typeface="Calibri"/>
                <a:ea typeface="DejaVu Sans"/>
              </a:rPr>
              <a:t> package</a:t>
            </a:r>
            <a:endParaRPr lang="en-GB" sz="2000" spc="-1" dirty="0">
              <a:latin typeface="Arial"/>
            </a:endParaRPr>
          </a:p>
          <a:p>
            <a:pPr marL="743040" lvl="1" indent="-284760"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GB" spc="-1" dirty="0">
                <a:solidFill>
                  <a:srgbClr val="000000"/>
                </a:solidFill>
                <a:latin typeface="Calibri"/>
                <a:ea typeface="DejaVu Sans"/>
              </a:rPr>
              <a:t>Sequential</a:t>
            </a:r>
            <a:endParaRPr lang="en-GB" spc="-1" dirty="0">
              <a:latin typeface="Arial"/>
            </a:endParaRPr>
          </a:p>
          <a:p>
            <a:pPr marL="743040" lvl="1" indent="-284760"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GB" spc="-1" dirty="0">
                <a:solidFill>
                  <a:srgbClr val="000000"/>
                </a:solidFill>
                <a:latin typeface="Calibri"/>
                <a:ea typeface="DejaVu Sans"/>
              </a:rPr>
              <a:t>Qualitative</a:t>
            </a:r>
            <a:endParaRPr lang="en-GB" spc="-1" dirty="0">
              <a:latin typeface="Arial"/>
            </a:endParaRPr>
          </a:p>
          <a:p>
            <a:pPr marL="743040" lvl="1" indent="-284760"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GB" spc="-1" dirty="0">
                <a:solidFill>
                  <a:srgbClr val="000000"/>
                </a:solidFill>
                <a:latin typeface="Calibri"/>
                <a:ea typeface="DejaVu Sans"/>
              </a:rPr>
              <a:t>Diverging</a:t>
            </a:r>
            <a:endParaRPr lang="en-GB" spc="-1" dirty="0">
              <a:latin typeface="Arial"/>
            </a:endParaRPr>
          </a:p>
          <a:p>
            <a:pPr marL="343080" indent="-342000">
              <a:spcBef>
                <a:spcPts val="431"/>
              </a:spcBef>
              <a:buClr>
                <a:srgbClr val="000000"/>
              </a:buClr>
              <a:buFont typeface="Arial"/>
              <a:buChar char="•"/>
            </a:pPr>
            <a:r>
              <a:rPr lang="en-GB" sz="2000" u="sng" spc="-1" dirty="0">
                <a:solidFill>
                  <a:srgbClr val="0000FF"/>
                </a:solidFill>
                <a:latin typeface="Calibri"/>
                <a:ea typeface="DejaVu Sans"/>
                <a:hlinkClick r:id="rId3"/>
              </a:rPr>
              <a:t>https://github.com/EmilHvitfeldt/r-color-palettes</a:t>
            </a:r>
            <a:r>
              <a:rPr lang="en-GB" sz="2000" spc="-1" dirty="0">
                <a:solidFill>
                  <a:srgbClr val="000000"/>
                </a:solidFill>
                <a:latin typeface="Calibri"/>
                <a:ea typeface="DejaVu Sans"/>
              </a:rPr>
              <a:t> for a huge list of palettes and the packages they come in</a:t>
            </a:r>
            <a:endParaRPr lang="en-GB" sz="2000" spc="-1" dirty="0"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CustomShape 1"/>
          <p:cNvSpPr/>
          <p:nvPr/>
        </p:nvSpPr>
        <p:spPr>
          <a:xfrm>
            <a:off x="1981200" y="360"/>
            <a:ext cx="8227800" cy="11437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GB" sz="4400" b="1" spc="-1">
                <a:solidFill>
                  <a:srgbClr val="000000"/>
                </a:solidFill>
                <a:latin typeface="Calibri"/>
                <a:ea typeface="DejaVu Sans"/>
              </a:rPr>
              <a:t>Heatmaps</a:t>
            </a:r>
            <a:endParaRPr lang="en-GB" sz="4400" spc="-1">
              <a:latin typeface="Arial"/>
            </a:endParaRPr>
          </a:p>
        </p:txBody>
      </p:sp>
      <p:sp>
        <p:nvSpPr>
          <p:cNvPr id="211" name="CustomShape 2"/>
          <p:cNvSpPr/>
          <p:nvPr/>
        </p:nvSpPr>
        <p:spPr>
          <a:xfrm>
            <a:off x="1981200" y="838490"/>
            <a:ext cx="8161920" cy="100296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>
            <a:normAutofit lnSpcReduction="10000"/>
          </a:bodyPr>
          <a:lstStyle/>
          <a:p>
            <a:pPr marL="343080" indent="-342000">
              <a:spcBef>
                <a:spcPts val="431"/>
              </a:spcBef>
              <a:buClr>
                <a:srgbClr val="000000"/>
              </a:buClr>
              <a:buFont typeface="Arial"/>
              <a:buChar char="•"/>
            </a:pPr>
            <a:r>
              <a:rPr lang="en-GB" sz="2150" spc="-1">
                <a:solidFill>
                  <a:srgbClr val="000000"/>
                </a:solidFill>
                <a:latin typeface="Calibri"/>
                <a:ea typeface="DejaVu Sans"/>
              </a:rPr>
              <a:t>Useful for displaying multidimensional data</a:t>
            </a:r>
            <a:endParaRPr lang="en-GB" sz="2150" spc="-1">
              <a:latin typeface="Arial"/>
            </a:endParaRPr>
          </a:p>
          <a:p>
            <a:pPr marL="743040" lvl="1" indent="-284760">
              <a:spcBef>
                <a:spcPts val="340"/>
              </a:spcBef>
              <a:buClr>
                <a:srgbClr val="000000"/>
              </a:buClr>
              <a:buFont typeface="Arial"/>
              <a:buChar char="–"/>
            </a:pPr>
            <a:r>
              <a:rPr lang="en-GB" sz="1700" spc="-1">
                <a:solidFill>
                  <a:srgbClr val="000000"/>
                </a:solidFill>
                <a:latin typeface="Calibri"/>
                <a:ea typeface="DejaVu Sans"/>
              </a:rPr>
              <a:t>A number of parameters</a:t>
            </a:r>
            <a:endParaRPr lang="en-GB" sz="1700" spc="-1">
              <a:latin typeface="Arial"/>
            </a:endParaRPr>
          </a:p>
          <a:p>
            <a:pPr marL="743040" lvl="1" indent="-284760">
              <a:spcBef>
                <a:spcPts val="340"/>
              </a:spcBef>
              <a:buClr>
                <a:srgbClr val="000000"/>
              </a:buClr>
              <a:buFont typeface="Arial"/>
              <a:buChar char="–"/>
            </a:pPr>
            <a:r>
              <a:rPr lang="en-GB" sz="1700" spc="-1">
                <a:solidFill>
                  <a:srgbClr val="000000"/>
                </a:solidFill>
                <a:latin typeface="Courier New"/>
                <a:ea typeface="DejaVu Sans"/>
              </a:rPr>
              <a:t>heatmap.2()</a:t>
            </a:r>
            <a:r>
              <a:rPr lang="en-GB" sz="1700" spc="-1">
                <a:solidFill>
                  <a:srgbClr val="000000"/>
                </a:solidFill>
                <a:latin typeface="Calibri"/>
                <a:ea typeface="DejaVu Sans"/>
              </a:rPr>
              <a:t> function from the gplots package</a:t>
            </a:r>
            <a:endParaRPr lang="en-GB" sz="1700" spc="-1">
              <a:latin typeface="Arial"/>
            </a:endParaRPr>
          </a:p>
          <a:p>
            <a:pPr>
              <a:spcBef>
                <a:spcPts val="269"/>
              </a:spcBef>
            </a:pPr>
            <a:endParaRPr lang="en-GB" sz="1700" spc="-1">
              <a:latin typeface="Arial"/>
            </a:endParaRPr>
          </a:p>
          <a:p>
            <a:pPr>
              <a:spcBef>
                <a:spcPts val="349"/>
              </a:spcBef>
            </a:pPr>
            <a:endParaRPr lang="en-GB" sz="1700" spc="-1">
              <a:latin typeface="Arial"/>
            </a:endParaRPr>
          </a:p>
        </p:txBody>
      </p:sp>
      <p:pic>
        <p:nvPicPr>
          <p:cNvPr id="212" name="Picture 7"/>
          <p:cNvPicPr/>
          <p:nvPr/>
        </p:nvPicPr>
        <p:blipFill>
          <a:blip r:embed="rId2"/>
          <a:stretch/>
        </p:blipFill>
        <p:spPr>
          <a:xfrm>
            <a:off x="5807280" y="1895090"/>
            <a:ext cx="4007160" cy="4362120"/>
          </a:xfrm>
          <a:prstGeom prst="rect">
            <a:avLst/>
          </a:prstGeom>
          <a:ln>
            <a:noFill/>
          </a:ln>
        </p:spPr>
      </p:pic>
      <p:sp>
        <p:nvSpPr>
          <p:cNvPr id="213" name="CustomShape 3"/>
          <p:cNvSpPr/>
          <p:nvPr/>
        </p:nvSpPr>
        <p:spPr>
          <a:xfrm>
            <a:off x="5838600" y="3049250"/>
            <a:ext cx="3416760" cy="212040"/>
          </a:xfrm>
          <a:prstGeom prst="rect">
            <a:avLst/>
          </a:prstGeom>
          <a:noFill/>
          <a:ln>
            <a:round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214" name="CustomShape 4"/>
          <p:cNvSpPr/>
          <p:nvPr/>
        </p:nvSpPr>
        <p:spPr>
          <a:xfrm>
            <a:off x="5838600" y="1895090"/>
            <a:ext cx="3416760" cy="1153080"/>
          </a:xfrm>
          <a:prstGeom prst="rect">
            <a:avLst/>
          </a:prstGeom>
          <a:noFill/>
          <a:ln>
            <a:round/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215" name="CustomShape 5"/>
          <p:cNvSpPr/>
          <p:nvPr/>
        </p:nvSpPr>
        <p:spPr>
          <a:xfrm>
            <a:off x="5838600" y="6045170"/>
            <a:ext cx="3416760" cy="212040"/>
          </a:xfrm>
          <a:prstGeom prst="rect">
            <a:avLst/>
          </a:prstGeom>
          <a:noFill/>
          <a:ln>
            <a:solidFill>
              <a:srgbClr val="00B0F0"/>
            </a:solidFill>
            <a:round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216" name="CustomShape 6"/>
          <p:cNvSpPr/>
          <p:nvPr/>
        </p:nvSpPr>
        <p:spPr>
          <a:xfrm>
            <a:off x="9256440" y="3262010"/>
            <a:ext cx="589320" cy="2782080"/>
          </a:xfrm>
          <a:prstGeom prst="rect">
            <a:avLst/>
          </a:prstGeom>
          <a:noFill/>
          <a:ln>
            <a:solidFill>
              <a:srgbClr val="C00000"/>
            </a:solidFill>
            <a:round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217" name="CustomShape 7"/>
          <p:cNvSpPr/>
          <p:nvPr/>
        </p:nvSpPr>
        <p:spPr>
          <a:xfrm>
            <a:off x="8814720" y="1895090"/>
            <a:ext cx="1031040" cy="886680"/>
          </a:xfrm>
          <a:prstGeom prst="rect">
            <a:avLst/>
          </a:prstGeom>
          <a:noFill/>
          <a:ln>
            <a:solidFill>
              <a:srgbClr val="FFC000"/>
            </a:solidFill>
            <a:round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218" name="CustomShape 8"/>
          <p:cNvSpPr/>
          <p:nvPr/>
        </p:nvSpPr>
        <p:spPr>
          <a:xfrm>
            <a:off x="1981200" y="2772770"/>
            <a:ext cx="2337120" cy="367878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GB" spc="-1">
                <a:solidFill>
                  <a:srgbClr val="000000"/>
                </a:solidFill>
                <a:latin typeface="Calibri"/>
                <a:ea typeface="DejaVu Sans"/>
              </a:rPr>
              <a:t>Additional annotation</a:t>
            </a:r>
            <a:endParaRPr lang="en-GB" spc="-1">
              <a:latin typeface="Arial"/>
            </a:endParaRPr>
          </a:p>
        </p:txBody>
      </p:sp>
      <p:sp>
        <p:nvSpPr>
          <p:cNvPr id="219" name="CustomShape 9"/>
          <p:cNvSpPr/>
          <p:nvPr/>
        </p:nvSpPr>
        <p:spPr>
          <a:xfrm>
            <a:off x="2926560" y="5888930"/>
            <a:ext cx="1982880" cy="367878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GB" spc="-1">
                <a:solidFill>
                  <a:srgbClr val="000000"/>
                </a:solidFill>
                <a:latin typeface="Calibri"/>
                <a:ea typeface="DejaVu Sans"/>
              </a:rPr>
              <a:t>Column annotation</a:t>
            </a:r>
            <a:endParaRPr lang="en-GB" spc="-1">
              <a:latin typeface="Arial"/>
            </a:endParaRPr>
          </a:p>
        </p:txBody>
      </p:sp>
      <p:sp>
        <p:nvSpPr>
          <p:cNvPr id="220" name="CustomShape 10"/>
          <p:cNvSpPr/>
          <p:nvPr/>
        </p:nvSpPr>
        <p:spPr>
          <a:xfrm>
            <a:off x="4812600" y="4284410"/>
            <a:ext cx="918360" cy="367878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GB" spc="-1">
                <a:solidFill>
                  <a:srgbClr val="000000"/>
                </a:solidFill>
                <a:latin typeface="Calibri"/>
                <a:ea typeface="DejaVu Sans"/>
              </a:rPr>
              <a:t>Colours</a:t>
            </a:r>
            <a:endParaRPr lang="en-GB" spc="-1">
              <a:latin typeface="Arial"/>
            </a:endParaRPr>
          </a:p>
        </p:txBody>
      </p:sp>
      <p:sp>
        <p:nvSpPr>
          <p:cNvPr id="221" name="CustomShape 11"/>
          <p:cNvSpPr/>
          <p:nvPr/>
        </p:nvSpPr>
        <p:spPr>
          <a:xfrm>
            <a:off x="2079840" y="2057090"/>
            <a:ext cx="2337120" cy="367878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GB" spc="-1">
                <a:solidFill>
                  <a:srgbClr val="000000"/>
                </a:solidFill>
                <a:latin typeface="Calibri"/>
                <a:ea typeface="DejaVu Sans"/>
              </a:rPr>
              <a:t>Hierarchical clustering</a:t>
            </a:r>
            <a:endParaRPr lang="en-GB" spc="-1">
              <a:latin typeface="Arial"/>
            </a:endParaRPr>
          </a:p>
        </p:txBody>
      </p:sp>
      <p:sp>
        <p:nvSpPr>
          <p:cNvPr id="222" name="CustomShape 12"/>
          <p:cNvSpPr/>
          <p:nvPr/>
        </p:nvSpPr>
        <p:spPr>
          <a:xfrm>
            <a:off x="8990040" y="1230890"/>
            <a:ext cx="1153080" cy="367878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GB" spc="-1">
                <a:solidFill>
                  <a:srgbClr val="000000"/>
                </a:solidFill>
                <a:latin typeface="Calibri"/>
                <a:ea typeface="DejaVu Sans"/>
              </a:rPr>
              <a:t>Legend</a:t>
            </a:r>
            <a:endParaRPr lang="en-GB" spc="-1">
              <a:latin typeface="Arial"/>
            </a:endParaRPr>
          </a:p>
        </p:txBody>
      </p:sp>
      <p:sp>
        <p:nvSpPr>
          <p:cNvPr id="223" name="CustomShape 13"/>
          <p:cNvSpPr/>
          <p:nvPr/>
        </p:nvSpPr>
        <p:spPr>
          <a:xfrm>
            <a:off x="2926560" y="5159210"/>
            <a:ext cx="1884960" cy="367878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GB" spc="-1">
                <a:solidFill>
                  <a:srgbClr val="000000"/>
                </a:solidFill>
                <a:latin typeface="Calibri"/>
                <a:ea typeface="DejaVu Sans"/>
              </a:rPr>
              <a:t>Row annotation</a:t>
            </a:r>
            <a:endParaRPr lang="en-GB" spc="-1">
              <a:latin typeface="Arial"/>
            </a:endParaRPr>
          </a:p>
        </p:txBody>
      </p:sp>
      <p:sp>
        <p:nvSpPr>
          <p:cNvPr id="224" name="CustomShape 14"/>
          <p:cNvSpPr/>
          <p:nvPr/>
        </p:nvSpPr>
        <p:spPr>
          <a:xfrm flipH="1" flipV="1">
            <a:off x="4317960" y="2956010"/>
            <a:ext cx="1518120" cy="19692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>
            <a:round/>
            <a:tailEnd type="triangle" w="med" len="med"/>
          </a:ln>
          <a:effectLst>
            <a:outerShdw blurRad="40000" dist="20160" dir="5400000" rotWithShape="0">
              <a:srgbClr val="000000">
                <a:alpha val="38000"/>
              </a:srgbClr>
            </a:outerShdw>
          </a:effectLst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225" name="CustomShape 15"/>
          <p:cNvSpPr/>
          <p:nvPr/>
        </p:nvSpPr>
        <p:spPr>
          <a:xfrm flipH="1" flipV="1">
            <a:off x="5730600" y="4467650"/>
            <a:ext cx="1233000" cy="13788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>
            <a:round/>
            <a:tailEnd type="triangle" w="med" len="med"/>
          </a:ln>
          <a:effectLst>
            <a:outerShdw blurRad="40000" dist="20160" dir="5400000" rotWithShape="0">
              <a:srgbClr val="000000">
                <a:alpha val="38000"/>
              </a:srgbClr>
            </a:outerShdw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226" name="CustomShape 16"/>
          <p:cNvSpPr/>
          <p:nvPr/>
        </p:nvSpPr>
        <p:spPr>
          <a:xfrm flipH="1" flipV="1">
            <a:off x="4416600" y="2240330"/>
            <a:ext cx="1419480" cy="22932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>
            <a:round/>
            <a:tailEnd type="triangle" w="med" len="med"/>
          </a:ln>
          <a:effectLst>
            <a:outerShdw blurRad="40000" dist="20160" dir="5400000" rotWithShape="0">
              <a:srgbClr val="000000">
                <a:alpha val="38000"/>
              </a:srgbClr>
            </a:outerShdw>
          </a:effectLst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227" name="CustomShape 17"/>
          <p:cNvSpPr/>
          <p:nvPr/>
        </p:nvSpPr>
        <p:spPr>
          <a:xfrm flipV="1">
            <a:off x="9330960" y="1599530"/>
            <a:ext cx="235440" cy="29376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>
            <a:round/>
            <a:tailEnd type="triangle" w="med" len="med"/>
          </a:ln>
          <a:effectLst>
            <a:outerShdw blurRad="40000" dist="20160" dir="5400000" rotWithShape="0">
              <a:srgbClr val="000000">
                <a:alpha val="38000"/>
              </a:srgbClr>
            </a:outerShdw>
          </a:effectLst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228" name="CustomShape 18"/>
          <p:cNvSpPr/>
          <p:nvPr/>
        </p:nvSpPr>
        <p:spPr>
          <a:xfrm flipH="1">
            <a:off x="4811160" y="4653770"/>
            <a:ext cx="4442760" cy="68904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>
            <a:round/>
            <a:tailEnd type="triangle" w="med" len="med"/>
          </a:ln>
          <a:effectLst>
            <a:outerShdw blurRad="40000" dist="20160" dir="5400000" rotWithShape="0">
              <a:srgbClr val="000000">
                <a:alpha val="38000"/>
              </a:srgbClr>
            </a:outerShdw>
          </a:effectLst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229" name="CustomShape 19"/>
          <p:cNvSpPr/>
          <p:nvPr/>
        </p:nvSpPr>
        <p:spPr>
          <a:xfrm flipH="1" flipV="1">
            <a:off x="4910160" y="6072890"/>
            <a:ext cx="926640" cy="7704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>
            <a:round/>
            <a:tailEnd type="triangle" w="med" len="med"/>
          </a:ln>
          <a:effectLst>
            <a:outerShdw blurRad="40000" dist="20160" dir="5400000" rotWithShape="0">
              <a:srgbClr val="000000">
                <a:alpha val="38000"/>
              </a:srgbClr>
            </a:outerShdw>
          </a:effectLst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/>
        </p:style>
        <p:txBody>
          <a:bodyPr/>
          <a:lstStyle/>
          <a:p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CustomShape 1"/>
          <p:cNvSpPr/>
          <p:nvPr/>
        </p:nvSpPr>
        <p:spPr>
          <a:xfrm>
            <a:off x="1981200" y="360"/>
            <a:ext cx="8227800" cy="11437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GB" sz="4400" b="1" spc="-1">
                <a:solidFill>
                  <a:srgbClr val="000000"/>
                </a:solidFill>
                <a:latin typeface="Calibri"/>
                <a:ea typeface="DejaVu Sans"/>
              </a:rPr>
              <a:t>A lot of information can be conveyed!</a:t>
            </a:r>
            <a:endParaRPr lang="en-GB" sz="4400" spc="-1">
              <a:latin typeface="Arial"/>
            </a:endParaRPr>
          </a:p>
        </p:txBody>
      </p:sp>
      <p:pic>
        <p:nvPicPr>
          <p:cNvPr id="231" name="Picture 2"/>
          <p:cNvPicPr/>
          <p:nvPr/>
        </p:nvPicPr>
        <p:blipFill>
          <a:blip r:embed="rId2"/>
          <a:stretch/>
        </p:blipFill>
        <p:spPr>
          <a:xfrm>
            <a:off x="2357610" y="1275840"/>
            <a:ext cx="5863470" cy="5014791"/>
          </a:xfrm>
          <a:prstGeom prst="rect">
            <a:avLst/>
          </a:prstGeom>
          <a:ln>
            <a:noFill/>
          </a:ln>
        </p:spPr>
      </p:pic>
      <p:sp>
        <p:nvSpPr>
          <p:cNvPr id="232" name="CustomShape 2"/>
          <p:cNvSpPr/>
          <p:nvPr/>
        </p:nvSpPr>
        <p:spPr>
          <a:xfrm>
            <a:off x="8361802" y="5958602"/>
            <a:ext cx="3649175" cy="306323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>
              <a:lnSpc>
                <a:spcPct val="100000"/>
              </a:lnSpc>
            </a:pPr>
            <a:r>
              <a:rPr lang="en-GB" sz="1400" u="sng" spc="-1" dirty="0">
                <a:solidFill>
                  <a:srgbClr val="0000FF"/>
                </a:solidFill>
                <a:latin typeface="Calibri"/>
                <a:ea typeface="DejaVu Sans"/>
                <a:hlinkClick r:id="rId3"/>
              </a:rPr>
              <a:t>https://github.com/jokergoo/ComplexHeatmap</a:t>
            </a:r>
            <a:r>
              <a:rPr lang="en-GB" sz="1400" spc="-1" dirty="0">
                <a:solidFill>
                  <a:srgbClr val="000000"/>
                </a:solidFill>
                <a:latin typeface="Calibri"/>
                <a:ea typeface="DejaVu Sans"/>
              </a:rPr>
              <a:t> </a:t>
            </a:r>
            <a:endParaRPr lang="en-GB" sz="1400" spc="-1" dirty="0">
              <a:latin typeface="Arial"/>
            </a:endParaRPr>
          </a:p>
        </p:txBody>
      </p:sp>
      <p:sp>
        <p:nvSpPr>
          <p:cNvPr id="233" name="CustomShape 3"/>
          <p:cNvSpPr/>
          <p:nvPr/>
        </p:nvSpPr>
        <p:spPr>
          <a:xfrm>
            <a:off x="8222159" y="1091880"/>
            <a:ext cx="3521821" cy="390528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>
            <a:normAutofit/>
          </a:bodyPr>
          <a:lstStyle/>
          <a:p>
            <a:pPr marL="343080" indent="-342000">
              <a:spcBef>
                <a:spcPts val="431"/>
              </a:spcBef>
              <a:buClr>
                <a:srgbClr val="000000"/>
              </a:buClr>
              <a:buFont typeface="Arial"/>
              <a:buChar char="•"/>
            </a:pPr>
            <a:r>
              <a:rPr lang="en-GB" sz="2150" spc="-1" dirty="0">
                <a:solidFill>
                  <a:srgbClr val="000000"/>
                </a:solidFill>
                <a:latin typeface="Calibri"/>
                <a:ea typeface="DejaVu Sans"/>
              </a:rPr>
              <a:t>A more complicated example with the Complex Heatmap package</a:t>
            </a:r>
            <a:endParaRPr lang="en-GB" sz="2150" spc="-1" dirty="0">
              <a:latin typeface="Arial"/>
            </a:endParaRPr>
          </a:p>
          <a:p>
            <a:pPr>
              <a:spcBef>
                <a:spcPts val="269"/>
              </a:spcBef>
            </a:pPr>
            <a:endParaRPr lang="en-GB" sz="2150" spc="-1" dirty="0">
              <a:latin typeface="Arial"/>
            </a:endParaRPr>
          </a:p>
          <a:p>
            <a:pPr>
              <a:spcBef>
                <a:spcPts val="349"/>
              </a:spcBef>
            </a:pPr>
            <a:endParaRPr lang="en-GB" sz="2150" spc="-1" dirty="0"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CustomShape 1"/>
          <p:cNvSpPr/>
          <p:nvPr/>
        </p:nvSpPr>
        <p:spPr>
          <a:xfrm>
            <a:off x="2238652" y="0"/>
            <a:ext cx="8227800" cy="11437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90000"/>
              </a:lnSpc>
            </a:pPr>
            <a:r>
              <a:rPr lang="en-US" sz="4400" spc="-1" dirty="0">
                <a:solidFill>
                  <a:srgbClr val="000000"/>
                </a:solidFill>
                <a:latin typeface="Arial"/>
                <a:ea typeface="DejaVu Sans"/>
              </a:rPr>
              <a:t>Principal Component Analysis</a:t>
            </a:r>
            <a:endParaRPr lang="en-GB" sz="4400" spc="-1" dirty="0">
              <a:latin typeface="Arial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5214D30-4290-4D1D-B327-EE3425B245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88553" y="1964964"/>
            <a:ext cx="4921785" cy="2894505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4E1F50E1-DE63-43D2-ACAD-7277587E1AEF}"/>
              </a:ext>
            </a:extLst>
          </p:cNvPr>
          <p:cNvSpPr txBox="1"/>
          <p:nvPr/>
        </p:nvSpPr>
        <p:spPr>
          <a:xfrm>
            <a:off x="4249446" y="6086282"/>
            <a:ext cx="621700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1200" dirty="0"/>
              <a:t>https://builtin.com/data-science/step-step-explanation-principal-component-analysis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6EFB2A7-0C58-4273-9CE3-35433E6B01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82296" y="1958030"/>
            <a:ext cx="3321153" cy="2771413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DEE2ADB1-C29E-4D50-852F-883668F91491}"/>
              </a:ext>
            </a:extLst>
          </p:cNvPr>
          <p:cNvSpPr txBox="1"/>
          <p:nvPr/>
        </p:nvSpPr>
        <p:spPr>
          <a:xfrm>
            <a:off x="7082296" y="1331651"/>
            <a:ext cx="332115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How many components should you consider?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CustomShape 1"/>
          <p:cNvSpPr/>
          <p:nvPr/>
        </p:nvSpPr>
        <p:spPr>
          <a:xfrm>
            <a:off x="1524000" y="0"/>
            <a:ext cx="8534400" cy="60051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243" name="CustomShape 2"/>
          <p:cNvSpPr/>
          <p:nvPr/>
        </p:nvSpPr>
        <p:spPr>
          <a:xfrm>
            <a:off x="2436960" y="2222640"/>
            <a:ext cx="3518640" cy="241128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>
            <a:normAutofit/>
          </a:bodyPr>
          <a:lstStyle/>
          <a:p>
            <a:pPr>
              <a:lnSpc>
                <a:spcPct val="90000"/>
              </a:lnSpc>
              <a:spcAft>
                <a:spcPts val="601"/>
              </a:spcAft>
              <a:tabLst>
                <a:tab pos="0" algn="l"/>
              </a:tabLst>
            </a:pPr>
            <a:r>
              <a:rPr lang="en-US" sz="5400" b="1" spc="-1" dirty="0">
                <a:solidFill>
                  <a:srgbClr val="000000"/>
                </a:solidFill>
                <a:latin typeface="Calibri"/>
                <a:ea typeface="DejaVu Sans"/>
              </a:rPr>
              <a:t>Let’s explore practically</a:t>
            </a:r>
            <a:endParaRPr lang="en-GB" sz="5400" spc="-1" dirty="0">
              <a:latin typeface="Arial"/>
            </a:endParaRPr>
          </a:p>
          <a:p>
            <a:pPr>
              <a:lnSpc>
                <a:spcPct val="90000"/>
              </a:lnSpc>
              <a:spcAft>
                <a:spcPts val="601"/>
              </a:spcAft>
              <a:tabLst>
                <a:tab pos="0" algn="l"/>
              </a:tabLst>
            </a:pPr>
            <a:endParaRPr lang="en-GB" sz="5400" spc="-1" dirty="0">
              <a:latin typeface="Arial"/>
            </a:endParaRPr>
          </a:p>
        </p:txBody>
      </p:sp>
      <p:sp>
        <p:nvSpPr>
          <p:cNvPr id="244" name="CustomShape 3"/>
          <p:cNvSpPr/>
          <p:nvPr/>
        </p:nvSpPr>
        <p:spPr>
          <a:xfrm>
            <a:off x="5656800" y="851400"/>
            <a:ext cx="4637520" cy="5153760"/>
          </a:xfrm>
          <a:custGeom>
            <a:avLst/>
            <a:gdLst/>
            <a:ahLst/>
            <a:cxnLst/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1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4"/>
                  <a:pt x="2445216" y="109244"/>
                </a:cubicBezTo>
                <a:cubicBezTo>
                  <a:pt x="1625714" y="109244"/>
                  <a:pt x="1625714" y="109244"/>
                  <a:pt x="1625714" y="109244"/>
                </a:cubicBezTo>
                <a:cubicBezTo>
                  <a:pt x="1572615" y="109244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8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1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245" name="Graphic 5_1" descr="Cmd Terminal outline"/>
          <p:cNvPicPr/>
          <p:nvPr/>
        </p:nvPicPr>
        <p:blipFill>
          <a:blip r:embed="rId2"/>
          <a:stretch/>
        </p:blipFill>
        <p:spPr>
          <a:xfrm>
            <a:off x="7008960" y="2341080"/>
            <a:ext cx="2562639" cy="2404334"/>
          </a:xfrm>
          <a:prstGeom prst="rect">
            <a:avLst/>
          </a:prstGeom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CustomShape 1"/>
          <p:cNvSpPr/>
          <p:nvPr/>
        </p:nvSpPr>
        <p:spPr>
          <a:xfrm>
            <a:off x="1981200" y="684000"/>
            <a:ext cx="8227800" cy="11437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GB" sz="4400" b="1" spc="-1">
                <a:solidFill>
                  <a:srgbClr val="000000"/>
                </a:solidFill>
                <a:latin typeface="Calibri"/>
                <a:ea typeface="DejaVu Sans"/>
              </a:rPr>
              <a:t>Useful references</a:t>
            </a:r>
            <a:endParaRPr lang="en-GB" sz="4400" spc="-1">
              <a:latin typeface="Arial"/>
            </a:endParaRPr>
          </a:p>
        </p:txBody>
      </p:sp>
      <p:sp>
        <p:nvSpPr>
          <p:cNvPr id="247" name="CustomShape 2"/>
          <p:cNvSpPr/>
          <p:nvPr/>
        </p:nvSpPr>
        <p:spPr>
          <a:xfrm>
            <a:off x="1981200" y="2034720"/>
            <a:ext cx="8227800" cy="424980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>
            <a:normAutofit/>
          </a:bodyPr>
          <a:lstStyle/>
          <a:p>
            <a:pPr marL="343080" indent="-342000">
              <a:spcBef>
                <a:spcPts val="437"/>
              </a:spcBef>
              <a:buClr>
                <a:srgbClr val="000000"/>
              </a:buClr>
              <a:buFont typeface="Arial"/>
              <a:buChar char="•"/>
            </a:pPr>
            <a:r>
              <a:rPr lang="en-GB" sz="2180" u="sng" spc="-1" dirty="0">
                <a:solidFill>
                  <a:srgbClr val="0000FF"/>
                </a:solidFill>
                <a:latin typeface="Calibri"/>
                <a:ea typeface="DejaVu Sans"/>
                <a:hlinkClick r:id="rId2"/>
              </a:rPr>
              <a:t>https://github.com/EmilHvitfeldt/r-color-palettes</a:t>
            </a:r>
            <a:r>
              <a:rPr lang="en-GB" sz="2180" spc="-1" dirty="0">
                <a:solidFill>
                  <a:srgbClr val="000000"/>
                </a:solidFill>
                <a:latin typeface="Calibri"/>
                <a:ea typeface="DejaVu Sans"/>
              </a:rPr>
              <a:t> - a huge list of R palettes</a:t>
            </a:r>
            <a:endParaRPr lang="en-GB" sz="2180" spc="-1" dirty="0">
              <a:latin typeface="Arial"/>
            </a:endParaRPr>
          </a:p>
          <a:p>
            <a:pPr marL="343080" indent="-342000">
              <a:spcBef>
                <a:spcPts val="437"/>
              </a:spcBef>
              <a:buClr>
                <a:srgbClr val="000000"/>
              </a:buClr>
              <a:buFont typeface="Arial"/>
              <a:buChar char="•"/>
            </a:pPr>
            <a:r>
              <a:rPr lang="en-GB" sz="2180" u="sng" spc="-1" dirty="0">
                <a:solidFill>
                  <a:srgbClr val="0000FF"/>
                </a:solidFill>
                <a:latin typeface="Calibri"/>
                <a:ea typeface="DejaVu Sans"/>
                <a:hlinkClick r:id="rId3"/>
              </a:rPr>
              <a:t>https://colorbrewer2.org/</a:t>
            </a:r>
            <a:r>
              <a:rPr lang="en-GB" sz="2180" spc="-1" dirty="0">
                <a:solidFill>
                  <a:srgbClr val="000000"/>
                </a:solidFill>
                <a:latin typeface="Calibri"/>
                <a:ea typeface="DejaVu Sans"/>
              </a:rPr>
              <a:t> - </a:t>
            </a:r>
            <a:r>
              <a:rPr lang="en-GB" sz="2180" spc="-1" dirty="0" err="1">
                <a:solidFill>
                  <a:srgbClr val="000000"/>
                </a:solidFill>
                <a:latin typeface="Calibri"/>
                <a:ea typeface="DejaVu Sans"/>
              </a:rPr>
              <a:t>RColorBrewer</a:t>
            </a:r>
            <a:r>
              <a:rPr lang="en-GB" sz="2180" spc="-1" dirty="0">
                <a:solidFill>
                  <a:srgbClr val="000000"/>
                </a:solidFill>
                <a:latin typeface="Calibri"/>
                <a:ea typeface="DejaVu Sans"/>
              </a:rPr>
              <a:t> package based on this tool by Cynthia Brewer</a:t>
            </a:r>
            <a:endParaRPr lang="en-GB" sz="2180" spc="-1" dirty="0">
              <a:latin typeface="Arial"/>
            </a:endParaRPr>
          </a:p>
          <a:p>
            <a:pPr marL="343080" indent="-342000">
              <a:spcBef>
                <a:spcPts val="437"/>
              </a:spcBef>
              <a:buClr>
                <a:srgbClr val="000000"/>
              </a:buClr>
              <a:buFont typeface="Arial"/>
              <a:buChar char="•"/>
            </a:pPr>
            <a:r>
              <a:rPr lang="en-GB" sz="2180" u="sng" spc="-1" dirty="0">
                <a:solidFill>
                  <a:srgbClr val="0000FF"/>
                </a:solidFill>
                <a:latin typeface="Calibri"/>
                <a:ea typeface="DejaVu Sans"/>
                <a:hlinkClick r:id="rId4"/>
              </a:rPr>
              <a:t>https://jokergoo.github.io/ComplexHeatmap-reference/book/</a:t>
            </a:r>
            <a:r>
              <a:rPr lang="en-GB" sz="2180" spc="-1" dirty="0">
                <a:solidFill>
                  <a:srgbClr val="000000"/>
                </a:solidFill>
                <a:latin typeface="Calibri"/>
                <a:ea typeface="DejaVu Sans"/>
              </a:rPr>
              <a:t> - R package to produce Complex Heatmaps</a:t>
            </a:r>
          </a:p>
          <a:p>
            <a:pPr marL="343080" indent="-342000">
              <a:spcBef>
                <a:spcPts val="437"/>
              </a:spcBef>
              <a:buClr>
                <a:srgbClr val="000000"/>
              </a:buClr>
              <a:buFont typeface="Arial"/>
              <a:buChar char="•"/>
            </a:pPr>
            <a:r>
              <a:rPr lang="en-GB" sz="2180" spc="-1" dirty="0">
                <a:latin typeface="Arial"/>
                <a:hlinkClick r:id="rId5"/>
              </a:rPr>
              <a:t>https://carriebrown.github.io/r-novice-gapminder/challenges/</a:t>
            </a:r>
            <a:r>
              <a:rPr lang="en-GB" sz="2180" spc="-1" dirty="0">
                <a:solidFill>
                  <a:srgbClr val="000000"/>
                </a:solidFill>
                <a:latin typeface="Calibri"/>
              </a:rPr>
              <a:t> - R challenges</a:t>
            </a:r>
          </a:p>
          <a:p>
            <a:pPr marL="343080" indent="-342000">
              <a:spcBef>
                <a:spcPts val="437"/>
              </a:spcBef>
              <a:buClr>
                <a:srgbClr val="000000"/>
              </a:buClr>
              <a:buFont typeface="Arial"/>
              <a:buChar char="•"/>
            </a:pPr>
            <a:r>
              <a:rPr lang="en-GB" sz="2180" spc="-1" dirty="0">
                <a:latin typeface="Arial"/>
                <a:hlinkClick r:id="rId6"/>
              </a:rPr>
              <a:t>https://rosalind.info/problems/locations/</a:t>
            </a:r>
            <a:r>
              <a:rPr lang="en-GB" sz="2180" spc="-1" dirty="0">
                <a:solidFill>
                  <a:srgbClr val="000000"/>
                </a:solidFill>
                <a:latin typeface="Calibri"/>
              </a:rPr>
              <a:t> - biological programming and algorithmic challenges (mainly geared towards python, but can be solved using R </a:t>
            </a:r>
            <a:r>
              <a:rPr lang="en-GB" sz="2180" spc="-1">
                <a:solidFill>
                  <a:srgbClr val="000000"/>
                </a:solidFill>
                <a:latin typeface="Calibri"/>
              </a:rPr>
              <a:t>as well)</a:t>
            </a:r>
            <a:endParaRPr lang="en-GB" sz="2180" spc="-1" dirty="0"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" name="CustomShape 1"/>
          <p:cNvSpPr/>
          <p:nvPr/>
        </p:nvSpPr>
        <p:spPr>
          <a:xfrm>
            <a:off x="1981200" y="684000"/>
            <a:ext cx="8227800" cy="11437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GB" sz="3200" b="1" spc="-1" dirty="0">
                <a:solidFill>
                  <a:schemeClr val="tx2"/>
                </a:solidFill>
                <a:latin typeface="+mj-lt"/>
                <a:ea typeface="DejaVu Sans"/>
              </a:rPr>
              <a:t>Useful references</a:t>
            </a:r>
            <a:endParaRPr lang="en-GB" sz="3200" spc="-1" dirty="0">
              <a:solidFill>
                <a:schemeClr val="tx2"/>
              </a:solidFill>
              <a:latin typeface="+mj-lt"/>
            </a:endParaRPr>
          </a:p>
        </p:txBody>
      </p:sp>
      <p:sp>
        <p:nvSpPr>
          <p:cNvPr id="389" name="CustomShape 2"/>
          <p:cNvSpPr/>
          <p:nvPr/>
        </p:nvSpPr>
        <p:spPr>
          <a:xfrm>
            <a:off x="1981200" y="2034720"/>
            <a:ext cx="8227800" cy="424980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>
            <a:normAutofit/>
          </a:bodyPr>
          <a:lstStyle/>
          <a:p>
            <a:pPr marL="343080" indent="-342000">
              <a:spcBef>
                <a:spcPts val="437"/>
              </a:spcBef>
              <a:buClr>
                <a:srgbClr val="000000"/>
              </a:buClr>
              <a:buFont typeface="Arial"/>
              <a:buChar char="•"/>
            </a:pPr>
            <a:r>
              <a:rPr lang="en-GB" sz="2180" u="sng" spc="-1" dirty="0">
                <a:solidFill>
                  <a:srgbClr val="0000FF"/>
                </a:solidFill>
                <a:ea typeface="DejaVu Sans"/>
                <a:hlinkClick r:id="rId2"/>
              </a:rPr>
              <a:t>R Programming for Data Science (Roger Peng)</a:t>
            </a:r>
            <a:r>
              <a:rPr lang="en-GB" sz="2180" spc="-1" dirty="0">
                <a:solidFill>
                  <a:srgbClr val="000000"/>
                </a:solidFill>
                <a:ea typeface="DejaVu Sans"/>
              </a:rPr>
              <a:t> – Ch. 3, 4, 5, 9</a:t>
            </a:r>
            <a:endParaRPr lang="en-GB" sz="2180" spc="-1" dirty="0"/>
          </a:p>
          <a:p>
            <a:pPr marL="343080" indent="-342000">
              <a:spcBef>
                <a:spcPts val="437"/>
              </a:spcBef>
              <a:buClr>
                <a:srgbClr val="000000"/>
              </a:buClr>
              <a:buFont typeface="Arial"/>
              <a:buChar char="•"/>
            </a:pPr>
            <a:r>
              <a:rPr lang="en-GB" sz="2180" u="sng" spc="-1" dirty="0">
                <a:solidFill>
                  <a:srgbClr val="0000FF"/>
                </a:solidFill>
                <a:ea typeface="DejaVu Sans"/>
                <a:hlinkClick r:id="rId3"/>
              </a:rPr>
              <a:t>Swirl</a:t>
            </a:r>
            <a:r>
              <a:rPr lang="en-GB" sz="2180" spc="-1" dirty="0">
                <a:solidFill>
                  <a:srgbClr val="000000"/>
                </a:solidFill>
                <a:ea typeface="DejaVu Sans"/>
              </a:rPr>
              <a:t> – Interactive learning</a:t>
            </a:r>
            <a:endParaRPr lang="en-GB" sz="2180" spc="-1" dirty="0"/>
          </a:p>
          <a:p>
            <a:pPr marL="343080" indent="-342000">
              <a:spcBef>
                <a:spcPts val="437"/>
              </a:spcBef>
              <a:buClr>
                <a:srgbClr val="000000"/>
              </a:buClr>
              <a:buFont typeface="Arial"/>
              <a:buChar char="•"/>
            </a:pPr>
            <a:r>
              <a:rPr lang="en-GB" sz="2180" u="sng" spc="-1" dirty="0">
                <a:solidFill>
                  <a:srgbClr val="0000FF"/>
                </a:solidFill>
                <a:ea typeface="DejaVu Sans"/>
                <a:hlinkClick r:id="rId4"/>
              </a:rPr>
              <a:t>R for Data Science (Hadley Wickham)</a:t>
            </a:r>
            <a:r>
              <a:rPr lang="en-GB" sz="2180" spc="-1" dirty="0">
                <a:solidFill>
                  <a:srgbClr val="000000"/>
                </a:solidFill>
                <a:ea typeface="DejaVu Sans"/>
              </a:rPr>
              <a:t> – Using </a:t>
            </a:r>
            <a:r>
              <a:rPr lang="en-GB" sz="2180" spc="-1" dirty="0" err="1">
                <a:solidFill>
                  <a:srgbClr val="000000"/>
                </a:solidFill>
                <a:ea typeface="DejaVu Sans"/>
              </a:rPr>
              <a:t>Dplyr</a:t>
            </a:r>
            <a:r>
              <a:rPr lang="en-GB" sz="2180" spc="-1" dirty="0">
                <a:solidFill>
                  <a:srgbClr val="000000"/>
                </a:solidFill>
                <a:ea typeface="DejaVu Sans"/>
              </a:rPr>
              <a:t> verbs</a:t>
            </a:r>
            <a:endParaRPr lang="en-GB" sz="2180" spc="-1" dirty="0"/>
          </a:p>
          <a:p>
            <a:pPr marL="343080" indent="-342000">
              <a:spcBef>
                <a:spcPts val="431"/>
              </a:spcBef>
              <a:buClr>
                <a:srgbClr val="000000"/>
              </a:buClr>
              <a:buFont typeface="Arial"/>
              <a:buChar char="•"/>
            </a:pPr>
            <a:r>
              <a:rPr lang="en-GB" sz="2150" u="sng" spc="-1" dirty="0">
                <a:solidFill>
                  <a:srgbClr val="0000FF"/>
                </a:solidFill>
                <a:ea typeface="DejaVu Sans"/>
                <a:hlinkClick r:id="rId5"/>
              </a:rPr>
              <a:t>The data.table package</a:t>
            </a:r>
            <a:r>
              <a:rPr lang="en-GB" sz="2150" spc="-1" dirty="0">
                <a:solidFill>
                  <a:srgbClr val="000000"/>
                </a:solidFill>
                <a:ea typeface="DejaVu Sans"/>
              </a:rPr>
              <a:t> – Intro</a:t>
            </a:r>
            <a:endParaRPr lang="en-GB" sz="2150" spc="-1" dirty="0"/>
          </a:p>
          <a:p>
            <a:pPr marL="343080" indent="-342000">
              <a:spcBef>
                <a:spcPts val="431"/>
              </a:spcBef>
              <a:buClr>
                <a:srgbClr val="000000"/>
              </a:buClr>
              <a:buFont typeface="Arial"/>
              <a:buChar char="•"/>
            </a:pPr>
            <a:r>
              <a:rPr lang="en-GB" sz="2150" u="sng" spc="-1" dirty="0">
                <a:solidFill>
                  <a:srgbClr val="0000FF"/>
                </a:solidFill>
                <a:ea typeface="DejaVu Sans"/>
                <a:hlinkClick r:id="rId6"/>
              </a:rPr>
              <a:t>A data.table and Dplyr tour</a:t>
            </a:r>
            <a:r>
              <a:rPr lang="en-GB" sz="2150" spc="-1" dirty="0">
                <a:solidFill>
                  <a:srgbClr val="000000"/>
                </a:solidFill>
                <a:ea typeface="DejaVu Sans"/>
              </a:rPr>
              <a:t> – Side by side comparison of functions</a:t>
            </a:r>
            <a:endParaRPr lang="en-GB" sz="2150" spc="-1" dirty="0"/>
          </a:p>
          <a:p>
            <a:pPr marL="343080" indent="-342000">
              <a:spcBef>
                <a:spcPts val="431"/>
              </a:spcBef>
              <a:buClr>
                <a:srgbClr val="000000"/>
              </a:buClr>
              <a:buFont typeface="Arial"/>
              <a:buChar char="•"/>
            </a:pPr>
            <a:r>
              <a:rPr lang="en-GB" sz="2150" u="sng" spc="-1" dirty="0">
                <a:solidFill>
                  <a:srgbClr val="0000FF"/>
                </a:solidFill>
                <a:ea typeface="DejaVu Sans"/>
                <a:hlinkClick r:id="rId7"/>
              </a:rPr>
              <a:t>Cheatsheets</a:t>
            </a:r>
            <a:r>
              <a:rPr lang="en-GB" sz="2150" spc="-1" dirty="0">
                <a:solidFill>
                  <a:srgbClr val="000000"/>
                </a:solidFill>
                <a:ea typeface="DejaVu Sans"/>
              </a:rPr>
              <a:t> – quick reference for tasks like data wrangling, visualisation, and several packages</a:t>
            </a:r>
            <a:endParaRPr lang="en-GB" sz="2150" spc="-1" dirty="0"/>
          </a:p>
          <a:p>
            <a:pPr marL="150480">
              <a:spcBef>
                <a:spcPts val="437"/>
              </a:spcBef>
              <a:tabLst>
                <a:tab pos="0" algn="l"/>
              </a:tabLst>
            </a:pPr>
            <a:endParaRPr lang="en-GB" sz="2150" spc="-1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NDM Theme">
  <a:themeElements>
    <a:clrScheme name="NDM">
      <a:dk1>
        <a:srgbClr val="000000"/>
      </a:dk1>
      <a:lt1>
        <a:sysClr val="window" lastClr="FFFFFF"/>
      </a:lt1>
      <a:dk2>
        <a:srgbClr val="002147"/>
      </a:dk2>
      <a:lt2>
        <a:srgbClr val="D4D4D2"/>
      </a:lt2>
      <a:accent1>
        <a:srgbClr val="158045"/>
      </a:accent1>
      <a:accent2>
        <a:srgbClr val="CDD940"/>
      </a:accent2>
      <a:accent3>
        <a:srgbClr val="A4BE4D"/>
      </a:accent3>
      <a:accent4>
        <a:srgbClr val="5D9E4D"/>
      </a:accent4>
      <a:accent5>
        <a:srgbClr val="F0E542"/>
      </a:accent5>
      <a:accent6>
        <a:srgbClr val="EB5F17"/>
      </a:accent6>
      <a:hlink>
        <a:srgbClr val="3382CD"/>
      </a:hlink>
      <a:folHlink>
        <a:srgbClr val="C548EC"/>
      </a:folHlink>
    </a:clrScheme>
    <a:fontScheme name="NDM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NDM_PPT_template_MASTER" id="{D1C27AE8-2CED-4EF7-9174-5B5125D06FDC}" vid="{ACA32C27-257B-47F4-8E2D-B169706B6317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1ab369c5-a05c-461f-99e1-15ed0fecd0da" xsi:nil="true"/>
    <lcf76f155ced4ddcb4097134ff3c332f xmlns="e600375e-0dac-43ee-9114-dcd03922427f">
      <Terms xmlns="http://schemas.microsoft.com/office/infopath/2007/PartnerControls"/>
    </lcf76f155ced4ddcb4097134ff3c332f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18BA350413EDD947A3F6ACC23D1F4FFB" ma:contentTypeVersion="9" ma:contentTypeDescription="Create a new document." ma:contentTypeScope="" ma:versionID="dbde6584570009b297ca43877451a763">
  <xsd:schema xmlns:xsd="http://www.w3.org/2001/XMLSchema" xmlns:xs="http://www.w3.org/2001/XMLSchema" xmlns:p="http://schemas.microsoft.com/office/2006/metadata/properties" xmlns:ns2="e600375e-0dac-43ee-9114-dcd03922427f" xmlns:ns3="1ab369c5-a05c-461f-99e1-15ed0fecd0da" targetNamespace="http://schemas.microsoft.com/office/2006/metadata/properties" ma:root="true" ma:fieldsID="6866cbd6de072e12cd40cfee6eb974aa" ns2:_="" ns3:_="">
    <xsd:import namespace="e600375e-0dac-43ee-9114-dcd03922427f"/>
    <xsd:import namespace="1ab369c5-a05c-461f-99e1-15ed0fecd0da"/>
    <xsd:element name="properties">
      <xsd:complexType>
        <xsd:sequence>
          <xsd:element name="documentManagement">
            <xsd:complexType>
              <xsd:all>
                <xsd:element ref="ns2:lcf76f155ced4ddcb4097134ff3c332f" minOccurs="0"/>
                <xsd:element ref="ns3:TaxCatchAll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600375e-0dac-43ee-9114-dcd03922427f" elementFormDefault="qualified">
    <xsd:import namespace="http://schemas.microsoft.com/office/2006/documentManagement/types"/>
    <xsd:import namespace="http://schemas.microsoft.com/office/infopath/2007/PartnerControls"/>
    <xsd:element name="lcf76f155ced4ddcb4097134ff3c332f" ma:index="9" nillable="true" ma:taxonomy="true" ma:internalName="lcf76f155ced4ddcb4097134ff3c332f" ma:taxonomyFieldName="MediaServiceImageTags" ma:displayName="Image Tags" ma:readOnly="false" ma:fieldId="{5cf76f15-5ced-4ddc-b409-7134ff3c332f}" ma:taxonomyMulti="true" ma:sspId="1eeb44a9-b924-44d0-8ed9-f8b504a4bac6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Metadata" ma:index="11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2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3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6" nillable="true" ma:displayName="MediaServiceDateTaken" ma:hidden="true" ma:indexed="true" ma:internalName="MediaServiceDateTake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ab369c5-a05c-461f-99e1-15ed0fecd0da" elementFormDefault="qualified">
    <xsd:import namespace="http://schemas.microsoft.com/office/2006/documentManagement/types"/>
    <xsd:import namespace="http://schemas.microsoft.com/office/infopath/2007/PartnerControls"/>
    <xsd:element name="TaxCatchAll" ma:index="10" nillable="true" ma:displayName="Taxonomy Catch All Column" ma:hidden="true" ma:list="{55138652-fb3e-4668-bcab-d4198cefc52f}" ma:internalName="TaxCatchAll" ma:showField="CatchAllData" ma:web="1ab369c5-a05c-461f-99e1-15ed0fecd0da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41F4F2C3-A33F-483B-9069-9B84E43D30DE}">
  <ds:schemaRefs>
    <ds:schemaRef ds:uri="http://www.w3.org/XML/1998/namespace"/>
    <ds:schemaRef ds:uri="1ab369c5-a05c-461f-99e1-15ed0fecd0da"/>
    <ds:schemaRef ds:uri="http://purl.org/dc/dcmitype/"/>
    <ds:schemaRef ds:uri="http://schemas.openxmlformats.org/package/2006/metadata/core-properties"/>
    <ds:schemaRef ds:uri="http://purl.org/dc/elements/1.1/"/>
    <ds:schemaRef ds:uri="http://purl.org/dc/terms/"/>
    <ds:schemaRef ds:uri="http://schemas.microsoft.com/office/2006/documentManagement/types"/>
    <ds:schemaRef ds:uri="e600375e-0dac-43ee-9114-dcd03922427f"/>
    <ds:schemaRef ds:uri="http://schemas.microsoft.com/office/infopath/2007/PartnerControls"/>
    <ds:schemaRef ds:uri="http://schemas.microsoft.com/office/2006/metadata/properties"/>
  </ds:schemaRefs>
</ds:datastoreItem>
</file>

<file path=customXml/itemProps2.xml><?xml version="1.0" encoding="utf-8"?>
<ds:datastoreItem xmlns:ds="http://schemas.openxmlformats.org/officeDocument/2006/customXml" ds:itemID="{255FEB74-942C-4E71-8EA7-895D37962E45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e600375e-0dac-43ee-9114-dcd03922427f"/>
    <ds:schemaRef ds:uri="1ab369c5-a05c-461f-99e1-15ed0fecd0da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4847941D-A3F1-499B-B823-FB3DDE34278B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NDM_PPT_template_V1</Template>
  <TotalTime>10916</TotalTime>
  <Words>362</Words>
  <Application>Microsoft Macintosh PowerPoint</Application>
  <PresentationFormat>Widescreen</PresentationFormat>
  <Paragraphs>49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6" baseType="lpstr">
      <vt:lpstr>Arial</vt:lpstr>
      <vt:lpstr>Calibri</vt:lpstr>
      <vt:lpstr>Courier New</vt:lpstr>
      <vt:lpstr>DejaVu Sans</vt:lpstr>
      <vt:lpstr>Wingdings 3</vt:lpstr>
      <vt:lpstr>NDM Theme</vt:lpstr>
      <vt:lpstr>Computational training Data analysis and visualisation in R Extra - Heatmaps and colours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Flex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Helen Lockstone</dc:creator>
  <cp:lastModifiedBy>Irina Chelysheva</cp:lastModifiedBy>
  <cp:revision>138</cp:revision>
  <cp:lastPrinted>2023-03-22T10:23:18Z</cp:lastPrinted>
  <dcterms:created xsi:type="dcterms:W3CDTF">2023-09-30T14:44:32Z</dcterms:created>
  <dcterms:modified xsi:type="dcterms:W3CDTF">2025-11-06T14:17:00Z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0x01010018BA350413EDD947A3F6ACC23D1F4FFB</vt:lpwstr>
  </property>
</Properties>
</file>