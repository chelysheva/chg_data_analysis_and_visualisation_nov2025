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94" r:id="rId5"/>
    <p:sldId id="257" r:id="rId6"/>
    <p:sldId id="258" r:id="rId7"/>
    <p:sldId id="25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80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8" r:id="rId24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9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3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147"/>
    <a:srgbClr val="D4D4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43" autoAdjust="0"/>
    <p:restoredTop sz="94950"/>
  </p:normalViewPr>
  <p:slideViewPr>
    <p:cSldViewPr snapToGrid="0" showGuides="1">
      <p:cViewPr varScale="1">
        <p:scale>
          <a:sx n="116" d="100"/>
          <a:sy n="116" d="100"/>
        </p:scale>
        <p:origin x="472" y="176"/>
      </p:cViewPr>
      <p:guideLst>
        <p:guide orient="horz" pos="1139"/>
        <p:guide pos="3840"/>
        <p:guide orient="horz" pos="236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628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0AA94-B4D6-4599-8A68-C78733F5DE89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42BE68-9E55-41F8-B614-1CED6B294F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11580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A8EF2C-F38B-4955-816B-A73D6586B690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C86E21-9429-470D-BC18-1A647D356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3209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2">
            <a:extLst>
              <a:ext uri="{FF2B5EF4-FFF2-40B4-BE49-F238E27FC236}">
                <a16:creationId xmlns:a16="http://schemas.microsoft.com/office/drawing/2014/main" id="{836D9CEB-3676-24AC-694C-A0744925C634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" y="12"/>
            <a:ext cx="12192393" cy="68579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61E9E-ED51-992F-D7E0-B9A9CFC550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4044" y="2320033"/>
            <a:ext cx="7705725" cy="1786731"/>
          </a:xfrm>
        </p:spPr>
        <p:txBody>
          <a:bodyPr anchor="b"/>
          <a:lstStyle>
            <a:lvl1pPr algn="l">
              <a:lnSpc>
                <a:spcPts val="6250"/>
              </a:lnSpc>
              <a:defRPr sz="49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B4C36A-DF60-9B29-34E4-41C2FAC12B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4044" y="4490242"/>
            <a:ext cx="7705725" cy="47228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Subtitle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058EC2E-4C9F-5404-3640-0C65E4031B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4044" y="5344417"/>
            <a:ext cx="7705725" cy="37058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 dirty="0"/>
              <a:t>Presenter and/or date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A8D99D0-08E8-DACD-7022-00D90D05BFA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663" y="614622"/>
            <a:ext cx="2054673" cy="97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941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g object 16">
            <a:extLst>
              <a:ext uri="{FF2B5EF4-FFF2-40B4-BE49-F238E27FC236}">
                <a16:creationId xmlns:a16="http://schemas.microsoft.com/office/drawing/2014/main" id="{2133F4BD-3A05-6BF0-9599-0623746B96D1}"/>
              </a:ext>
            </a:extLst>
          </p:cNvPr>
          <p:cNvSpPr/>
          <p:nvPr userDrawn="1"/>
        </p:nvSpPr>
        <p:spPr>
          <a:xfrm>
            <a:off x="0" y="68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206" y="0"/>
                </a:moveTo>
                <a:lnTo>
                  <a:pt x="0" y="0"/>
                </a:lnTo>
                <a:lnTo>
                  <a:pt x="0" y="258064"/>
                </a:lnTo>
                <a:lnTo>
                  <a:pt x="7924190" y="6857936"/>
                </a:lnTo>
                <a:lnTo>
                  <a:pt x="12193206" y="6857936"/>
                </a:lnTo>
                <a:lnTo>
                  <a:pt x="12193206" y="0"/>
                </a:lnTo>
                <a:close/>
              </a:path>
            </a:pathLst>
          </a:custGeom>
          <a:solidFill>
            <a:srgbClr val="092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61E9E-ED51-992F-D7E0-B9A9CFC550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4045" y="4313933"/>
            <a:ext cx="3854155" cy="1786731"/>
          </a:xfrm>
        </p:spPr>
        <p:txBody>
          <a:bodyPr anchor="t" anchorCtr="0"/>
          <a:lstStyle>
            <a:lvl1pPr algn="l">
              <a:lnSpc>
                <a:spcPts val="47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23097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g object 16">
            <a:extLst>
              <a:ext uri="{FF2B5EF4-FFF2-40B4-BE49-F238E27FC236}">
                <a16:creationId xmlns:a16="http://schemas.microsoft.com/office/drawing/2014/main" id="{2133F4BD-3A05-6BF0-9599-0623746B96D1}"/>
              </a:ext>
            </a:extLst>
          </p:cNvPr>
          <p:cNvSpPr/>
          <p:nvPr userDrawn="1"/>
        </p:nvSpPr>
        <p:spPr>
          <a:xfrm flipH="1">
            <a:off x="0" y="68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206" y="0"/>
                </a:moveTo>
                <a:lnTo>
                  <a:pt x="0" y="0"/>
                </a:lnTo>
                <a:lnTo>
                  <a:pt x="0" y="258064"/>
                </a:lnTo>
                <a:lnTo>
                  <a:pt x="7924190" y="6857936"/>
                </a:lnTo>
                <a:lnTo>
                  <a:pt x="12193206" y="6857936"/>
                </a:lnTo>
                <a:lnTo>
                  <a:pt x="12193206" y="0"/>
                </a:lnTo>
                <a:close/>
              </a:path>
            </a:pathLst>
          </a:custGeom>
          <a:solidFill>
            <a:srgbClr val="092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61E9E-ED51-992F-D7E0-B9A9CFC550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4045" y="4313933"/>
            <a:ext cx="3854155" cy="1786731"/>
          </a:xfrm>
        </p:spPr>
        <p:txBody>
          <a:bodyPr anchor="t" anchorCtr="0"/>
          <a:lstStyle>
            <a:lvl1pPr algn="l">
              <a:lnSpc>
                <a:spcPts val="47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Section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33F56EB-3E8E-3A6B-FF7F-5BC6CD9B42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44197" y="250167"/>
            <a:ext cx="7947803" cy="6607833"/>
          </a:xfrm>
          <a:custGeom>
            <a:avLst/>
            <a:gdLst>
              <a:gd name="connsiteX0" fmla="*/ 0 w 7947804"/>
              <a:gd name="connsiteY0" fmla="*/ 6780294 h 6780294"/>
              <a:gd name="connsiteX1" fmla="*/ 0 w 7947804"/>
              <a:gd name="connsiteY1" fmla="*/ 0 h 6780294"/>
              <a:gd name="connsiteX2" fmla="*/ 7947804 w 7947804"/>
              <a:gd name="connsiteY2" fmla="*/ 6780294 h 6780294"/>
              <a:gd name="connsiteX3" fmla="*/ 0 w 7947804"/>
              <a:gd name="connsiteY3" fmla="*/ 6780294 h 6780294"/>
              <a:gd name="connsiteX0" fmla="*/ 0 w 7947804"/>
              <a:gd name="connsiteY0" fmla="*/ 6607765 h 6607765"/>
              <a:gd name="connsiteX1" fmla="*/ 7944929 w 7947804"/>
              <a:gd name="connsiteY1" fmla="*/ 0 h 6607765"/>
              <a:gd name="connsiteX2" fmla="*/ 7947804 w 7947804"/>
              <a:gd name="connsiteY2" fmla="*/ 6607765 h 6607765"/>
              <a:gd name="connsiteX3" fmla="*/ 0 w 7947804"/>
              <a:gd name="connsiteY3" fmla="*/ 6607765 h 6607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47804" h="6607765">
                <a:moveTo>
                  <a:pt x="0" y="6607765"/>
                </a:moveTo>
                <a:lnTo>
                  <a:pt x="7944929" y="0"/>
                </a:lnTo>
                <a:cubicBezTo>
                  <a:pt x="7945887" y="2202588"/>
                  <a:pt x="7946846" y="4405177"/>
                  <a:pt x="7947804" y="6607765"/>
                </a:cubicBezTo>
                <a:lnTo>
                  <a:pt x="0" y="66077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650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5">
            <a:extLst>
              <a:ext uri="{FF2B5EF4-FFF2-40B4-BE49-F238E27FC236}">
                <a16:creationId xmlns:a16="http://schemas.microsoft.com/office/drawing/2014/main" id="{3260914D-2179-F5E7-6AEF-1B3FCD15B664}"/>
              </a:ext>
            </a:extLst>
          </p:cNvPr>
          <p:cNvSpPr/>
          <p:nvPr/>
        </p:nvSpPr>
        <p:spPr>
          <a:xfrm>
            <a:off x="0" y="6320155"/>
            <a:ext cx="12193270" cy="537845"/>
          </a:xfrm>
          <a:custGeom>
            <a:avLst/>
            <a:gdLst/>
            <a:ahLst/>
            <a:cxnLst/>
            <a:rect l="l" t="t" r="r" b="b"/>
            <a:pathLst>
              <a:path w="12193270" h="537845">
                <a:moveTo>
                  <a:pt x="12193206" y="0"/>
                </a:moveTo>
                <a:lnTo>
                  <a:pt x="0" y="0"/>
                </a:lnTo>
                <a:lnTo>
                  <a:pt x="0" y="537654"/>
                </a:lnTo>
                <a:lnTo>
                  <a:pt x="12193206" y="537654"/>
                </a:lnTo>
                <a:lnTo>
                  <a:pt x="12193206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CD3216-EE4B-142A-37B2-8F088BC53FF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Heading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93640-ACD6-D0FB-E6D2-1A10789FAB47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790574" y="1759636"/>
            <a:ext cx="10596563" cy="377688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F628B-3C3B-56B9-B7C1-39C05962BD71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1691143" y="6438899"/>
            <a:ext cx="269875" cy="2571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CC3F808-C7E8-4131-9EFE-B613B7BC3B90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89562BF-709C-4632-9ABB-4C737CB763F9}"/>
              </a:ext>
            </a:extLst>
          </p:cNvPr>
          <p:cNvGrpSpPr/>
          <p:nvPr userDrawn="1"/>
        </p:nvGrpSpPr>
        <p:grpSpPr>
          <a:xfrm>
            <a:off x="316179" y="6438899"/>
            <a:ext cx="2926714" cy="297053"/>
            <a:chOff x="316179" y="6438899"/>
            <a:chExt cx="2926714" cy="297053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9E6E1D9-0164-49D5-AB17-F7F0D91798E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32"/>
            <a:stretch/>
          </p:blipFill>
          <p:spPr>
            <a:xfrm>
              <a:off x="600074" y="6438899"/>
              <a:ext cx="2642819" cy="297053"/>
            </a:xfrm>
            <a:prstGeom prst="rect">
              <a:avLst/>
            </a:prstGeom>
          </p:spPr>
        </p:pic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939C92E6-C602-0651-B37F-991BF596228E}"/>
                </a:ext>
              </a:extLst>
            </p:cNvPr>
            <p:cNvSpPr/>
            <p:nvPr/>
          </p:nvSpPr>
          <p:spPr>
            <a:xfrm>
              <a:off x="316179" y="6458418"/>
              <a:ext cx="254635" cy="254635"/>
            </a:xfrm>
            <a:custGeom>
              <a:avLst/>
              <a:gdLst/>
              <a:ahLst/>
              <a:cxnLst/>
              <a:rect l="l" t="t" r="r" b="b"/>
              <a:pathLst>
                <a:path w="254634" h="254634">
                  <a:moveTo>
                    <a:pt x="254419" y="0"/>
                  </a:moveTo>
                  <a:lnTo>
                    <a:pt x="126784" y="105625"/>
                  </a:lnTo>
                  <a:lnTo>
                    <a:pt x="0" y="25"/>
                  </a:lnTo>
                  <a:lnTo>
                    <a:pt x="0" y="254419"/>
                  </a:lnTo>
                  <a:lnTo>
                    <a:pt x="254419" y="254419"/>
                  </a:lnTo>
                  <a:lnTo>
                    <a:pt x="254419" y="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39566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5">
            <a:extLst>
              <a:ext uri="{FF2B5EF4-FFF2-40B4-BE49-F238E27FC236}">
                <a16:creationId xmlns:a16="http://schemas.microsoft.com/office/drawing/2014/main" id="{3260914D-2179-F5E7-6AEF-1B3FCD15B664}"/>
              </a:ext>
            </a:extLst>
          </p:cNvPr>
          <p:cNvSpPr/>
          <p:nvPr/>
        </p:nvSpPr>
        <p:spPr>
          <a:xfrm>
            <a:off x="0" y="6320345"/>
            <a:ext cx="12193270" cy="537845"/>
          </a:xfrm>
          <a:custGeom>
            <a:avLst/>
            <a:gdLst/>
            <a:ahLst/>
            <a:cxnLst/>
            <a:rect l="l" t="t" r="r" b="b"/>
            <a:pathLst>
              <a:path w="12193270" h="537845">
                <a:moveTo>
                  <a:pt x="12193206" y="0"/>
                </a:moveTo>
                <a:lnTo>
                  <a:pt x="0" y="0"/>
                </a:lnTo>
                <a:lnTo>
                  <a:pt x="0" y="537654"/>
                </a:lnTo>
                <a:lnTo>
                  <a:pt x="12193206" y="537654"/>
                </a:lnTo>
                <a:lnTo>
                  <a:pt x="12193206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CD3216-EE4B-142A-37B2-8F088BC53FF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Heading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93640-ACD6-D0FB-E6D2-1A10789FAB47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790574" y="1759636"/>
            <a:ext cx="5059643" cy="377688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F628B-3C3B-56B9-B7C1-39C05962BD71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1691143" y="6438899"/>
            <a:ext cx="269875" cy="2571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CC3F808-C7E8-4131-9EFE-B613B7BC3B9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6039FF1-6A15-29CE-1C78-37FA0E0DC74D}"/>
              </a:ext>
            </a:extLst>
          </p:cNvPr>
          <p:cNvSpPr>
            <a:spLocks noGrp="1"/>
          </p:cNvSpPr>
          <p:nvPr userDrawn="1">
            <p:ph idx="11"/>
          </p:nvPr>
        </p:nvSpPr>
        <p:spPr>
          <a:xfrm>
            <a:off x="6341781" y="1759636"/>
            <a:ext cx="5059643" cy="377688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92B2C36-95E6-467B-9243-129A97F24B4B}"/>
              </a:ext>
            </a:extLst>
          </p:cNvPr>
          <p:cNvGrpSpPr/>
          <p:nvPr userDrawn="1"/>
        </p:nvGrpSpPr>
        <p:grpSpPr>
          <a:xfrm>
            <a:off x="316179" y="6438899"/>
            <a:ext cx="2926714" cy="297053"/>
            <a:chOff x="316179" y="6438899"/>
            <a:chExt cx="2926714" cy="29705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F4D5055-8A98-4FB3-9EAB-F90E47333D1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32"/>
            <a:stretch/>
          </p:blipFill>
          <p:spPr>
            <a:xfrm>
              <a:off x="600074" y="6438899"/>
              <a:ext cx="2642819" cy="297053"/>
            </a:xfrm>
            <a:prstGeom prst="rect">
              <a:avLst/>
            </a:prstGeom>
          </p:spPr>
        </p:pic>
        <p:sp>
          <p:nvSpPr>
            <p:cNvPr id="15" name="object 6">
              <a:extLst>
                <a:ext uri="{FF2B5EF4-FFF2-40B4-BE49-F238E27FC236}">
                  <a16:creationId xmlns:a16="http://schemas.microsoft.com/office/drawing/2014/main" id="{4D71878C-405C-4B8F-A753-8B7ED6E1ED67}"/>
                </a:ext>
              </a:extLst>
            </p:cNvPr>
            <p:cNvSpPr/>
            <p:nvPr/>
          </p:nvSpPr>
          <p:spPr>
            <a:xfrm>
              <a:off x="316179" y="6458418"/>
              <a:ext cx="254635" cy="254635"/>
            </a:xfrm>
            <a:custGeom>
              <a:avLst/>
              <a:gdLst/>
              <a:ahLst/>
              <a:cxnLst/>
              <a:rect l="l" t="t" r="r" b="b"/>
              <a:pathLst>
                <a:path w="254634" h="254634">
                  <a:moveTo>
                    <a:pt x="254419" y="0"/>
                  </a:moveTo>
                  <a:lnTo>
                    <a:pt x="126784" y="105625"/>
                  </a:lnTo>
                  <a:lnTo>
                    <a:pt x="0" y="25"/>
                  </a:lnTo>
                  <a:lnTo>
                    <a:pt x="0" y="254419"/>
                  </a:lnTo>
                  <a:lnTo>
                    <a:pt x="254419" y="254419"/>
                  </a:lnTo>
                  <a:lnTo>
                    <a:pt x="254419" y="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96378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78AB8AC-51C0-A282-3E41-4FF8078F8B6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341780" y="0"/>
            <a:ext cx="5850219" cy="6320155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CD3216-EE4B-142A-37B2-8F088BC53F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4" y="805180"/>
            <a:ext cx="5046943" cy="1094014"/>
          </a:xfrm>
        </p:spPr>
        <p:txBody>
          <a:bodyPr/>
          <a:lstStyle>
            <a:lvl1pPr>
              <a:lnSpc>
                <a:spcPts val="4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Heading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D4EDD70-4D9F-74D7-CC79-3FFEE13768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3274" y="2142653"/>
            <a:ext cx="5046943" cy="33938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id="{DE730B1B-F47E-F663-D5A7-1F15CBC7E9A7}"/>
              </a:ext>
            </a:extLst>
          </p:cNvPr>
          <p:cNvSpPr/>
          <p:nvPr/>
        </p:nvSpPr>
        <p:spPr>
          <a:xfrm>
            <a:off x="0" y="6320155"/>
            <a:ext cx="12193270" cy="537845"/>
          </a:xfrm>
          <a:custGeom>
            <a:avLst/>
            <a:gdLst/>
            <a:ahLst/>
            <a:cxnLst/>
            <a:rect l="l" t="t" r="r" b="b"/>
            <a:pathLst>
              <a:path w="12193270" h="537845">
                <a:moveTo>
                  <a:pt x="12193206" y="0"/>
                </a:moveTo>
                <a:lnTo>
                  <a:pt x="0" y="0"/>
                </a:lnTo>
                <a:lnTo>
                  <a:pt x="0" y="537654"/>
                </a:lnTo>
                <a:lnTo>
                  <a:pt x="12193206" y="537654"/>
                </a:lnTo>
                <a:lnTo>
                  <a:pt x="12193206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F628B-3C3B-56B9-B7C1-39C05962BD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91143" y="6438899"/>
            <a:ext cx="269875" cy="2571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CC3F808-C7E8-4131-9EFE-B613B7BC3B90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1C710AF-4B2A-4BBB-8788-8441A63BFD19}"/>
              </a:ext>
            </a:extLst>
          </p:cNvPr>
          <p:cNvGrpSpPr/>
          <p:nvPr userDrawn="1"/>
        </p:nvGrpSpPr>
        <p:grpSpPr>
          <a:xfrm>
            <a:off x="316179" y="6438899"/>
            <a:ext cx="2926714" cy="297053"/>
            <a:chOff x="316179" y="6438899"/>
            <a:chExt cx="2926714" cy="29705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44B295D-1DFC-441A-8C87-EC7319DCB4E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32"/>
            <a:stretch/>
          </p:blipFill>
          <p:spPr>
            <a:xfrm>
              <a:off x="600074" y="6438899"/>
              <a:ext cx="2642819" cy="297053"/>
            </a:xfrm>
            <a:prstGeom prst="rect">
              <a:avLst/>
            </a:prstGeom>
          </p:spPr>
        </p:pic>
        <p:sp>
          <p:nvSpPr>
            <p:cNvPr id="15" name="object 6">
              <a:extLst>
                <a:ext uri="{FF2B5EF4-FFF2-40B4-BE49-F238E27FC236}">
                  <a16:creationId xmlns:a16="http://schemas.microsoft.com/office/drawing/2014/main" id="{51AC7A92-6A29-45ED-BA28-19BF42427299}"/>
                </a:ext>
              </a:extLst>
            </p:cNvPr>
            <p:cNvSpPr/>
            <p:nvPr/>
          </p:nvSpPr>
          <p:spPr>
            <a:xfrm>
              <a:off x="316179" y="6458418"/>
              <a:ext cx="254635" cy="254635"/>
            </a:xfrm>
            <a:custGeom>
              <a:avLst/>
              <a:gdLst/>
              <a:ahLst/>
              <a:cxnLst/>
              <a:rect l="l" t="t" r="r" b="b"/>
              <a:pathLst>
                <a:path w="254634" h="254634">
                  <a:moveTo>
                    <a:pt x="254419" y="0"/>
                  </a:moveTo>
                  <a:lnTo>
                    <a:pt x="126784" y="105625"/>
                  </a:lnTo>
                  <a:lnTo>
                    <a:pt x="0" y="25"/>
                  </a:lnTo>
                  <a:lnTo>
                    <a:pt x="0" y="254419"/>
                  </a:lnTo>
                  <a:lnTo>
                    <a:pt x="254419" y="254419"/>
                  </a:lnTo>
                  <a:lnTo>
                    <a:pt x="254419" y="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24658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4D3C0B78-D624-3C20-A0D8-A752505C93D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850219" cy="6320155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picture</a:t>
            </a:r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id="{DE730B1B-F47E-F663-D5A7-1F15CBC7E9A7}"/>
              </a:ext>
            </a:extLst>
          </p:cNvPr>
          <p:cNvSpPr/>
          <p:nvPr/>
        </p:nvSpPr>
        <p:spPr>
          <a:xfrm>
            <a:off x="0" y="6320155"/>
            <a:ext cx="12193270" cy="537845"/>
          </a:xfrm>
          <a:custGeom>
            <a:avLst/>
            <a:gdLst/>
            <a:ahLst/>
            <a:cxnLst/>
            <a:rect l="l" t="t" r="r" b="b"/>
            <a:pathLst>
              <a:path w="12193270" h="537845">
                <a:moveTo>
                  <a:pt x="12193206" y="0"/>
                </a:moveTo>
                <a:lnTo>
                  <a:pt x="0" y="0"/>
                </a:lnTo>
                <a:lnTo>
                  <a:pt x="0" y="537654"/>
                </a:lnTo>
                <a:lnTo>
                  <a:pt x="12193206" y="537654"/>
                </a:lnTo>
                <a:lnTo>
                  <a:pt x="12193206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F628B-3C3B-56B9-B7C1-39C05962BD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91143" y="6438899"/>
            <a:ext cx="269875" cy="2571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CC3F808-C7E8-4131-9EFE-B613B7BC3B9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CD3216-EE4B-142A-37B2-8F088BC53F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197" y="806400"/>
            <a:ext cx="5059642" cy="1094014"/>
          </a:xfrm>
        </p:spPr>
        <p:txBody>
          <a:bodyPr/>
          <a:lstStyle>
            <a:lvl1pPr>
              <a:lnSpc>
                <a:spcPts val="4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Heading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D4EDD70-4D9F-74D7-CC79-3FFEE13768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38612" y="2142653"/>
            <a:ext cx="5059643" cy="33938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4051C04-F9E5-476C-9476-DEB53CE93B17}"/>
              </a:ext>
            </a:extLst>
          </p:cNvPr>
          <p:cNvGrpSpPr/>
          <p:nvPr userDrawn="1"/>
        </p:nvGrpSpPr>
        <p:grpSpPr>
          <a:xfrm>
            <a:off x="316179" y="6438899"/>
            <a:ext cx="2926714" cy="297053"/>
            <a:chOff x="316179" y="6438899"/>
            <a:chExt cx="2926714" cy="29705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32338D1-8321-470F-B388-E7C1399D572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32"/>
            <a:stretch/>
          </p:blipFill>
          <p:spPr>
            <a:xfrm>
              <a:off x="600074" y="6438899"/>
              <a:ext cx="2642819" cy="297053"/>
            </a:xfrm>
            <a:prstGeom prst="rect">
              <a:avLst/>
            </a:prstGeom>
          </p:spPr>
        </p:pic>
        <p:sp>
          <p:nvSpPr>
            <p:cNvPr id="15" name="object 6">
              <a:extLst>
                <a:ext uri="{FF2B5EF4-FFF2-40B4-BE49-F238E27FC236}">
                  <a16:creationId xmlns:a16="http://schemas.microsoft.com/office/drawing/2014/main" id="{EE00DAA1-7EF7-4644-AAC0-6D3B74E0B7CC}"/>
                </a:ext>
              </a:extLst>
            </p:cNvPr>
            <p:cNvSpPr/>
            <p:nvPr/>
          </p:nvSpPr>
          <p:spPr>
            <a:xfrm>
              <a:off x="316179" y="6458418"/>
              <a:ext cx="254635" cy="254635"/>
            </a:xfrm>
            <a:custGeom>
              <a:avLst/>
              <a:gdLst/>
              <a:ahLst/>
              <a:cxnLst/>
              <a:rect l="l" t="t" r="r" b="b"/>
              <a:pathLst>
                <a:path w="254634" h="254634">
                  <a:moveTo>
                    <a:pt x="254419" y="0"/>
                  </a:moveTo>
                  <a:lnTo>
                    <a:pt x="126784" y="105625"/>
                  </a:lnTo>
                  <a:lnTo>
                    <a:pt x="0" y="25"/>
                  </a:lnTo>
                  <a:lnTo>
                    <a:pt x="0" y="254419"/>
                  </a:lnTo>
                  <a:lnTo>
                    <a:pt x="254419" y="254419"/>
                  </a:lnTo>
                  <a:lnTo>
                    <a:pt x="254419" y="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2065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5">
            <a:extLst>
              <a:ext uri="{FF2B5EF4-FFF2-40B4-BE49-F238E27FC236}">
                <a16:creationId xmlns:a16="http://schemas.microsoft.com/office/drawing/2014/main" id="{3260914D-2179-F5E7-6AEF-1B3FCD15B664}"/>
              </a:ext>
            </a:extLst>
          </p:cNvPr>
          <p:cNvSpPr/>
          <p:nvPr/>
        </p:nvSpPr>
        <p:spPr>
          <a:xfrm>
            <a:off x="0" y="6320345"/>
            <a:ext cx="12193270" cy="537845"/>
          </a:xfrm>
          <a:custGeom>
            <a:avLst/>
            <a:gdLst/>
            <a:ahLst/>
            <a:cxnLst/>
            <a:rect l="l" t="t" r="r" b="b"/>
            <a:pathLst>
              <a:path w="12193270" h="537845">
                <a:moveTo>
                  <a:pt x="12193206" y="0"/>
                </a:moveTo>
                <a:lnTo>
                  <a:pt x="0" y="0"/>
                </a:lnTo>
                <a:lnTo>
                  <a:pt x="0" y="537654"/>
                </a:lnTo>
                <a:lnTo>
                  <a:pt x="12193206" y="537654"/>
                </a:lnTo>
                <a:lnTo>
                  <a:pt x="12193206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CD3216-EE4B-142A-37B2-8F088BC53FF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90574" y="736600"/>
            <a:ext cx="10596563" cy="7016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Heading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F628B-3C3B-56B9-B7C1-39C05962BD71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1691143" y="6438899"/>
            <a:ext cx="269875" cy="2571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CC3F808-C7E8-4131-9EFE-B613B7BC3B90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7B5E80C-411B-41BE-9BF2-2C0185B49FB6}"/>
              </a:ext>
            </a:extLst>
          </p:cNvPr>
          <p:cNvGrpSpPr/>
          <p:nvPr userDrawn="1"/>
        </p:nvGrpSpPr>
        <p:grpSpPr>
          <a:xfrm>
            <a:off x="316179" y="6438899"/>
            <a:ext cx="2926714" cy="297053"/>
            <a:chOff x="316179" y="6438899"/>
            <a:chExt cx="2926714" cy="29705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B394468-E324-45CD-98F0-52A4B8F8F6F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32"/>
            <a:stretch/>
          </p:blipFill>
          <p:spPr>
            <a:xfrm>
              <a:off x="600074" y="6438899"/>
              <a:ext cx="2642819" cy="297053"/>
            </a:xfrm>
            <a:prstGeom prst="rect">
              <a:avLst/>
            </a:prstGeom>
          </p:spPr>
        </p:pic>
        <p:sp>
          <p:nvSpPr>
            <p:cNvPr id="14" name="object 6">
              <a:extLst>
                <a:ext uri="{FF2B5EF4-FFF2-40B4-BE49-F238E27FC236}">
                  <a16:creationId xmlns:a16="http://schemas.microsoft.com/office/drawing/2014/main" id="{BD963DFF-1C9C-4D17-BB1B-45D80042CB9E}"/>
                </a:ext>
              </a:extLst>
            </p:cNvPr>
            <p:cNvSpPr/>
            <p:nvPr/>
          </p:nvSpPr>
          <p:spPr>
            <a:xfrm>
              <a:off x="316179" y="6458418"/>
              <a:ext cx="254635" cy="254635"/>
            </a:xfrm>
            <a:custGeom>
              <a:avLst/>
              <a:gdLst/>
              <a:ahLst/>
              <a:cxnLst/>
              <a:rect l="l" t="t" r="r" b="b"/>
              <a:pathLst>
                <a:path w="254634" h="254634">
                  <a:moveTo>
                    <a:pt x="254419" y="0"/>
                  </a:moveTo>
                  <a:lnTo>
                    <a:pt x="126784" y="105625"/>
                  </a:lnTo>
                  <a:lnTo>
                    <a:pt x="0" y="25"/>
                  </a:lnTo>
                  <a:lnTo>
                    <a:pt x="0" y="254419"/>
                  </a:lnTo>
                  <a:lnTo>
                    <a:pt x="254419" y="254419"/>
                  </a:lnTo>
                  <a:lnTo>
                    <a:pt x="254419" y="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232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5">
            <a:extLst>
              <a:ext uri="{FF2B5EF4-FFF2-40B4-BE49-F238E27FC236}">
                <a16:creationId xmlns:a16="http://schemas.microsoft.com/office/drawing/2014/main" id="{B187C576-EF9A-D690-8A5C-00ACB0CA8005}"/>
              </a:ext>
            </a:extLst>
          </p:cNvPr>
          <p:cNvSpPr/>
          <p:nvPr/>
        </p:nvSpPr>
        <p:spPr>
          <a:xfrm>
            <a:off x="0" y="6320345"/>
            <a:ext cx="12193270" cy="537845"/>
          </a:xfrm>
          <a:custGeom>
            <a:avLst/>
            <a:gdLst/>
            <a:ahLst/>
            <a:cxnLst/>
            <a:rect l="l" t="t" r="r" b="b"/>
            <a:pathLst>
              <a:path w="12193270" h="537845">
                <a:moveTo>
                  <a:pt x="12193206" y="0"/>
                </a:moveTo>
                <a:lnTo>
                  <a:pt x="0" y="0"/>
                </a:lnTo>
                <a:lnTo>
                  <a:pt x="0" y="537654"/>
                </a:lnTo>
                <a:lnTo>
                  <a:pt x="12193206" y="537654"/>
                </a:lnTo>
                <a:lnTo>
                  <a:pt x="12193206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080629-0743-4B8D-004F-B54A043A3E3D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1691143" y="6438899"/>
            <a:ext cx="269875" cy="2571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CC3F808-C7E8-4131-9EFE-B613B7BC3B90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DAD65CD-B03E-46D9-957C-1EAC5CFB3133}"/>
              </a:ext>
            </a:extLst>
          </p:cNvPr>
          <p:cNvGrpSpPr/>
          <p:nvPr userDrawn="1"/>
        </p:nvGrpSpPr>
        <p:grpSpPr>
          <a:xfrm>
            <a:off x="316179" y="6438899"/>
            <a:ext cx="2926714" cy="297053"/>
            <a:chOff x="316179" y="6438899"/>
            <a:chExt cx="2926714" cy="29705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2C14D30-76AE-49F2-AF99-A99DC4609D3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32"/>
            <a:stretch/>
          </p:blipFill>
          <p:spPr>
            <a:xfrm>
              <a:off x="600074" y="6438899"/>
              <a:ext cx="2642819" cy="297053"/>
            </a:xfrm>
            <a:prstGeom prst="rect">
              <a:avLst/>
            </a:prstGeom>
          </p:spPr>
        </p:pic>
        <p:sp>
          <p:nvSpPr>
            <p:cNvPr id="13" name="object 6">
              <a:extLst>
                <a:ext uri="{FF2B5EF4-FFF2-40B4-BE49-F238E27FC236}">
                  <a16:creationId xmlns:a16="http://schemas.microsoft.com/office/drawing/2014/main" id="{5D139899-D8DB-4C65-9900-ACEB04004147}"/>
                </a:ext>
              </a:extLst>
            </p:cNvPr>
            <p:cNvSpPr/>
            <p:nvPr/>
          </p:nvSpPr>
          <p:spPr>
            <a:xfrm>
              <a:off x="316179" y="6458418"/>
              <a:ext cx="254635" cy="254635"/>
            </a:xfrm>
            <a:custGeom>
              <a:avLst/>
              <a:gdLst/>
              <a:ahLst/>
              <a:cxnLst/>
              <a:rect l="l" t="t" r="r" b="b"/>
              <a:pathLst>
                <a:path w="254634" h="254634">
                  <a:moveTo>
                    <a:pt x="254419" y="0"/>
                  </a:moveTo>
                  <a:lnTo>
                    <a:pt x="126784" y="105625"/>
                  </a:lnTo>
                  <a:lnTo>
                    <a:pt x="0" y="25"/>
                  </a:lnTo>
                  <a:lnTo>
                    <a:pt x="0" y="254419"/>
                  </a:lnTo>
                  <a:lnTo>
                    <a:pt x="254419" y="254419"/>
                  </a:lnTo>
                  <a:lnTo>
                    <a:pt x="254419" y="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97917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g object 16">
            <a:extLst>
              <a:ext uri="{FF2B5EF4-FFF2-40B4-BE49-F238E27FC236}">
                <a16:creationId xmlns:a16="http://schemas.microsoft.com/office/drawing/2014/main" id="{2133F4BD-3A05-6BF0-9599-0623746B96D1}"/>
              </a:ext>
            </a:extLst>
          </p:cNvPr>
          <p:cNvSpPr/>
          <p:nvPr userDrawn="1"/>
        </p:nvSpPr>
        <p:spPr>
          <a:xfrm>
            <a:off x="0" y="68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206" y="0"/>
                </a:moveTo>
                <a:lnTo>
                  <a:pt x="0" y="0"/>
                </a:lnTo>
                <a:lnTo>
                  <a:pt x="0" y="258064"/>
                </a:lnTo>
                <a:lnTo>
                  <a:pt x="7924190" y="6857936"/>
                </a:lnTo>
                <a:lnTo>
                  <a:pt x="12193206" y="6857936"/>
                </a:lnTo>
                <a:lnTo>
                  <a:pt x="12193206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61E9E-ED51-992F-D7E0-B9A9CFC550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4045" y="4241800"/>
            <a:ext cx="3396956" cy="1425250"/>
          </a:xfrm>
        </p:spPr>
        <p:txBody>
          <a:bodyPr anchor="b" anchorCtr="0"/>
          <a:lstStyle>
            <a:lvl1pPr algn="l">
              <a:lnSpc>
                <a:spcPts val="42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Thank you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7C25EF-3794-428C-B7F8-BF804CDF25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55" y="504799"/>
            <a:ext cx="2054673" cy="97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56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+Subhead+Text">
  <p:cSld name="3_Title+Subhead+Text">
    <p:bg>
      <p:bgPr>
        <a:solidFill>
          <a:schemeClr val="lt1">
            <a:alpha val="0"/>
          </a:schemeClr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652347" y="426248"/>
            <a:ext cx="10887309" cy="1341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652344" y="2476653"/>
            <a:ext cx="10887312" cy="3810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None/>
              <a:defRPr sz="2200">
                <a:solidFill>
                  <a:schemeClr val="lt2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Char char="•"/>
              <a:defRPr sz="2200">
                <a:solidFill>
                  <a:schemeClr val="lt2"/>
                </a:solidFill>
              </a:defRPr>
            </a:lvl2pPr>
            <a:lvl3pPr marL="1371600" lvl="2" indent="-3683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Char char="•"/>
              <a:defRPr sz="2200">
                <a:solidFill>
                  <a:schemeClr val="lt2"/>
                </a:solidFill>
              </a:defRPr>
            </a:lvl3pPr>
            <a:lvl4pPr marL="1828800" lvl="3" indent="-3683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Char char="•"/>
              <a:defRPr sz="2200">
                <a:solidFill>
                  <a:schemeClr val="lt2"/>
                </a:solidFill>
              </a:defRPr>
            </a:lvl4pPr>
            <a:lvl5pPr marL="2286000" lvl="4" indent="-3683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Char char="•"/>
              <a:defRPr sz="2200">
                <a:solidFill>
                  <a:schemeClr val="lt2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body" idx="2"/>
          </p:nvPr>
        </p:nvSpPr>
        <p:spPr>
          <a:xfrm>
            <a:off x="651519" y="1785116"/>
            <a:ext cx="10888963" cy="565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 b="1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sldNum" idx="12"/>
          </p:nvPr>
        </p:nvSpPr>
        <p:spPr>
          <a:xfrm>
            <a:off x="11451187" y="6396610"/>
            <a:ext cx="740813" cy="363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409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4AF42-88AD-4FB0-CD35-33806BE794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1143" y="6438899"/>
            <a:ext cx="269875" cy="2571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7CC3F808-C7E8-4131-9EFE-B613B7BC3B9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42BF69-49C3-FAD1-45E5-BF111E4C4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74" y="736600"/>
            <a:ext cx="10596563" cy="701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2E246-AA27-06D0-C7D1-3CF06C884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0574" y="1759636"/>
            <a:ext cx="10596563" cy="37768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5488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65" r:id="rId3"/>
    <p:sldLayoutId id="2147483650" r:id="rId4"/>
    <p:sldLayoutId id="2147483658" r:id="rId5"/>
    <p:sldLayoutId id="2147483659" r:id="rId6"/>
    <p:sldLayoutId id="2147483660" r:id="rId7"/>
    <p:sldLayoutId id="2147483661" r:id="rId8"/>
    <p:sldLayoutId id="2147483655" r:id="rId9"/>
    <p:sldLayoutId id="2147483664" r:id="rId10"/>
    <p:sldLayoutId id="2147483666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ts val="47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374650" indent="-37465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628650" indent="-24765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898525" indent="-26987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165225" indent="-254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06" userDrawn="1">
          <p15:clr>
            <a:srgbClr val="F26B43"/>
          </p15:clr>
        </p15:guide>
        <p15:guide id="4" pos="717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91-020-01194-5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wirlstats.com/students.html" TargetMode="External"/><Relationship Id="rId7" Type="http://schemas.openxmlformats.org/officeDocument/2006/relationships/hyperlink" Target="https://rstudio.com/resources/cheatsheets/" TargetMode="External"/><Relationship Id="rId2" Type="http://schemas.openxmlformats.org/officeDocument/2006/relationships/hyperlink" Target="https://bookdown.org/rdpeng/rprogdatascience/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atrebas.github.io/post/2019-03-03-datatable-dplyr/" TargetMode="External"/><Relationship Id="rId5" Type="http://schemas.openxmlformats.org/officeDocument/2006/relationships/hyperlink" Target="https://cran.r-project.org/web/packages/data.table/vignettes/datatable-intro.html" TargetMode="External"/><Relationship Id="rId4" Type="http://schemas.openxmlformats.org/officeDocument/2006/relationships/hyperlink" Target="https://r4ds.had.co.nz/transform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586F3-FD96-4B2E-9404-933DB064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4044" y="2320033"/>
            <a:ext cx="10399473" cy="178673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sz="4000" dirty="0"/>
              <a:t>Computational training</a:t>
            </a:r>
            <a:br>
              <a:rPr lang="en-GB" sz="4000" dirty="0"/>
            </a:br>
            <a:r>
              <a:rPr lang="en-GB" sz="4000" dirty="0"/>
              <a:t>Session </a:t>
            </a:r>
            <a:r>
              <a:rPr lang="en-US" sz="4000" dirty="0"/>
              <a:t>7</a:t>
            </a:r>
            <a:br>
              <a:rPr lang="en-GB" sz="4000" dirty="0"/>
            </a:br>
            <a:r>
              <a:rPr lang="en-US" sz="4000" dirty="0"/>
              <a:t>Data analysis and </a:t>
            </a:r>
            <a:r>
              <a:rPr lang="en-US" sz="4000" dirty="0" err="1"/>
              <a:t>visualisation</a:t>
            </a:r>
            <a:r>
              <a:rPr lang="en-US" sz="4000" dirty="0"/>
              <a:t> in R</a:t>
            </a:r>
            <a:endParaRPr lang="en-GB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072A71-9D48-48B4-9F02-5D51D93F02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05/11/2025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1664B-680F-4D25-A8EF-F12D7904FA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4044" y="5344417"/>
            <a:ext cx="8864963" cy="370584"/>
          </a:xfrm>
        </p:spPr>
        <p:txBody>
          <a:bodyPr/>
          <a:lstStyle/>
          <a:p>
            <a:r>
              <a:rPr lang="en-GB" sz="2000" dirty="0"/>
              <a:t>Dr Irina Chelysheva, Senior Lecturer in Human Genomics</a:t>
            </a:r>
            <a:r>
              <a:rPr lang="ru-RU" sz="2000" dirty="0"/>
              <a:t> </a:t>
            </a:r>
            <a:endParaRPr lang="en-US" sz="2000" dirty="0"/>
          </a:p>
          <a:p>
            <a:r>
              <a:rPr lang="ru-RU" sz="2000" dirty="0"/>
              <a:t>(</a:t>
            </a:r>
            <a:r>
              <a:rPr lang="en-US" sz="2000" dirty="0"/>
              <a:t>acknowledgements: Dr </a:t>
            </a:r>
            <a:r>
              <a:rPr lang="en-GB" sz="2000" dirty="0"/>
              <a:t>Srinivasa Rao</a:t>
            </a:r>
            <a:r>
              <a:rPr lang="en-US" sz="2000" dirty="0"/>
              <a:t>)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655556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CustomShape 2"/>
          <p:cNvSpPr/>
          <p:nvPr/>
        </p:nvSpPr>
        <p:spPr>
          <a:xfrm>
            <a:off x="1630497" y="1294482"/>
            <a:ext cx="8619695" cy="489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marL="216000" indent="-215640"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b="1" spc="-1" dirty="0">
                <a:solidFill>
                  <a:srgbClr val="000000"/>
                </a:solidFill>
                <a:ea typeface="DejaVu Sans"/>
              </a:rPr>
              <a:t>Data exploration</a:t>
            </a:r>
            <a:endParaRPr lang="en-GB" spc="-1" dirty="0"/>
          </a:p>
          <a:p>
            <a:pPr lvl="1" indent="-215640"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pc="-1" dirty="0">
                <a:solidFill>
                  <a:srgbClr val="000000"/>
                </a:solidFill>
                <a:ea typeface="DejaVu Sans"/>
              </a:rPr>
              <a:t>Intro to </a:t>
            </a:r>
            <a:r>
              <a:rPr lang="en-US" spc="-1" dirty="0" err="1">
                <a:solidFill>
                  <a:srgbClr val="000000"/>
                </a:solidFill>
                <a:ea typeface="DejaVu Sans"/>
              </a:rPr>
              <a:t>Tidyverse</a:t>
            </a:r>
            <a:endParaRPr lang="en-GB" spc="-1" dirty="0"/>
          </a:p>
          <a:p>
            <a:pPr lvl="1" indent="-215640"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pc="-1" dirty="0" err="1">
                <a:solidFill>
                  <a:srgbClr val="000000"/>
                </a:solidFill>
                <a:ea typeface="DejaVu Sans"/>
              </a:rPr>
              <a:t>Dplyr</a:t>
            </a:r>
            <a:r>
              <a:rPr lang="en-US" spc="-1" dirty="0">
                <a:solidFill>
                  <a:srgbClr val="000000"/>
                </a:solidFill>
                <a:ea typeface="DejaVu Sans"/>
              </a:rPr>
              <a:t> verbs – mutate, select, filter, </a:t>
            </a:r>
            <a:r>
              <a:rPr lang="en-US" spc="-1" dirty="0" err="1">
                <a:solidFill>
                  <a:srgbClr val="000000"/>
                </a:solidFill>
                <a:ea typeface="DejaVu Sans"/>
              </a:rPr>
              <a:t>summarise</a:t>
            </a:r>
            <a:r>
              <a:rPr lang="en-US" spc="-1" dirty="0">
                <a:solidFill>
                  <a:srgbClr val="000000"/>
                </a:solidFill>
                <a:ea typeface="DejaVu Sans"/>
              </a:rPr>
              <a:t>, arrange</a:t>
            </a:r>
            <a:endParaRPr lang="en-GB" spc="-1" dirty="0"/>
          </a:p>
          <a:p>
            <a:pPr lvl="1" indent="-215640"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pc="-1" dirty="0">
                <a:solidFill>
                  <a:srgbClr val="000000"/>
                </a:solidFill>
                <a:ea typeface="DejaVu Sans"/>
              </a:rPr>
              <a:t>Group and </a:t>
            </a:r>
            <a:r>
              <a:rPr lang="en-US" spc="-1" dirty="0" err="1">
                <a:solidFill>
                  <a:srgbClr val="000000"/>
                </a:solidFill>
                <a:ea typeface="DejaVu Sans"/>
              </a:rPr>
              <a:t>summarise</a:t>
            </a:r>
            <a:r>
              <a:rPr lang="en-US" spc="-1" dirty="0">
                <a:solidFill>
                  <a:srgbClr val="000000"/>
                </a:solidFill>
                <a:ea typeface="DejaVu Sans"/>
              </a:rPr>
              <a:t> data</a:t>
            </a:r>
            <a:endParaRPr lang="en-GB" spc="-1" dirty="0"/>
          </a:p>
          <a:p>
            <a:pPr lvl="1" indent="-215640"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pc="-1" dirty="0">
                <a:solidFill>
                  <a:srgbClr val="000000"/>
                </a:solidFill>
                <a:ea typeface="DejaVu Sans"/>
              </a:rPr>
              <a:t>Reshape data</a:t>
            </a:r>
            <a:endParaRPr lang="en-GB" spc="-1" dirty="0"/>
          </a:p>
          <a:p>
            <a:pPr lvl="1" indent="-215640"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pc="-1" dirty="0">
                <a:solidFill>
                  <a:srgbClr val="000000"/>
                </a:solidFill>
                <a:ea typeface="DejaVu Sans"/>
              </a:rPr>
              <a:t>Practical</a:t>
            </a:r>
          </a:p>
          <a:p>
            <a:pPr lvl="2" indent="-215640"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pc="-1" dirty="0">
                <a:solidFill>
                  <a:srgbClr val="000000"/>
                </a:solidFill>
                <a:ea typeface="DejaVu Sans"/>
              </a:rPr>
              <a:t>Covid data</a:t>
            </a:r>
            <a:endParaRPr lang="en-GB" spc="-1" dirty="0"/>
          </a:p>
          <a:p>
            <a:pPr lvl="2" indent="-215280"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pc="-1" dirty="0">
                <a:solidFill>
                  <a:srgbClr val="000000"/>
                </a:solidFill>
                <a:ea typeface="DejaVu Sans"/>
              </a:rPr>
              <a:t>Wet-lab Covid-vaccine data</a:t>
            </a:r>
            <a:endParaRPr lang="en-GB" spc="-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41E82B-77BC-5DAC-2968-604E32E76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plan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1982100" y="144174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spc="-1" dirty="0">
                <a:solidFill>
                  <a:schemeClr val="tx2"/>
                </a:solidFill>
                <a:latin typeface="+mj-lt"/>
                <a:ea typeface="DejaVu Sans"/>
              </a:rPr>
              <a:t>A typical workflow</a:t>
            </a:r>
            <a:endParaRPr lang="en-GB" sz="3200" spc="-1" dirty="0">
              <a:solidFill>
                <a:schemeClr val="tx2"/>
              </a:solidFill>
              <a:latin typeface="+mj-lt"/>
            </a:endParaRPr>
          </a:p>
        </p:txBody>
      </p:sp>
      <p:grpSp>
        <p:nvGrpSpPr>
          <p:cNvPr id="195" name="Group 2"/>
          <p:cNvGrpSpPr/>
          <p:nvPr/>
        </p:nvGrpSpPr>
        <p:grpSpPr>
          <a:xfrm>
            <a:off x="1987140" y="1174854"/>
            <a:ext cx="8222400" cy="2931396"/>
            <a:chOff x="462240" y="1714680"/>
            <a:chExt cx="8222400" cy="2931396"/>
          </a:xfrm>
        </p:grpSpPr>
        <p:sp>
          <p:nvSpPr>
            <p:cNvPr id="196" name="CustomShape 3"/>
            <p:cNvSpPr/>
            <p:nvPr/>
          </p:nvSpPr>
          <p:spPr>
            <a:xfrm>
              <a:off x="1005840" y="4001400"/>
              <a:ext cx="496080" cy="36787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GB" spc="-1">
                  <a:solidFill>
                    <a:srgbClr val="000000"/>
                  </a:solidFill>
                  <a:latin typeface="Calibri"/>
                  <a:ea typeface="DejaVu Sans"/>
                </a:rPr>
                <a:t>df1</a:t>
              </a:r>
              <a:endParaRPr lang="en-GB" spc="-1">
                <a:latin typeface="Arial"/>
              </a:endParaRPr>
            </a:p>
          </p:txBody>
        </p:sp>
        <p:sp>
          <p:nvSpPr>
            <p:cNvPr id="197" name="CustomShape 4"/>
            <p:cNvSpPr/>
            <p:nvPr/>
          </p:nvSpPr>
          <p:spPr>
            <a:xfrm>
              <a:off x="2792160" y="4001400"/>
              <a:ext cx="626760" cy="36787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GB" spc="-1">
                  <a:solidFill>
                    <a:srgbClr val="000000"/>
                  </a:solidFill>
                  <a:latin typeface="Calibri"/>
                  <a:ea typeface="DejaVu Sans"/>
                </a:rPr>
                <a:t>Sort</a:t>
              </a:r>
              <a:endParaRPr lang="en-GB" spc="-1">
                <a:latin typeface="Arial"/>
              </a:endParaRPr>
            </a:p>
          </p:txBody>
        </p:sp>
        <p:sp>
          <p:nvSpPr>
            <p:cNvPr id="198" name="CustomShape 5"/>
            <p:cNvSpPr/>
            <p:nvPr/>
          </p:nvSpPr>
          <p:spPr>
            <a:xfrm>
              <a:off x="4273560" y="3862800"/>
              <a:ext cx="1028160" cy="64487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GB" spc="-1">
                  <a:solidFill>
                    <a:srgbClr val="000000"/>
                  </a:solidFill>
                  <a:latin typeface="Calibri"/>
                  <a:ea typeface="DejaVu Sans"/>
                </a:rPr>
                <a:t>Select columns</a:t>
              </a:r>
              <a:endParaRPr lang="en-GB" spc="-1">
                <a:latin typeface="Arial"/>
              </a:endParaRPr>
            </a:p>
          </p:txBody>
        </p:sp>
        <p:sp>
          <p:nvSpPr>
            <p:cNvPr id="199" name="CustomShape 6"/>
            <p:cNvSpPr/>
            <p:nvPr/>
          </p:nvSpPr>
          <p:spPr>
            <a:xfrm>
              <a:off x="5865120" y="4001400"/>
              <a:ext cx="959760" cy="36787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GB" spc="-1">
                  <a:solidFill>
                    <a:srgbClr val="000000"/>
                  </a:solidFill>
                  <a:latin typeface="Calibri"/>
                  <a:ea typeface="DejaVu Sans"/>
                </a:rPr>
                <a:t>Filter</a:t>
              </a:r>
              <a:endParaRPr lang="en-GB" spc="-1">
                <a:latin typeface="Arial"/>
              </a:endParaRPr>
            </a:p>
          </p:txBody>
        </p:sp>
        <p:sp>
          <p:nvSpPr>
            <p:cNvPr id="200" name="CustomShape 7"/>
            <p:cNvSpPr/>
            <p:nvPr/>
          </p:nvSpPr>
          <p:spPr>
            <a:xfrm>
              <a:off x="1989360" y="4093560"/>
              <a:ext cx="318600" cy="183600"/>
            </a:xfrm>
            <a:prstGeom prst="rightArrow">
              <a:avLst>
                <a:gd name="adj1" fmla="val 50000"/>
                <a:gd name="adj2" fmla="val 50000"/>
              </a:avLst>
            </a:prstGeom>
            <a:ln>
              <a:rou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1" name="CustomShape 8"/>
            <p:cNvSpPr/>
            <p:nvPr/>
          </p:nvSpPr>
          <p:spPr>
            <a:xfrm>
              <a:off x="3684960" y="4093560"/>
              <a:ext cx="318600" cy="183600"/>
            </a:xfrm>
            <a:prstGeom prst="rightArrow">
              <a:avLst>
                <a:gd name="adj1" fmla="val 50000"/>
                <a:gd name="adj2" fmla="val 50000"/>
              </a:avLst>
            </a:prstGeom>
            <a:ln>
              <a:rou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2" name="CustomShape 9"/>
            <p:cNvSpPr/>
            <p:nvPr/>
          </p:nvSpPr>
          <p:spPr>
            <a:xfrm>
              <a:off x="7040160" y="4093560"/>
              <a:ext cx="318600" cy="183600"/>
            </a:xfrm>
            <a:prstGeom prst="rightArrow">
              <a:avLst>
                <a:gd name="adj1" fmla="val 50000"/>
                <a:gd name="adj2" fmla="val 50000"/>
              </a:avLst>
            </a:prstGeom>
            <a:ln>
              <a:rou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grpSp>
          <p:nvGrpSpPr>
            <p:cNvPr id="203" name="Group 10"/>
            <p:cNvGrpSpPr/>
            <p:nvPr/>
          </p:nvGrpSpPr>
          <p:grpSpPr>
            <a:xfrm>
              <a:off x="4154400" y="1867680"/>
              <a:ext cx="1052640" cy="1717518"/>
              <a:chOff x="4154400" y="1867680"/>
              <a:chExt cx="1052640" cy="1717518"/>
            </a:xfrm>
          </p:grpSpPr>
          <p:sp>
            <p:nvSpPr>
              <p:cNvPr id="204" name="CustomShape 11"/>
              <p:cNvSpPr/>
              <p:nvPr/>
            </p:nvSpPr>
            <p:spPr>
              <a:xfrm>
                <a:off x="4481640" y="2413800"/>
                <a:ext cx="329760" cy="3432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GB" sz="1640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spc="-1">
                  <a:latin typeface="Arial"/>
                </a:endParaRPr>
              </a:p>
            </p:txBody>
          </p:sp>
          <p:sp>
            <p:nvSpPr>
              <p:cNvPr id="205" name="CustomShape 12"/>
              <p:cNvSpPr/>
              <p:nvPr/>
            </p:nvSpPr>
            <p:spPr>
              <a:xfrm>
                <a:off x="4498200" y="27118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06" name="CustomShape 13"/>
              <p:cNvSpPr/>
              <p:nvPr/>
            </p:nvSpPr>
            <p:spPr>
              <a:xfrm>
                <a:off x="4803120" y="271224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07" name="CustomShape 14"/>
              <p:cNvSpPr/>
              <p:nvPr/>
            </p:nvSpPr>
            <p:spPr>
              <a:xfrm>
                <a:off x="4498200" y="2981520"/>
                <a:ext cx="309960" cy="26856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08" name="CustomShape 15"/>
              <p:cNvSpPr/>
              <p:nvPr/>
            </p:nvSpPr>
            <p:spPr>
              <a:xfrm>
                <a:off x="4803120" y="29818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CustomShape 16"/>
              <p:cNvSpPr/>
              <p:nvPr/>
            </p:nvSpPr>
            <p:spPr>
              <a:xfrm>
                <a:off x="4498200" y="3251160"/>
                <a:ext cx="309960" cy="26856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10" name="CustomShape 17"/>
              <p:cNvSpPr/>
              <p:nvPr/>
            </p:nvSpPr>
            <p:spPr>
              <a:xfrm>
                <a:off x="4803120" y="325152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11" name="CustomShape 18"/>
              <p:cNvSpPr/>
              <p:nvPr/>
            </p:nvSpPr>
            <p:spPr>
              <a:xfrm>
                <a:off x="4154400" y="2674440"/>
                <a:ext cx="309960" cy="3432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GB" sz="1640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spc="-1">
                  <a:latin typeface="Arial"/>
                </a:endParaRPr>
              </a:p>
            </p:txBody>
          </p:sp>
          <p:sp>
            <p:nvSpPr>
              <p:cNvPr id="212" name="CustomShape 19"/>
              <p:cNvSpPr/>
              <p:nvPr/>
            </p:nvSpPr>
            <p:spPr>
              <a:xfrm>
                <a:off x="4154400" y="2948760"/>
                <a:ext cx="309960" cy="3432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GB" sz="1640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spc="-1">
                  <a:latin typeface="Arial"/>
                </a:endParaRPr>
              </a:p>
            </p:txBody>
          </p:sp>
          <p:sp>
            <p:nvSpPr>
              <p:cNvPr id="213" name="CustomShape 20"/>
              <p:cNvSpPr/>
              <p:nvPr/>
            </p:nvSpPr>
            <p:spPr>
              <a:xfrm>
                <a:off x="4154400" y="3223080"/>
                <a:ext cx="309960" cy="3432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GB" sz="1640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spc="-1">
                  <a:latin typeface="Arial"/>
                </a:endParaRPr>
              </a:p>
            </p:txBody>
          </p:sp>
          <p:sp>
            <p:nvSpPr>
              <p:cNvPr id="214" name="CustomShape 21"/>
              <p:cNvSpPr/>
              <p:nvPr/>
            </p:nvSpPr>
            <p:spPr>
              <a:xfrm>
                <a:off x="4822200" y="2413800"/>
                <a:ext cx="309960" cy="3432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GB" sz="1640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spc="-1">
                  <a:latin typeface="Arial"/>
                </a:endParaRPr>
              </a:p>
            </p:txBody>
          </p:sp>
          <p:sp>
            <p:nvSpPr>
              <p:cNvPr id="215" name="CustomShape 22"/>
              <p:cNvSpPr/>
              <p:nvPr/>
            </p:nvSpPr>
            <p:spPr>
              <a:xfrm rot="16200000">
                <a:off x="4364280" y="1973361"/>
                <a:ext cx="579240" cy="3678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tabLst>
                    <a:tab pos="0" algn="l"/>
                  </a:tabLst>
                </a:pPr>
                <a:r>
                  <a:rPr lang="en-GB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col1</a:t>
                </a:r>
                <a:endParaRPr lang="en-GB" spc="-1">
                  <a:latin typeface="Arial"/>
                </a:endParaRPr>
              </a:p>
            </p:txBody>
          </p:sp>
          <p:sp>
            <p:nvSpPr>
              <p:cNvPr id="216" name="CustomShape 23"/>
              <p:cNvSpPr/>
              <p:nvPr/>
            </p:nvSpPr>
            <p:spPr>
              <a:xfrm rot="16200000">
                <a:off x="4677480" y="1973361"/>
                <a:ext cx="579240" cy="3678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tabLst>
                    <a:tab pos="0" algn="l"/>
                  </a:tabLst>
                </a:pPr>
                <a:r>
                  <a:rPr lang="en-GB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col3</a:t>
                </a:r>
                <a:endParaRPr lang="en-GB" spc="-1">
                  <a:latin typeface="Arial"/>
                </a:endParaRPr>
              </a:p>
            </p:txBody>
          </p:sp>
          <p:sp>
            <p:nvSpPr>
              <p:cNvPr id="217" name="CustomShape 24"/>
              <p:cNvSpPr/>
              <p:nvPr/>
            </p:nvSpPr>
            <p:spPr>
              <a:xfrm>
                <a:off x="4710960" y="2671200"/>
                <a:ext cx="496080" cy="3678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GB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1.9</a:t>
                </a:r>
                <a:endParaRPr lang="en-GB" spc="-1">
                  <a:latin typeface="Arial"/>
                </a:endParaRPr>
              </a:p>
            </p:txBody>
          </p:sp>
          <p:sp>
            <p:nvSpPr>
              <p:cNvPr id="218" name="CustomShape 25"/>
              <p:cNvSpPr/>
              <p:nvPr/>
            </p:nvSpPr>
            <p:spPr>
              <a:xfrm>
                <a:off x="4710960" y="2947680"/>
                <a:ext cx="496080" cy="3678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GB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2.1</a:t>
                </a:r>
                <a:endParaRPr lang="en-GB" spc="-1">
                  <a:latin typeface="Arial"/>
                </a:endParaRPr>
              </a:p>
            </p:txBody>
          </p:sp>
          <p:sp>
            <p:nvSpPr>
              <p:cNvPr id="219" name="CustomShape 26"/>
              <p:cNvSpPr/>
              <p:nvPr/>
            </p:nvSpPr>
            <p:spPr>
              <a:xfrm>
                <a:off x="4710960" y="3217320"/>
                <a:ext cx="496080" cy="3678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GB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2.4</a:t>
                </a:r>
                <a:endParaRPr lang="en-GB" spc="-1">
                  <a:latin typeface="Arial"/>
                </a:endParaRPr>
              </a:p>
            </p:txBody>
          </p:sp>
        </p:grpSp>
        <p:grpSp>
          <p:nvGrpSpPr>
            <p:cNvPr id="220" name="Group 27"/>
            <p:cNvGrpSpPr/>
            <p:nvPr/>
          </p:nvGrpSpPr>
          <p:grpSpPr>
            <a:xfrm>
              <a:off x="2296800" y="1867680"/>
              <a:ext cx="1387080" cy="1717518"/>
              <a:chOff x="2296800" y="1867680"/>
              <a:chExt cx="1387080" cy="1717518"/>
            </a:xfrm>
          </p:grpSpPr>
          <p:sp>
            <p:nvSpPr>
              <p:cNvPr id="221" name="CustomShape 28"/>
              <p:cNvSpPr/>
              <p:nvPr/>
            </p:nvSpPr>
            <p:spPr>
              <a:xfrm>
                <a:off x="2624040" y="2414160"/>
                <a:ext cx="329400" cy="3432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GB" sz="1640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spc="-1">
                  <a:latin typeface="Arial"/>
                </a:endParaRPr>
              </a:p>
            </p:txBody>
          </p:sp>
          <p:sp>
            <p:nvSpPr>
              <p:cNvPr id="222" name="CustomShape 29"/>
              <p:cNvSpPr/>
              <p:nvPr/>
            </p:nvSpPr>
            <p:spPr>
              <a:xfrm>
                <a:off x="2951280" y="2414160"/>
                <a:ext cx="309960" cy="3432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GB" sz="1640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spc="-1">
                  <a:latin typeface="Arial"/>
                </a:endParaRPr>
              </a:p>
            </p:txBody>
          </p:sp>
          <p:sp>
            <p:nvSpPr>
              <p:cNvPr id="223" name="CustomShape 30"/>
              <p:cNvSpPr/>
              <p:nvPr/>
            </p:nvSpPr>
            <p:spPr>
              <a:xfrm>
                <a:off x="2640240" y="271224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24" name="CustomShape 31"/>
              <p:cNvSpPr/>
              <p:nvPr/>
            </p:nvSpPr>
            <p:spPr>
              <a:xfrm>
                <a:off x="2951280" y="271224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25" name="CustomShape 32"/>
              <p:cNvSpPr/>
              <p:nvPr/>
            </p:nvSpPr>
            <p:spPr>
              <a:xfrm>
                <a:off x="3257640" y="271224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26" name="CustomShape 33"/>
              <p:cNvSpPr/>
              <p:nvPr/>
            </p:nvSpPr>
            <p:spPr>
              <a:xfrm>
                <a:off x="2640240" y="2981880"/>
                <a:ext cx="309960" cy="26856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27" name="CustomShape 34"/>
              <p:cNvSpPr/>
              <p:nvPr/>
            </p:nvSpPr>
            <p:spPr>
              <a:xfrm>
                <a:off x="2951280" y="2981880"/>
                <a:ext cx="309960" cy="268560"/>
              </a:xfrm>
              <a:prstGeom prst="rect">
                <a:avLst/>
              </a:prstGeom>
              <a:solidFill>
                <a:srgbClr val="FFFFCC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28" name="CustomShape 35"/>
              <p:cNvSpPr/>
              <p:nvPr/>
            </p:nvSpPr>
            <p:spPr>
              <a:xfrm>
                <a:off x="3257640" y="29818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29" name="CustomShape 36"/>
              <p:cNvSpPr/>
              <p:nvPr/>
            </p:nvSpPr>
            <p:spPr>
              <a:xfrm>
                <a:off x="2640240" y="3251520"/>
                <a:ext cx="309960" cy="26856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30" name="CustomShape 37"/>
              <p:cNvSpPr/>
              <p:nvPr/>
            </p:nvSpPr>
            <p:spPr>
              <a:xfrm>
                <a:off x="2951280" y="3251520"/>
                <a:ext cx="309960" cy="268560"/>
              </a:xfrm>
              <a:prstGeom prst="rect">
                <a:avLst/>
              </a:prstGeom>
              <a:solidFill>
                <a:srgbClr val="FFFFFF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31" name="CustomShape 38"/>
              <p:cNvSpPr/>
              <p:nvPr/>
            </p:nvSpPr>
            <p:spPr>
              <a:xfrm>
                <a:off x="3257640" y="325152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32" name="CustomShape 39"/>
              <p:cNvSpPr/>
              <p:nvPr/>
            </p:nvSpPr>
            <p:spPr>
              <a:xfrm>
                <a:off x="2296800" y="2674800"/>
                <a:ext cx="309960" cy="3432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GB" sz="1640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spc="-1">
                  <a:latin typeface="Arial"/>
                </a:endParaRPr>
              </a:p>
            </p:txBody>
          </p:sp>
          <p:sp>
            <p:nvSpPr>
              <p:cNvPr id="233" name="CustomShape 40"/>
              <p:cNvSpPr/>
              <p:nvPr/>
            </p:nvSpPr>
            <p:spPr>
              <a:xfrm>
                <a:off x="2296800" y="2949120"/>
                <a:ext cx="309960" cy="3432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GB" sz="1640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spc="-1">
                  <a:latin typeface="Arial"/>
                </a:endParaRPr>
              </a:p>
            </p:txBody>
          </p:sp>
          <p:sp>
            <p:nvSpPr>
              <p:cNvPr id="234" name="CustomShape 41"/>
              <p:cNvSpPr/>
              <p:nvPr/>
            </p:nvSpPr>
            <p:spPr>
              <a:xfrm>
                <a:off x="2296800" y="3223440"/>
                <a:ext cx="309960" cy="3432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GB" sz="1640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spc="-1">
                  <a:latin typeface="Arial"/>
                </a:endParaRPr>
              </a:p>
            </p:txBody>
          </p:sp>
          <p:sp>
            <p:nvSpPr>
              <p:cNvPr id="235" name="CustomShape 42"/>
              <p:cNvSpPr/>
              <p:nvPr/>
            </p:nvSpPr>
            <p:spPr>
              <a:xfrm>
                <a:off x="3257640" y="2414160"/>
                <a:ext cx="309960" cy="3432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GB" sz="1640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spc="-1">
                  <a:latin typeface="Arial"/>
                </a:endParaRPr>
              </a:p>
            </p:txBody>
          </p:sp>
          <p:sp>
            <p:nvSpPr>
              <p:cNvPr id="236" name="CustomShape 43"/>
              <p:cNvSpPr/>
              <p:nvPr/>
            </p:nvSpPr>
            <p:spPr>
              <a:xfrm rot="16200000">
                <a:off x="2506680" y="1973361"/>
                <a:ext cx="579240" cy="3678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tabLst>
                    <a:tab pos="0" algn="l"/>
                  </a:tabLst>
                </a:pPr>
                <a:r>
                  <a:rPr lang="en-GB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col1</a:t>
                </a:r>
                <a:endParaRPr lang="en-GB" spc="-1">
                  <a:latin typeface="Arial"/>
                </a:endParaRPr>
              </a:p>
            </p:txBody>
          </p:sp>
          <p:sp>
            <p:nvSpPr>
              <p:cNvPr id="237" name="CustomShape 44"/>
              <p:cNvSpPr/>
              <p:nvPr/>
            </p:nvSpPr>
            <p:spPr>
              <a:xfrm rot="16200000">
                <a:off x="2813760" y="1973361"/>
                <a:ext cx="579240" cy="3678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tabLst>
                    <a:tab pos="0" algn="l"/>
                  </a:tabLst>
                </a:pPr>
                <a:r>
                  <a:rPr lang="en-GB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col2</a:t>
                </a:r>
                <a:endParaRPr lang="en-GB" spc="-1">
                  <a:latin typeface="Arial"/>
                </a:endParaRPr>
              </a:p>
            </p:txBody>
          </p:sp>
          <p:sp>
            <p:nvSpPr>
              <p:cNvPr id="238" name="CustomShape 45"/>
              <p:cNvSpPr/>
              <p:nvPr/>
            </p:nvSpPr>
            <p:spPr>
              <a:xfrm rot="16200000">
                <a:off x="3112920" y="1973361"/>
                <a:ext cx="579240" cy="3678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tabLst>
                    <a:tab pos="0" algn="l"/>
                  </a:tabLst>
                </a:pPr>
                <a:r>
                  <a:rPr lang="en-GB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col3</a:t>
                </a:r>
                <a:endParaRPr lang="en-GB" spc="-1">
                  <a:latin typeface="Arial"/>
                </a:endParaRPr>
              </a:p>
            </p:txBody>
          </p:sp>
          <p:sp>
            <p:nvSpPr>
              <p:cNvPr id="239" name="CustomShape 46"/>
              <p:cNvSpPr/>
              <p:nvPr/>
            </p:nvSpPr>
            <p:spPr>
              <a:xfrm>
                <a:off x="2807280" y="2734920"/>
                <a:ext cx="360" cy="7621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>
                <a:round/>
                <a:tailEnd type="triangle" w="med" len="med"/>
              </a:ln>
              <a:effectLst>
                <a:outerShdw blurRad="40000" dist="20160" dir="5400000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40" name="CustomShape 47"/>
              <p:cNvSpPr/>
              <p:nvPr/>
            </p:nvSpPr>
            <p:spPr>
              <a:xfrm>
                <a:off x="3187800" y="2671200"/>
                <a:ext cx="496080" cy="3678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GB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1.9</a:t>
                </a:r>
                <a:endParaRPr lang="en-GB" spc="-1">
                  <a:latin typeface="Arial"/>
                </a:endParaRPr>
              </a:p>
            </p:txBody>
          </p:sp>
          <p:sp>
            <p:nvSpPr>
              <p:cNvPr id="241" name="CustomShape 48"/>
              <p:cNvSpPr/>
              <p:nvPr/>
            </p:nvSpPr>
            <p:spPr>
              <a:xfrm>
                <a:off x="3187800" y="2947680"/>
                <a:ext cx="496080" cy="3678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GB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2.1</a:t>
                </a:r>
                <a:endParaRPr lang="en-GB" spc="-1">
                  <a:latin typeface="Arial"/>
                </a:endParaRPr>
              </a:p>
            </p:txBody>
          </p:sp>
          <p:sp>
            <p:nvSpPr>
              <p:cNvPr id="242" name="CustomShape 49"/>
              <p:cNvSpPr/>
              <p:nvPr/>
            </p:nvSpPr>
            <p:spPr>
              <a:xfrm>
                <a:off x="3187800" y="3217320"/>
                <a:ext cx="496080" cy="3678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GB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2.4</a:t>
                </a:r>
                <a:endParaRPr lang="en-GB" spc="-1">
                  <a:latin typeface="Arial"/>
                </a:endParaRPr>
              </a:p>
            </p:txBody>
          </p:sp>
        </p:grpSp>
        <p:grpSp>
          <p:nvGrpSpPr>
            <p:cNvPr id="243" name="Group 50"/>
            <p:cNvGrpSpPr/>
            <p:nvPr/>
          </p:nvGrpSpPr>
          <p:grpSpPr>
            <a:xfrm>
              <a:off x="462240" y="1867680"/>
              <a:ext cx="1364040" cy="1717518"/>
              <a:chOff x="462240" y="1867680"/>
              <a:chExt cx="1364040" cy="1717518"/>
            </a:xfrm>
          </p:grpSpPr>
          <p:sp>
            <p:nvSpPr>
              <p:cNvPr id="244" name="CustomShape 51"/>
              <p:cNvSpPr/>
              <p:nvPr/>
            </p:nvSpPr>
            <p:spPr>
              <a:xfrm>
                <a:off x="789840" y="2414160"/>
                <a:ext cx="329760" cy="3432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GB" sz="1640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spc="-1">
                  <a:latin typeface="Arial"/>
                </a:endParaRPr>
              </a:p>
            </p:txBody>
          </p:sp>
          <p:sp>
            <p:nvSpPr>
              <p:cNvPr id="245" name="CustomShape 52"/>
              <p:cNvSpPr/>
              <p:nvPr/>
            </p:nvSpPr>
            <p:spPr>
              <a:xfrm>
                <a:off x="1117080" y="2414160"/>
                <a:ext cx="309960" cy="3432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GB" sz="1640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spc="-1">
                  <a:latin typeface="Arial"/>
                </a:endParaRPr>
              </a:p>
            </p:txBody>
          </p:sp>
          <p:sp>
            <p:nvSpPr>
              <p:cNvPr id="246" name="CustomShape 53"/>
              <p:cNvSpPr/>
              <p:nvPr/>
            </p:nvSpPr>
            <p:spPr>
              <a:xfrm>
                <a:off x="788040" y="2712240"/>
                <a:ext cx="309960" cy="26856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47" name="CustomShape 54"/>
              <p:cNvSpPr/>
              <p:nvPr/>
            </p:nvSpPr>
            <p:spPr>
              <a:xfrm>
                <a:off x="1099080" y="2712240"/>
                <a:ext cx="309960" cy="268560"/>
              </a:xfrm>
              <a:prstGeom prst="rect">
                <a:avLst/>
              </a:prstGeom>
              <a:solidFill>
                <a:srgbClr val="FFFFCC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48" name="CustomShape 55"/>
              <p:cNvSpPr/>
              <p:nvPr/>
            </p:nvSpPr>
            <p:spPr>
              <a:xfrm>
                <a:off x="1405080" y="271224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49" name="CustomShape 56"/>
              <p:cNvSpPr/>
              <p:nvPr/>
            </p:nvSpPr>
            <p:spPr>
              <a:xfrm>
                <a:off x="788040" y="2981880"/>
                <a:ext cx="309960" cy="26856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50" name="CustomShape 57"/>
              <p:cNvSpPr/>
              <p:nvPr/>
            </p:nvSpPr>
            <p:spPr>
              <a:xfrm>
                <a:off x="1099080" y="2981880"/>
                <a:ext cx="309960" cy="268560"/>
              </a:xfrm>
              <a:prstGeom prst="rect">
                <a:avLst/>
              </a:prstGeom>
              <a:solidFill>
                <a:srgbClr val="FFFFFF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51" name="CustomShape 58"/>
              <p:cNvSpPr/>
              <p:nvPr/>
            </p:nvSpPr>
            <p:spPr>
              <a:xfrm>
                <a:off x="1405080" y="29818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52" name="CustomShape 59"/>
              <p:cNvSpPr/>
              <p:nvPr/>
            </p:nvSpPr>
            <p:spPr>
              <a:xfrm>
                <a:off x="462240" y="2674800"/>
                <a:ext cx="309960" cy="3432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GB" sz="1640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spc="-1">
                  <a:latin typeface="Arial"/>
                </a:endParaRPr>
              </a:p>
            </p:txBody>
          </p:sp>
          <p:sp>
            <p:nvSpPr>
              <p:cNvPr id="253" name="CustomShape 60"/>
              <p:cNvSpPr/>
              <p:nvPr/>
            </p:nvSpPr>
            <p:spPr>
              <a:xfrm>
                <a:off x="462240" y="2949120"/>
                <a:ext cx="309960" cy="3432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GB" sz="1640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spc="-1">
                  <a:latin typeface="Arial"/>
                </a:endParaRPr>
              </a:p>
            </p:txBody>
          </p:sp>
          <p:sp>
            <p:nvSpPr>
              <p:cNvPr id="254" name="CustomShape 61"/>
              <p:cNvSpPr/>
              <p:nvPr/>
            </p:nvSpPr>
            <p:spPr>
              <a:xfrm>
                <a:off x="462240" y="3223440"/>
                <a:ext cx="309960" cy="3432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GB" sz="1640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spc="-1">
                  <a:latin typeface="Arial"/>
                </a:endParaRPr>
              </a:p>
            </p:txBody>
          </p:sp>
          <p:sp>
            <p:nvSpPr>
              <p:cNvPr id="255" name="CustomShape 62"/>
              <p:cNvSpPr/>
              <p:nvPr/>
            </p:nvSpPr>
            <p:spPr>
              <a:xfrm>
                <a:off x="1423080" y="2414160"/>
                <a:ext cx="309960" cy="3432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GB" sz="1640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spc="-1">
                  <a:latin typeface="Arial"/>
                </a:endParaRPr>
              </a:p>
            </p:txBody>
          </p:sp>
          <p:sp>
            <p:nvSpPr>
              <p:cNvPr id="256" name="CustomShape 63"/>
              <p:cNvSpPr/>
              <p:nvPr/>
            </p:nvSpPr>
            <p:spPr>
              <a:xfrm rot="16200000">
                <a:off x="672120" y="1973361"/>
                <a:ext cx="579240" cy="3678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tabLst>
                    <a:tab pos="0" algn="l"/>
                  </a:tabLst>
                </a:pPr>
                <a:r>
                  <a:rPr lang="en-GB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col1</a:t>
                </a:r>
                <a:endParaRPr lang="en-GB" spc="-1">
                  <a:latin typeface="Arial"/>
                </a:endParaRPr>
              </a:p>
            </p:txBody>
          </p:sp>
          <p:sp>
            <p:nvSpPr>
              <p:cNvPr id="257" name="CustomShape 64"/>
              <p:cNvSpPr/>
              <p:nvPr/>
            </p:nvSpPr>
            <p:spPr>
              <a:xfrm rot="16200000">
                <a:off x="979560" y="1973361"/>
                <a:ext cx="579240" cy="3678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tabLst>
                    <a:tab pos="0" algn="l"/>
                  </a:tabLst>
                </a:pPr>
                <a:r>
                  <a:rPr lang="en-GB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col2</a:t>
                </a:r>
                <a:endParaRPr lang="en-GB" spc="-1">
                  <a:latin typeface="Arial"/>
                </a:endParaRPr>
              </a:p>
            </p:txBody>
          </p:sp>
          <p:sp>
            <p:nvSpPr>
              <p:cNvPr id="258" name="CustomShape 65"/>
              <p:cNvSpPr/>
              <p:nvPr/>
            </p:nvSpPr>
            <p:spPr>
              <a:xfrm rot="16200000">
                <a:off x="1278360" y="1973361"/>
                <a:ext cx="579240" cy="3678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tabLst>
                    <a:tab pos="0" algn="l"/>
                  </a:tabLst>
                </a:pPr>
                <a:r>
                  <a:rPr lang="en-GB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col3</a:t>
                </a:r>
                <a:endParaRPr lang="en-GB" spc="-1">
                  <a:latin typeface="Arial"/>
                </a:endParaRPr>
              </a:p>
            </p:txBody>
          </p:sp>
          <p:sp>
            <p:nvSpPr>
              <p:cNvPr id="259" name="CustomShape 66"/>
              <p:cNvSpPr/>
              <p:nvPr/>
            </p:nvSpPr>
            <p:spPr>
              <a:xfrm>
                <a:off x="788040" y="325152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60" name="CustomShape 67"/>
              <p:cNvSpPr/>
              <p:nvPr/>
            </p:nvSpPr>
            <p:spPr>
              <a:xfrm>
                <a:off x="1099080" y="325152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61" name="CustomShape 68"/>
              <p:cNvSpPr/>
              <p:nvPr/>
            </p:nvSpPr>
            <p:spPr>
              <a:xfrm>
                <a:off x="1405080" y="325152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62" name="CustomShape 69"/>
              <p:cNvSpPr/>
              <p:nvPr/>
            </p:nvSpPr>
            <p:spPr>
              <a:xfrm>
                <a:off x="1330200" y="2671200"/>
                <a:ext cx="496080" cy="3678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GB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1.9</a:t>
                </a:r>
                <a:endParaRPr lang="en-GB" spc="-1">
                  <a:latin typeface="Arial"/>
                </a:endParaRPr>
              </a:p>
            </p:txBody>
          </p:sp>
          <p:sp>
            <p:nvSpPr>
              <p:cNvPr id="263" name="CustomShape 70"/>
              <p:cNvSpPr/>
              <p:nvPr/>
            </p:nvSpPr>
            <p:spPr>
              <a:xfrm>
                <a:off x="1330200" y="2947680"/>
                <a:ext cx="496080" cy="3678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GB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2.1</a:t>
                </a:r>
                <a:endParaRPr lang="en-GB" spc="-1">
                  <a:latin typeface="Arial"/>
                </a:endParaRPr>
              </a:p>
            </p:txBody>
          </p:sp>
          <p:sp>
            <p:nvSpPr>
              <p:cNvPr id="264" name="CustomShape 71"/>
              <p:cNvSpPr/>
              <p:nvPr/>
            </p:nvSpPr>
            <p:spPr>
              <a:xfrm>
                <a:off x="1330200" y="3217320"/>
                <a:ext cx="496080" cy="3678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GB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2.4</a:t>
                </a:r>
                <a:endParaRPr lang="en-GB" spc="-1">
                  <a:latin typeface="Arial"/>
                </a:endParaRPr>
              </a:p>
            </p:txBody>
          </p:sp>
        </p:grpSp>
        <p:grpSp>
          <p:nvGrpSpPr>
            <p:cNvPr id="265" name="Group 72"/>
            <p:cNvGrpSpPr/>
            <p:nvPr/>
          </p:nvGrpSpPr>
          <p:grpSpPr>
            <a:xfrm>
              <a:off x="5677560" y="2128320"/>
              <a:ext cx="1090800" cy="1456878"/>
              <a:chOff x="5677560" y="2128320"/>
              <a:chExt cx="1090800" cy="1456878"/>
            </a:xfrm>
          </p:grpSpPr>
          <p:sp>
            <p:nvSpPr>
              <p:cNvPr id="266" name="CustomShape 73"/>
              <p:cNvSpPr/>
              <p:nvPr/>
            </p:nvSpPr>
            <p:spPr>
              <a:xfrm>
                <a:off x="6004800" y="2674800"/>
                <a:ext cx="329760" cy="3432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GB" sz="1640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spc="-1">
                  <a:latin typeface="Arial"/>
                </a:endParaRPr>
              </a:p>
            </p:txBody>
          </p:sp>
          <p:sp>
            <p:nvSpPr>
              <p:cNvPr id="267" name="CustomShape 74"/>
              <p:cNvSpPr/>
              <p:nvPr/>
            </p:nvSpPr>
            <p:spPr>
              <a:xfrm>
                <a:off x="6021000" y="2985120"/>
                <a:ext cx="309960" cy="26856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68" name="CustomShape 75"/>
              <p:cNvSpPr/>
              <p:nvPr/>
            </p:nvSpPr>
            <p:spPr>
              <a:xfrm>
                <a:off x="6356880" y="29811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69" name="CustomShape 76"/>
              <p:cNvSpPr/>
              <p:nvPr/>
            </p:nvSpPr>
            <p:spPr>
              <a:xfrm>
                <a:off x="6021000" y="3254400"/>
                <a:ext cx="309960" cy="26856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70" name="CustomShape 77"/>
              <p:cNvSpPr/>
              <p:nvPr/>
            </p:nvSpPr>
            <p:spPr>
              <a:xfrm>
                <a:off x="6356880" y="325080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71" name="CustomShape 78"/>
              <p:cNvSpPr/>
              <p:nvPr/>
            </p:nvSpPr>
            <p:spPr>
              <a:xfrm>
                <a:off x="5677560" y="2935440"/>
                <a:ext cx="309960" cy="3432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GB" sz="1640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spc="-1">
                  <a:latin typeface="Arial"/>
                </a:endParaRPr>
              </a:p>
            </p:txBody>
          </p:sp>
          <p:sp>
            <p:nvSpPr>
              <p:cNvPr id="272" name="CustomShape 79"/>
              <p:cNvSpPr/>
              <p:nvPr/>
            </p:nvSpPr>
            <p:spPr>
              <a:xfrm>
                <a:off x="5677560" y="3209760"/>
                <a:ext cx="309960" cy="3432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GB" sz="1640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spc="-1">
                  <a:latin typeface="Arial"/>
                </a:endParaRPr>
              </a:p>
            </p:txBody>
          </p:sp>
          <p:sp>
            <p:nvSpPr>
              <p:cNvPr id="273" name="CustomShape 80"/>
              <p:cNvSpPr/>
              <p:nvPr/>
            </p:nvSpPr>
            <p:spPr>
              <a:xfrm>
                <a:off x="6345360" y="2674800"/>
                <a:ext cx="309960" cy="3432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GB" sz="1640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spc="-1">
                  <a:latin typeface="Arial"/>
                </a:endParaRPr>
              </a:p>
            </p:txBody>
          </p:sp>
          <p:sp>
            <p:nvSpPr>
              <p:cNvPr id="274" name="CustomShape 81"/>
              <p:cNvSpPr/>
              <p:nvPr/>
            </p:nvSpPr>
            <p:spPr>
              <a:xfrm rot="16200000">
                <a:off x="5887080" y="2234001"/>
                <a:ext cx="579240" cy="3678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tabLst>
                    <a:tab pos="0" algn="l"/>
                  </a:tabLst>
                </a:pPr>
                <a:r>
                  <a:rPr lang="en-GB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col1</a:t>
                </a:r>
                <a:endParaRPr lang="en-GB" spc="-1">
                  <a:latin typeface="Arial"/>
                </a:endParaRPr>
              </a:p>
            </p:txBody>
          </p:sp>
          <p:sp>
            <p:nvSpPr>
              <p:cNvPr id="275" name="CustomShape 82"/>
              <p:cNvSpPr/>
              <p:nvPr/>
            </p:nvSpPr>
            <p:spPr>
              <a:xfrm rot="16200000">
                <a:off x="6200640" y="2234001"/>
                <a:ext cx="579240" cy="3678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tabLst>
                    <a:tab pos="0" algn="l"/>
                  </a:tabLst>
                </a:pPr>
                <a:r>
                  <a:rPr lang="en-GB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col3</a:t>
                </a:r>
                <a:endParaRPr lang="en-GB" spc="-1">
                  <a:latin typeface="Arial"/>
                </a:endParaRPr>
              </a:p>
            </p:txBody>
          </p:sp>
          <p:sp>
            <p:nvSpPr>
              <p:cNvPr id="276" name="CustomShape 83"/>
              <p:cNvSpPr/>
              <p:nvPr/>
            </p:nvSpPr>
            <p:spPr>
              <a:xfrm>
                <a:off x="6272280" y="2947680"/>
                <a:ext cx="496080" cy="3678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GB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2.1</a:t>
                </a:r>
                <a:endParaRPr lang="en-GB" spc="-1">
                  <a:latin typeface="Arial"/>
                </a:endParaRPr>
              </a:p>
            </p:txBody>
          </p:sp>
          <p:sp>
            <p:nvSpPr>
              <p:cNvPr id="277" name="CustomShape 84"/>
              <p:cNvSpPr/>
              <p:nvPr/>
            </p:nvSpPr>
            <p:spPr>
              <a:xfrm>
                <a:off x="6272280" y="3217320"/>
                <a:ext cx="496080" cy="3678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GB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2.4</a:t>
                </a:r>
                <a:endParaRPr lang="en-GB" spc="-1">
                  <a:latin typeface="Arial"/>
                </a:endParaRPr>
              </a:p>
            </p:txBody>
          </p:sp>
        </p:grpSp>
        <p:sp>
          <p:nvSpPr>
            <p:cNvPr id="278" name="CustomShape 85"/>
            <p:cNvSpPr/>
            <p:nvPr/>
          </p:nvSpPr>
          <p:spPr>
            <a:xfrm>
              <a:off x="5424120" y="4093560"/>
              <a:ext cx="318600" cy="183600"/>
            </a:xfrm>
            <a:prstGeom prst="rightArrow">
              <a:avLst>
                <a:gd name="adj1" fmla="val 50000"/>
                <a:gd name="adj2" fmla="val 50000"/>
              </a:avLst>
            </a:prstGeom>
            <a:ln>
              <a:rou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9" name="CustomShape 86"/>
            <p:cNvSpPr/>
            <p:nvPr/>
          </p:nvSpPr>
          <p:spPr>
            <a:xfrm>
              <a:off x="7573680" y="3724200"/>
              <a:ext cx="959760" cy="92187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GB" spc="-1">
                  <a:solidFill>
                    <a:srgbClr val="000000"/>
                  </a:solidFill>
                  <a:latin typeface="Calibri"/>
                  <a:ea typeface="DejaVu Sans"/>
                </a:rPr>
                <a:t>Add new column</a:t>
              </a:r>
              <a:endParaRPr lang="en-GB" spc="-1">
                <a:latin typeface="Arial"/>
              </a:endParaRPr>
            </a:p>
          </p:txBody>
        </p:sp>
        <p:grpSp>
          <p:nvGrpSpPr>
            <p:cNvPr id="280" name="Group 87"/>
            <p:cNvGrpSpPr/>
            <p:nvPr/>
          </p:nvGrpSpPr>
          <p:grpSpPr>
            <a:xfrm>
              <a:off x="7238880" y="1714680"/>
              <a:ext cx="1445760" cy="1870518"/>
              <a:chOff x="7238880" y="1714680"/>
              <a:chExt cx="1445760" cy="1870518"/>
            </a:xfrm>
          </p:grpSpPr>
          <p:sp>
            <p:nvSpPr>
              <p:cNvPr id="281" name="CustomShape 88"/>
              <p:cNvSpPr/>
              <p:nvPr/>
            </p:nvSpPr>
            <p:spPr>
              <a:xfrm>
                <a:off x="7566120" y="2674800"/>
                <a:ext cx="329760" cy="3432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GB" sz="1640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spc="-1">
                  <a:latin typeface="Arial"/>
                </a:endParaRPr>
              </a:p>
            </p:txBody>
          </p:sp>
          <p:sp>
            <p:nvSpPr>
              <p:cNvPr id="282" name="CustomShape 89"/>
              <p:cNvSpPr/>
              <p:nvPr/>
            </p:nvSpPr>
            <p:spPr>
              <a:xfrm>
                <a:off x="7582320" y="2985120"/>
                <a:ext cx="309960" cy="26856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83" name="CustomShape 90"/>
              <p:cNvSpPr/>
              <p:nvPr/>
            </p:nvSpPr>
            <p:spPr>
              <a:xfrm>
                <a:off x="7918200" y="29811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84" name="CustomShape 91"/>
              <p:cNvSpPr/>
              <p:nvPr/>
            </p:nvSpPr>
            <p:spPr>
              <a:xfrm>
                <a:off x="7582320" y="3254400"/>
                <a:ext cx="309960" cy="26856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85" name="CustomShape 92"/>
              <p:cNvSpPr/>
              <p:nvPr/>
            </p:nvSpPr>
            <p:spPr>
              <a:xfrm>
                <a:off x="7918200" y="325080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86" name="CustomShape 93"/>
              <p:cNvSpPr/>
              <p:nvPr/>
            </p:nvSpPr>
            <p:spPr>
              <a:xfrm>
                <a:off x="7238880" y="2935440"/>
                <a:ext cx="309960" cy="3432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GB" sz="1640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spc="-1">
                  <a:latin typeface="Arial"/>
                </a:endParaRPr>
              </a:p>
            </p:txBody>
          </p:sp>
          <p:sp>
            <p:nvSpPr>
              <p:cNvPr id="287" name="CustomShape 94"/>
              <p:cNvSpPr/>
              <p:nvPr/>
            </p:nvSpPr>
            <p:spPr>
              <a:xfrm>
                <a:off x="7238880" y="3209760"/>
                <a:ext cx="309960" cy="3432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GB" sz="1640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spc="-1">
                  <a:latin typeface="Arial"/>
                </a:endParaRPr>
              </a:p>
            </p:txBody>
          </p:sp>
          <p:sp>
            <p:nvSpPr>
              <p:cNvPr id="288" name="CustomShape 95"/>
              <p:cNvSpPr/>
              <p:nvPr/>
            </p:nvSpPr>
            <p:spPr>
              <a:xfrm>
                <a:off x="7906680" y="2674800"/>
                <a:ext cx="309960" cy="3432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GB" sz="1640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spc="-1">
                  <a:latin typeface="Arial"/>
                </a:endParaRPr>
              </a:p>
            </p:txBody>
          </p:sp>
          <p:sp>
            <p:nvSpPr>
              <p:cNvPr id="289" name="CustomShape 96"/>
              <p:cNvSpPr/>
              <p:nvPr/>
            </p:nvSpPr>
            <p:spPr>
              <a:xfrm rot="16200000">
                <a:off x="7448400" y="2234001"/>
                <a:ext cx="579240" cy="3678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tabLst>
                    <a:tab pos="0" algn="l"/>
                  </a:tabLst>
                </a:pPr>
                <a:r>
                  <a:rPr lang="en-GB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col1</a:t>
                </a:r>
                <a:endParaRPr lang="en-GB" spc="-1">
                  <a:latin typeface="Arial"/>
                </a:endParaRPr>
              </a:p>
            </p:txBody>
          </p:sp>
          <p:sp>
            <p:nvSpPr>
              <p:cNvPr id="290" name="CustomShape 97"/>
              <p:cNvSpPr/>
              <p:nvPr/>
            </p:nvSpPr>
            <p:spPr>
              <a:xfrm rot="16200000">
                <a:off x="7761960" y="2234001"/>
                <a:ext cx="579240" cy="3678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tabLst>
                    <a:tab pos="0" algn="l"/>
                  </a:tabLst>
                </a:pPr>
                <a:r>
                  <a:rPr lang="en-GB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col3</a:t>
                </a:r>
                <a:endParaRPr lang="en-GB" spc="-1">
                  <a:latin typeface="Arial"/>
                </a:endParaRPr>
              </a:p>
            </p:txBody>
          </p:sp>
          <p:sp>
            <p:nvSpPr>
              <p:cNvPr id="291" name="CustomShape 98"/>
              <p:cNvSpPr/>
              <p:nvPr/>
            </p:nvSpPr>
            <p:spPr>
              <a:xfrm>
                <a:off x="7833600" y="2947680"/>
                <a:ext cx="496080" cy="3678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GB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2.1</a:t>
                </a:r>
                <a:endParaRPr lang="en-GB" spc="-1">
                  <a:latin typeface="Arial"/>
                </a:endParaRPr>
              </a:p>
            </p:txBody>
          </p:sp>
          <p:sp>
            <p:nvSpPr>
              <p:cNvPr id="292" name="CustomShape 99"/>
              <p:cNvSpPr/>
              <p:nvPr/>
            </p:nvSpPr>
            <p:spPr>
              <a:xfrm>
                <a:off x="7833600" y="3217320"/>
                <a:ext cx="496080" cy="3678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GB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2.4</a:t>
                </a:r>
                <a:endParaRPr lang="en-GB" spc="-1">
                  <a:latin typeface="Arial"/>
                </a:endParaRPr>
              </a:p>
            </p:txBody>
          </p:sp>
          <p:sp>
            <p:nvSpPr>
              <p:cNvPr id="293" name="CustomShape 100"/>
              <p:cNvSpPr/>
              <p:nvPr/>
            </p:nvSpPr>
            <p:spPr>
              <a:xfrm>
                <a:off x="8232840" y="298260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4" name="CustomShape 101"/>
              <p:cNvSpPr/>
              <p:nvPr/>
            </p:nvSpPr>
            <p:spPr>
              <a:xfrm>
                <a:off x="8232840" y="32518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5" name="CustomShape 102"/>
              <p:cNvSpPr/>
              <p:nvPr/>
            </p:nvSpPr>
            <p:spPr>
              <a:xfrm rot="16200000">
                <a:off x="7887960" y="2028441"/>
                <a:ext cx="995400" cy="3678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tabLst>
                    <a:tab pos="0" algn="l"/>
                  </a:tabLst>
                </a:pPr>
                <a:r>
                  <a:rPr lang="en-GB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new_col</a:t>
                </a:r>
                <a:endParaRPr lang="en-GB" spc="-1">
                  <a:latin typeface="Arial"/>
                </a:endParaRPr>
              </a:p>
            </p:txBody>
          </p:sp>
          <p:sp>
            <p:nvSpPr>
              <p:cNvPr id="296" name="CustomShape 103"/>
              <p:cNvSpPr/>
              <p:nvPr/>
            </p:nvSpPr>
            <p:spPr>
              <a:xfrm>
                <a:off x="8175960" y="3204720"/>
                <a:ext cx="496080" cy="3678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GB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24</a:t>
                </a:r>
                <a:endParaRPr lang="en-GB" spc="-1">
                  <a:latin typeface="Arial"/>
                </a:endParaRPr>
              </a:p>
            </p:txBody>
          </p:sp>
          <p:sp>
            <p:nvSpPr>
              <p:cNvPr id="297" name="CustomShape 104"/>
              <p:cNvSpPr/>
              <p:nvPr/>
            </p:nvSpPr>
            <p:spPr>
              <a:xfrm>
                <a:off x="8188560" y="2940120"/>
                <a:ext cx="496080" cy="3678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GB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21</a:t>
                </a:r>
                <a:endParaRPr lang="en-GB" spc="-1">
                  <a:latin typeface="Arial"/>
                </a:endParaRPr>
              </a:p>
            </p:txBody>
          </p:sp>
          <p:sp>
            <p:nvSpPr>
              <p:cNvPr id="298" name="CustomShape 105"/>
              <p:cNvSpPr/>
              <p:nvPr/>
            </p:nvSpPr>
            <p:spPr>
              <a:xfrm>
                <a:off x="8246520" y="2674800"/>
                <a:ext cx="309960" cy="3432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GB" sz="1640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spc="-1">
                  <a:latin typeface="Arial"/>
                </a:endParaRPr>
              </a:p>
            </p:txBody>
          </p:sp>
        </p:grpSp>
      </p:grpSp>
      <p:sp>
        <p:nvSpPr>
          <p:cNvPr id="299" name="CustomShape 106"/>
          <p:cNvSpPr/>
          <p:nvPr/>
        </p:nvSpPr>
        <p:spPr>
          <a:xfrm>
            <a:off x="1982100" y="3978868"/>
            <a:ext cx="8525880" cy="230687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 dirty="0">
                <a:solidFill>
                  <a:srgbClr val="000000"/>
                </a:solidFill>
                <a:ea typeface="DejaVu Sans"/>
              </a:rPr>
              <a:t>This can be achieved by using:</a:t>
            </a:r>
            <a:endParaRPr lang="en-GB" spc="-1" dirty="0"/>
          </a:p>
          <a:p>
            <a:pPr marL="285840" indent="-284760">
              <a:buClr>
                <a:srgbClr val="000000"/>
              </a:buClr>
              <a:buFont typeface="Arial"/>
              <a:buChar char="•"/>
            </a:pPr>
            <a:r>
              <a:rPr lang="en-GB" spc="-1" dirty="0">
                <a:solidFill>
                  <a:srgbClr val="000000"/>
                </a:solidFill>
                <a:ea typeface="DejaVu Sans"/>
              </a:rPr>
              <a:t>Base R – just the functions that come pre-installed in R</a:t>
            </a:r>
            <a:endParaRPr lang="en-GB" spc="-1" dirty="0"/>
          </a:p>
          <a:p>
            <a:pPr marL="285840" indent="-284760">
              <a:buClr>
                <a:srgbClr val="000000"/>
              </a:buClr>
              <a:buFont typeface="Arial"/>
              <a:buChar char="•"/>
            </a:pPr>
            <a:r>
              <a:rPr lang="en-GB" spc="-1" dirty="0">
                <a:solidFill>
                  <a:srgbClr val="000000"/>
                </a:solidFill>
                <a:ea typeface="DejaVu Sans"/>
              </a:rPr>
              <a:t>External packages – to make the analysis faster, more readable, more intuitive, etc.</a:t>
            </a:r>
            <a:endParaRPr lang="en-GB" spc="-1" dirty="0"/>
          </a:p>
          <a:p>
            <a:pPr marL="743040" lvl="1" indent="-284760">
              <a:buClr>
                <a:srgbClr val="000000"/>
              </a:buClr>
              <a:buFont typeface="Arial"/>
              <a:buChar char="•"/>
            </a:pPr>
            <a:r>
              <a:rPr lang="en-GB" spc="-1" dirty="0">
                <a:solidFill>
                  <a:srgbClr val="000000"/>
                </a:solidFill>
                <a:ea typeface="DejaVu Sans"/>
              </a:rPr>
              <a:t>The </a:t>
            </a:r>
            <a:r>
              <a:rPr lang="en-GB" spc="-1" dirty="0" err="1">
                <a:solidFill>
                  <a:srgbClr val="000000"/>
                </a:solidFill>
                <a:ea typeface="DejaVu Sans"/>
              </a:rPr>
              <a:t>data.table</a:t>
            </a:r>
            <a:r>
              <a:rPr lang="en-GB" spc="-1" dirty="0">
                <a:solidFill>
                  <a:srgbClr val="000000"/>
                </a:solidFill>
                <a:ea typeface="DejaVu Sans"/>
              </a:rPr>
              <a:t> package – speed, conciseness</a:t>
            </a:r>
            <a:endParaRPr lang="en-GB" spc="-1" dirty="0"/>
          </a:p>
          <a:p>
            <a:pPr marL="743040" lvl="1" indent="-284760">
              <a:buClr>
                <a:srgbClr val="000000"/>
              </a:buClr>
              <a:buFont typeface="Arial"/>
              <a:buChar char="•"/>
            </a:pPr>
            <a:r>
              <a:rPr lang="en-GB" spc="-1" dirty="0">
                <a:solidFill>
                  <a:srgbClr val="000000"/>
                </a:solidFill>
                <a:ea typeface="DejaVu Sans"/>
              </a:rPr>
              <a:t>The </a:t>
            </a:r>
            <a:r>
              <a:rPr lang="en-GB" spc="-1" dirty="0" err="1">
                <a:solidFill>
                  <a:srgbClr val="000000"/>
                </a:solidFill>
                <a:ea typeface="DejaVu Sans"/>
              </a:rPr>
              <a:t>dplyr</a:t>
            </a:r>
            <a:r>
              <a:rPr lang="en-GB" spc="-1" dirty="0">
                <a:solidFill>
                  <a:srgbClr val="000000"/>
                </a:solidFill>
                <a:ea typeface="DejaVu Sans"/>
              </a:rPr>
              <a:t> package (</a:t>
            </a:r>
            <a:r>
              <a:rPr lang="en-GB" spc="-1" dirty="0" err="1">
                <a:solidFill>
                  <a:srgbClr val="000000"/>
                </a:solidFill>
                <a:ea typeface="DejaVu Sans"/>
              </a:rPr>
              <a:t>Tidyverse</a:t>
            </a:r>
            <a:r>
              <a:rPr lang="en-GB" spc="-1" dirty="0">
                <a:solidFill>
                  <a:srgbClr val="000000"/>
                </a:solidFill>
                <a:ea typeface="DejaVu Sans"/>
              </a:rPr>
              <a:t>) – readability, beginner-friendly</a:t>
            </a:r>
            <a:endParaRPr lang="en-GB" spc="-1" dirty="0"/>
          </a:p>
          <a:p>
            <a:pPr marL="743040" lvl="1" indent="-284760">
              <a:buClr>
                <a:srgbClr val="000000"/>
              </a:buClr>
              <a:buFont typeface="Arial"/>
              <a:buChar char="•"/>
            </a:pPr>
            <a:r>
              <a:rPr lang="en-GB" spc="-1" dirty="0">
                <a:solidFill>
                  <a:srgbClr val="000000"/>
                </a:solidFill>
                <a:ea typeface="DejaVu Sans"/>
              </a:rPr>
              <a:t>Other packages are available, but more help available online for the popular ones</a:t>
            </a:r>
            <a:endParaRPr lang="en-GB" spc="-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CustomShape 1"/>
          <p:cNvSpPr/>
          <p:nvPr/>
        </p:nvSpPr>
        <p:spPr>
          <a:xfrm>
            <a:off x="1982100" y="342476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spc="-1" dirty="0">
                <a:solidFill>
                  <a:schemeClr val="tx2"/>
                </a:solidFill>
                <a:latin typeface="+mj-lt"/>
                <a:ea typeface="DejaVu Sans"/>
              </a:rPr>
              <a:t>A typical workflow – base R</a:t>
            </a:r>
            <a:endParaRPr lang="en-GB" sz="3200" spc="-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01" name="CustomShape 2"/>
          <p:cNvSpPr/>
          <p:nvPr/>
        </p:nvSpPr>
        <p:spPr>
          <a:xfrm>
            <a:off x="1982100" y="3807477"/>
            <a:ext cx="7923240" cy="1198875"/>
          </a:xfrm>
          <a:prstGeom prst="rect">
            <a:avLst/>
          </a:prstGeom>
          <a:ln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B050"/>
                </a:solidFill>
                <a:latin typeface="Courier New"/>
                <a:ea typeface="DejaVu Sans"/>
              </a:rPr>
              <a:t>df1_sorted </a:t>
            </a: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= df1[order(df1$col1), ]</a:t>
            </a:r>
            <a:endParaRPr lang="en-GB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>
                <a:solidFill>
                  <a:srgbClr val="0070C0"/>
                </a:solidFill>
                <a:latin typeface="Courier New"/>
                <a:ea typeface="DejaVu Sans"/>
              </a:rPr>
              <a:t>df1_sel_vars </a:t>
            </a: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= </a:t>
            </a:r>
            <a:r>
              <a:rPr lang="en-GB" spc="-1">
                <a:solidFill>
                  <a:srgbClr val="00B050"/>
                </a:solidFill>
                <a:latin typeface="Courier New"/>
                <a:ea typeface="DejaVu Sans"/>
              </a:rPr>
              <a:t>df1_sorted</a:t>
            </a: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[, c(“col1”, “col3”)]</a:t>
            </a:r>
            <a:endParaRPr lang="en-GB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>
                <a:solidFill>
                  <a:srgbClr val="FF0000"/>
                </a:solidFill>
                <a:latin typeface="Courier New"/>
                <a:ea typeface="DejaVu Sans"/>
              </a:rPr>
              <a:t>df1_filtered </a:t>
            </a: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= </a:t>
            </a:r>
            <a:r>
              <a:rPr lang="en-GB" spc="-1">
                <a:solidFill>
                  <a:srgbClr val="0070C0"/>
                </a:solidFill>
                <a:latin typeface="Courier New"/>
                <a:ea typeface="DejaVu Sans"/>
              </a:rPr>
              <a:t>df1_sel_vars</a:t>
            </a: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[</a:t>
            </a:r>
            <a:r>
              <a:rPr lang="en-GB" spc="-1">
                <a:solidFill>
                  <a:srgbClr val="0070C0"/>
                </a:solidFill>
                <a:latin typeface="Courier New"/>
                <a:ea typeface="DejaVu Sans"/>
              </a:rPr>
              <a:t>df1_sel_vars</a:t>
            </a: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$col3 &gt; 2.0, ]</a:t>
            </a:r>
            <a:endParaRPr lang="en-GB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>
                <a:solidFill>
                  <a:srgbClr val="FF0000"/>
                </a:solidFill>
                <a:latin typeface="Courier New"/>
                <a:ea typeface="DejaVu Sans"/>
              </a:rPr>
              <a:t>df1_filtered</a:t>
            </a: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$new_col = </a:t>
            </a:r>
            <a:r>
              <a:rPr lang="en-GB" spc="-1">
                <a:solidFill>
                  <a:srgbClr val="FF0000"/>
                </a:solidFill>
                <a:latin typeface="Courier New"/>
                <a:ea typeface="DejaVu Sans"/>
              </a:rPr>
              <a:t>df1_filtered</a:t>
            </a: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$col3 * 10</a:t>
            </a:r>
            <a:endParaRPr lang="en-GB" spc="-1">
              <a:latin typeface="Arial"/>
            </a:endParaRPr>
          </a:p>
        </p:txBody>
      </p:sp>
      <p:pic>
        <p:nvPicPr>
          <p:cNvPr id="302" name="Picture 2"/>
          <p:cNvPicPr/>
          <p:nvPr/>
        </p:nvPicPr>
        <p:blipFill>
          <a:blip r:embed="rId2"/>
          <a:stretch/>
        </p:blipFill>
        <p:spPr>
          <a:xfrm>
            <a:off x="2823420" y="1300796"/>
            <a:ext cx="6288480" cy="2327760"/>
          </a:xfrm>
          <a:prstGeom prst="rect">
            <a:avLst/>
          </a:prstGeom>
          <a:ln>
            <a:noFill/>
          </a:ln>
        </p:spPr>
      </p:pic>
      <p:sp>
        <p:nvSpPr>
          <p:cNvPr id="303" name="CustomShape 3"/>
          <p:cNvSpPr/>
          <p:nvPr/>
        </p:nvSpPr>
        <p:spPr>
          <a:xfrm>
            <a:off x="1524900" y="5265117"/>
            <a:ext cx="9142920" cy="82954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600" spc="-1">
                <a:solidFill>
                  <a:srgbClr val="7030A0"/>
                </a:solidFill>
                <a:latin typeface="Courier New"/>
                <a:ea typeface="DejaVu Sans"/>
              </a:rPr>
              <a:t>df1_sort_sel_filtered </a:t>
            </a:r>
            <a:r>
              <a:rPr lang="en-GB" sz="1600" spc="-1">
                <a:solidFill>
                  <a:srgbClr val="000000"/>
                </a:solidFill>
                <a:latin typeface="Courier New"/>
                <a:ea typeface="DejaVu Sans"/>
              </a:rPr>
              <a:t>= df1[order(df1$col1), ][df1$col3 &gt; 2.0, c(“col1”, “col3”)]</a:t>
            </a:r>
            <a:endParaRPr lang="en-GB" sz="1600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600" spc="-1">
                <a:solidFill>
                  <a:srgbClr val="7030A0"/>
                </a:solidFill>
                <a:latin typeface="Courier New"/>
                <a:ea typeface="DejaVu Sans"/>
              </a:rPr>
              <a:t>df1_sort_sel_filtered</a:t>
            </a:r>
            <a:r>
              <a:rPr lang="en-GB" sz="1600" spc="-1">
                <a:solidFill>
                  <a:srgbClr val="000000"/>
                </a:solidFill>
                <a:latin typeface="Courier New"/>
                <a:ea typeface="DejaVu Sans"/>
              </a:rPr>
              <a:t>$new_col = </a:t>
            </a:r>
            <a:r>
              <a:rPr lang="en-GB" sz="1600" spc="-1">
                <a:solidFill>
                  <a:srgbClr val="7030A0"/>
                </a:solidFill>
                <a:latin typeface="Courier New"/>
                <a:ea typeface="DejaVu Sans"/>
              </a:rPr>
              <a:t>df1_sort_sel_filtered</a:t>
            </a:r>
            <a:r>
              <a:rPr lang="en-GB" sz="1600" spc="-1">
                <a:solidFill>
                  <a:srgbClr val="000000"/>
                </a:solidFill>
                <a:latin typeface="Courier New"/>
                <a:ea typeface="DejaVu Sans"/>
              </a:rPr>
              <a:t>$col3 * 10</a:t>
            </a:r>
            <a:endParaRPr lang="en-GB" sz="1600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CustomShape 1"/>
          <p:cNvSpPr/>
          <p:nvPr/>
        </p:nvSpPr>
        <p:spPr>
          <a:xfrm>
            <a:off x="1982100" y="375527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spc="-1" dirty="0">
                <a:solidFill>
                  <a:schemeClr val="tx2"/>
                </a:solidFill>
                <a:latin typeface="+mj-lt"/>
                <a:ea typeface="DejaVu Sans"/>
              </a:rPr>
              <a:t>A typical workflow – </a:t>
            </a:r>
            <a:r>
              <a:rPr lang="en-GB" sz="3200" b="1" spc="-1" dirty="0" err="1">
                <a:solidFill>
                  <a:schemeClr val="tx2"/>
                </a:solidFill>
                <a:latin typeface="+mj-lt"/>
                <a:ea typeface="DejaVu Sans"/>
              </a:rPr>
              <a:t>dplyr</a:t>
            </a:r>
            <a:endParaRPr lang="en-GB" sz="3200" spc="-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09" name="CustomShape 2"/>
          <p:cNvSpPr/>
          <p:nvPr/>
        </p:nvSpPr>
        <p:spPr>
          <a:xfrm>
            <a:off x="1982100" y="3840528"/>
            <a:ext cx="8437320" cy="1475873"/>
          </a:xfrm>
          <a:prstGeom prst="rect">
            <a:avLst/>
          </a:prstGeom>
          <a:ln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df1 %&gt;%</a:t>
            </a:r>
            <a:endParaRPr lang="en-GB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	</a:t>
            </a:r>
            <a:r>
              <a:rPr lang="en-GB" spc="-1">
                <a:solidFill>
                  <a:srgbClr val="00B050"/>
                </a:solidFill>
                <a:latin typeface="Courier New"/>
                <a:ea typeface="DejaVu Sans"/>
              </a:rPr>
              <a:t>arrange</a:t>
            </a: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(col1) %&gt;%</a:t>
            </a:r>
            <a:endParaRPr lang="en-GB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	</a:t>
            </a:r>
            <a:r>
              <a:rPr lang="en-GB" spc="-1">
                <a:solidFill>
                  <a:srgbClr val="0070C0"/>
                </a:solidFill>
                <a:latin typeface="Courier New"/>
                <a:ea typeface="DejaVu Sans"/>
              </a:rPr>
              <a:t>select</a:t>
            </a: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(col1, col3) %&gt;%</a:t>
            </a:r>
            <a:endParaRPr lang="en-GB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	</a:t>
            </a:r>
            <a:r>
              <a:rPr lang="en-GB" spc="-1">
                <a:solidFill>
                  <a:srgbClr val="FF0000"/>
                </a:solidFill>
                <a:latin typeface="Courier New"/>
                <a:ea typeface="DejaVu Sans"/>
              </a:rPr>
              <a:t>filter</a:t>
            </a: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(col3 &gt; 2.0) %&gt;%</a:t>
            </a:r>
            <a:endParaRPr lang="en-GB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	mutate(new_col = col3 * 10) -&gt; </a:t>
            </a:r>
            <a:r>
              <a:rPr lang="en-GB" spc="-1">
                <a:solidFill>
                  <a:srgbClr val="7030A0"/>
                </a:solidFill>
                <a:latin typeface="Courier New"/>
                <a:ea typeface="DejaVu Sans"/>
              </a:rPr>
              <a:t>df_sort_sel_filtered</a:t>
            </a:r>
            <a:endParaRPr lang="en-GB" spc="-1">
              <a:latin typeface="Arial"/>
            </a:endParaRPr>
          </a:p>
        </p:txBody>
      </p:sp>
      <p:pic>
        <p:nvPicPr>
          <p:cNvPr id="310" name="Picture 2"/>
          <p:cNvPicPr/>
          <p:nvPr/>
        </p:nvPicPr>
        <p:blipFill>
          <a:blip r:embed="rId2"/>
          <a:stretch/>
        </p:blipFill>
        <p:spPr>
          <a:xfrm>
            <a:off x="2823420" y="1333847"/>
            <a:ext cx="6288480" cy="2327760"/>
          </a:xfrm>
          <a:prstGeom prst="rect">
            <a:avLst/>
          </a:prstGeom>
          <a:ln>
            <a:noFill/>
          </a:ln>
        </p:spPr>
      </p:pic>
      <p:sp>
        <p:nvSpPr>
          <p:cNvPr id="311" name="CustomShape 3"/>
          <p:cNvSpPr/>
          <p:nvPr/>
        </p:nvSpPr>
        <p:spPr>
          <a:xfrm>
            <a:off x="2164980" y="5613887"/>
            <a:ext cx="8071200" cy="367878"/>
          </a:xfrm>
          <a:prstGeom prst="rect">
            <a:avLst/>
          </a:prstGeom>
          <a:ln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alibri"/>
                <a:ea typeface="DejaVu Sans"/>
              </a:rPr>
              <a:t>* Use spacing and indentation effectively to make your code readable</a:t>
            </a:r>
            <a:endParaRPr lang="en-GB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CustomShape 1"/>
          <p:cNvSpPr/>
          <p:nvPr/>
        </p:nvSpPr>
        <p:spPr>
          <a:xfrm>
            <a:off x="1982100" y="562814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spc="-1" dirty="0" err="1">
                <a:solidFill>
                  <a:schemeClr val="tx2"/>
                </a:solidFill>
                <a:latin typeface="+mj-lt"/>
                <a:ea typeface="DejaVu Sans"/>
              </a:rPr>
              <a:t>Dplyr</a:t>
            </a:r>
            <a:r>
              <a:rPr lang="en-GB" sz="3200" b="1" spc="-1" dirty="0">
                <a:solidFill>
                  <a:schemeClr val="tx2"/>
                </a:solidFill>
                <a:latin typeface="+mj-lt"/>
                <a:ea typeface="DejaVu Sans"/>
              </a:rPr>
              <a:t> is part of the ‘</a:t>
            </a:r>
            <a:r>
              <a:rPr lang="en-GB" sz="3200" b="1" spc="-1" dirty="0" err="1">
                <a:solidFill>
                  <a:schemeClr val="tx2"/>
                </a:solidFill>
                <a:latin typeface="+mj-lt"/>
                <a:ea typeface="DejaVu Sans"/>
              </a:rPr>
              <a:t>Tidyverse</a:t>
            </a:r>
            <a:r>
              <a:rPr lang="en-GB" sz="3200" b="1" spc="-1" dirty="0">
                <a:solidFill>
                  <a:schemeClr val="tx2"/>
                </a:solidFill>
                <a:latin typeface="+mj-lt"/>
                <a:ea typeface="DejaVu Sans"/>
              </a:rPr>
              <a:t>’</a:t>
            </a:r>
            <a:endParaRPr lang="en-GB" sz="3200" spc="-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13" name="CustomShape 2"/>
          <p:cNvSpPr/>
          <p:nvPr/>
        </p:nvSpPr>
        <p:spPr>
          <a:xfrm>
            <a:off x="1982100" y="1706534"/>
            <a:ext cx="8227800" cy="4391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 lnSpcReduction="10000"/>
          </a:bodyPr>
          <a:lstStyle/>
          <a:p>
            <a:pPr marL="343080" indent="-342000"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spc="-1" dirty="0">
                <a:solidFill>
                  <a:srgbClr val="000000"/>
                </a:solidFill>
                <a:ea typeface="DejaVu Sans"/>
              </a:rPr>
              <a:t>Tabular data structures - one observation per row, one variable per column</a:t>
            </a:r>
            <a:endParaRPr lang="en-GB" sz="2180" spc="-1" dirty="0"/>
          </a:p>
          <a:p>
            <a:pPr marL="343080" indent="-342000"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spc="-1" dirty="0">
                <a:solidFill>
                  <a:srgbClr val="000000"/>
                </a:solidFill>
                <a:ea typeface="DejaVu Sans"/>
              </a:rPr>
              <a:t>Simple functions that do one thing (filter, mutate, arrange, etc.)</a:t>
            </a:r>
            <a:endParaRPr lang="en-GB" sz="2180" spc="-1" dirty="0"/>
          </a:p>
          <a:p>
            <a:pPr marL="343080" indent="-342000"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spc="-1" dirty="0">
                <a:solidFill>
                  <a:srgbClr val="000000"/>
                </a:solidFill>
                <a:ea typeface="DejaVu Sans"/>
              </a:rPr>
              <a:t>Use the ‘pipe’ %&gt;% to chain functions – imagine a flow of data from left to right</a:t>
            </a:r>
            <a:endParaRPr lang="en-GB" sz="2180" spc="-1" dirty="0"/>
          </a:p>
          <a:p>
            <a:pPr marL="343080" indent="-342000"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spc="-1" dirty="0">
                <a:solidFill>
                  <a:srgbClr val="000000"/>
                </a:solidFill>
                <a:ea typeface="DejaVu Sans"/>
              </a:rPr>
              <a:t>The </a:t>
            </a:r>
            <a:r>
              <a:rPr lang="en-GB" sz="2180" spc="-1" dirty="0" err="1">
                <a:solidFill>
                  <a:srgbClr val="000000"/>
                </a:solidFill>
                <a:ea typeface="DejaVu Sans"/>
              </a:rPr>
              <a:t>Tidyverse</a:t>
            </a:r>
            <a:r>
              <a:rPr lang="en-GB" sz="2180" spc="-1" dirty="0">
                <a:solidFill>
                  <a:srgbClr val="000000"/>
                </a:solidFill>
                <a:ea typeface="DejaVu Sans"/>
              </a:rPr>
              <a:t> package is a ‘meta-package’ consisting of</a:t>
            </a:r>
            <a:endParaRPr lang="en-GB" sz="2180" spc="-1" dirty="0"/>
          </a:p>
          <a:p>
            <a:pPr marL="743040" lvl="1" indent="-284760"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1" spc="-1" dirty="0" err="1">
                <a:solidFill>
                  <a:srgbClr val="000000"/>
                </a:solidFill>
                <a:ea typeface="DejaVu Sans"/>
              </a:rPr>
              <a:t>dplyr</a:t>
            </a:r>
            <a:r>
              <a:rPr lang="en-GB" sz="1779" spc="-1" dirty="0">
                <a:solidFill>
                  <a:srgbClr val="000000"/>
                </a:solidFill>
                <a:ea typeface="DejaVu Sans"/>
              </a:rPr>
              <a:t> – data manipulation</a:t>
            </a:r>
            <a:endParaRPr lang="en-GB" sz="1779" spc="-1" dirty="0"/>
          </a:p>
          <a:p>
            <a:pPr marL="743040" lvl="1" indent="-284760"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1" spc="-1" dirty="0">
                <a:solidFill>
                  <a:srgbClr val="000000"/>
                </a:solidFill>
                <a:ea typeface="DejaVu Sans"/>
              </a:rPr>
              <a:t>ggplot2</a:t>
            </a:r>
            <a:r>
              <a:rPr lang="en-GB" sz="1779" spc="-1" dirty="0">
                <a:solidFill>
                  <a:srgbClr val="000000"/>
                </a:solidFill>
                <a:ea typeface="DejaVu Sans"/>
              </a:rPr>
              <a:t> – plotting (‘Grammar of Graphics’)</a:t>
            </a:r>
            <a:endParaRPr lang="en-GB" sz="1779" spc="-1" dirty="0"/>
          </a:p>
          <a:p>
            <a:pPr marL="743040" lvl="1" indent="-284760"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spc="-1" dirty="0" err="1">
                <a:solidFill>
                  <a:srgbClr val="000000"/>
                </a:solidFill>
                <a:ea typeface="DejaVu Sans"/>
              </a:rPr>
              <a:t>tidyr</a:t>
            </a:r>
            <a:r>
              <a:rPr lang="en-GB" sz="1779" spc="-1" dirty="0">
                <a:solidFill>
                  <a:srgbClr val="000000"/>
                </a:solidFill>
                <a:ea typeface="DejaVu Sans"/>
              </a:rPr>
              <a:t> – functions to create ‘tidy data’</a:t>
            </a:r>
            <a:endParaRPr lang="en-GB" sz="1779" spc="-1" dirty="0"/>
          </a:p>
          <a:p>
            <a:pPr marL="743040" lvl="1" indent="-284760"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spc="-1" dirty="0" err="1">
                <a:solidFill>
                  <a:srgbClr val="000000"/>
                </a:solidFill>
                <a:ea typeface="DejaVu Sans"/>
              </a:rPr>
              <a:t>readr</a:t>
            </a:r>
            <a:r>
              <a:rPr lang="en-GB" sz="1779" spc="-1" dirty="0">
                <a:solidFill>
                  <a:srgbClr val="000000"/>
                </a:solidFill>
                <a:ea typeface="DejaVu Sans"/>
              </a:rPr>
              <a:t> – reading and writing several file formats</a:t>
            </a:r>
            <a:endParaRPr lang="en-GB" sz="1779" spc="-1" dirty="0"/>
          </a:p>
          <a:p>
            <a:pPr marL="743040" lvl="1" indent="-284760"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spc="-1" dirty="0" err="1">
                <a:solidFill>
                  <a:srgbClr val="000000"/>
                </a:solidFill>
                <a:ea typeface="DejaVu Sans"/>
              </a:rPr>
              <a:t>purrr</a:t>
            </a:r>
            <a:r>
              <a:rPr lang="en-GB" sz="1779" spc="-1" dirty="0">
                <a:solidFill>
                  <a:srgbClr val="000000"/>
                </a:solidFill>
                <a:ea typeface="DejaVu Sans"/>
              </a:rPr>
              <a:t> – expanded set of loop functions</a:t>
            </a:r>
            <a:endParaRPr lang="en-GB" sz="1779" spc="-1" dirty="0"/>
          </a:p>
          <a:p>
            <a:pPr marL="743040" lvl="1" indent="-284760"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spc="-1" dirty="0" err="1">
                <a:solidFill>
                  <a:srgbClr val="000000"/>
                </a:solidFill>
                <a:ea typeface="DejaVu Sans"/>
              </a:rPr>
              <a:t>tibble</a:t>
            </a:r>
            <a:r>
              <a:rPr lang="en-GB" sz="1779" spc="-1" dirty="0">
                <a:solidFill>
                  <a:srgbClr val="000000"/>
                </a:solidFill>
                <a:ea typeface="DejaVu Sans"/>
              </a:rPr>
              <a:t> – tidy </a:t>
            </a:r>
            <a:r>
              <a:rPr lang="en-GB" sz="1779" spc="-1" dirty="0" err="1">
                <a:solidFill>
                  <a:srgbClr val="000000"/>
                </a:solidFill>
                <a:ea typeface="DejaVu Sans"/>
              </a:rPr>
              <a:t>data.frames</a:t>
            </a:r>
            <a:endParaRPr lang="en-GB" sz="1779" spc="-1" dirty="0"/>
          </a:p>
          <a:p>
            <a:pPr marL="743040" lvl="1" indent="-284760"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spc="-1" dirty="0" err="1">
                <a:solidFill>
                  <a:srgbClr val="000000"/>
                </a:solidFill>
                <a:ea typeface="DejaVu Sans"/>
              </a:rPr>
              <a:t>stringr</a:t>
            </a:r>
            <a:r>
              <a:rPr lang="en-GB" sz="1779" spc="-1" dirty="0">
                <a:solidFill>
                  <a:srgbClr val="000000"/>
                </a:solidFill>
                <a:ea typeface="DejaVu Sans"/>
              </a:rPr>
              <a:t> – handling strings (joining, searching, splitting, etc.)</a:t>
            </a:r>
            <a:endParaRPr lang="en-GB" sz="1779" spc="-1" dirty="0"/>
          </a:p>
          <a:p>
            <a:pPr marL="743040" lvl="1" indent="-284760"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spc="-1" dirty="0" err="1">
                <a:solidFill>
                  <a:srgbClr val="000000"/>
                </a:solidFill>
                <a:ea typeface="DejaVu Sans"/>
              </a:rPr>
              <a:t>forcats</a:t>
            </a:r>
            <a:r>
              <a:rPr lang="en-GB" sz="1779" spc="-1" dirty="0">
                <a:solidFill>
                  <a:srgbClr val="000000"/>
                </a:solidFill>
                <a:ea typeface="DejaVu Sans"/>
              </a:rPr>
              <a:t> – handling categorical data (factors)</a:t>
            </a:r>
            <a:endParaRPr lang="en-GB" sz="1779" spc="-1" dirty="0"/>
          </a:p>
          <a:p>
            <a:pPr marL="150840">
              <a:spcBef>
                <a:spcPts val="405"/>
              </a:spcBef>
              <a:tabLst>
                <a:tab pos="0" algn="l"/>
              </a:tabLst>
            </a:pPr>
            <a:endParaRPr lang="en-GB" sz="1779" spc="-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CustomShape 1"/>
          <p:cNvSpPr/>
          <p:nvPr/>
        </p:nvSpPr>
        <p:spPr>
          <a:xfrm>
            <a:off x="1982100" y="584848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spc="-1" dirty="0">
                <a:solidFill>
                  <a:schemeClr val="tx2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Arrange</a:t>
            </a:r>
            <a:endParaRPr lang="en-GB" sz="3200" spc="-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5" name="CustomShape 2"/>
          <p:cNvSpPr/>
          <p:nvPr/>
        </p:nvSpPr>
        <p:spPr>
          <a:xfrm>
            <a:off x="2292780" y="1780409"/>
            <a:ext cx="8437320" cy="6448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df1_sorted = arrange(df1, col1)</a:t>
            </a:r>
            <a:endParaRPr lang="en-GB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arrange(df1, col1) -&gt; df1_sorted</a:t>
            </a:r>
            <a:endParaRPr lang="en-GB" spc="-1">
              <a:latin typeface="Arial"/>
            </a:endParaRPr>
          </a:p>
        </p:txBody>
      </p:sp>
      <p:sp>
        <p:nvSpPr>
          <p:cNvPr id="316" name="CustomShape 3"/>
          <p:cNvSpPr/>
          <p:nvPr/>
        </p:nvSpPr>
        <p:spPr>
          <a:xfrm>
            <a:off x="2230500" y="4879289"/>
            <a:ext cx="8437320" cy="6448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df1 %&gt;%</a:t>
            </a:r>
            <a:endParaRPr lang="en-GB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	arrange(col1, col2) -&gt; df1_sorted</a:t>
            </a:r>
            <a:endParaRPr lang="en-GB" spc="-1">
              <a:latin typeface="Arial"/>
            </a:endParaRPr>
          </a:p>
        </p:txBody>
      </p:sp>
      <p:sp>
        <p:nvSpPr>
          <p:cNvPr id="317" name="CustomShape 4"/>
          <p:cNvSpPr/>
          <p:nvPr/>
        </p:nvSpPr>
        <p:spPr>
          <a:xfrm>
            <a:off x="2292780" y="2462249"/>
            <a:ext cx="8437320" cy="6448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df1 %&gt;%</a:t>
            </a:r>
            <a:endParaRPr lang="en-GB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	arrange(col1) -&gt; df1_sorted</a:t>
            </a:r>
            <a:endParaRPr lang="en-GB" spc="-1">
              <a:latin typeface="Arial"/>
            </a:endParaRPr>
          </a:p>
        </p:txBody>
      </p:sp>
      <p:sp>
        <p:nvSpPr>
          <p:cNvPr id="318" name="CustomShape 5"/>
          <p:cNvSpPr/>
          <p:nvPr/>
        </p:nvSpPr>
        <p:spPr>
          <a:xfrm>
            <a:off x="2239140" y="4232728"/>
            <a:ext cx="8437320" cy="36787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df1_sorted = arrange(df1, col1, col2)</a:t>
            </a:r>
            <a:endParaRPr lang="en-GB" spc="-1">
              <a:latin typeface="Arial"/>
            </a:endParaRPr>
          </a:p>
        </p:txBody>
      </p:sp>
      <p:sp>
        <p:nvSpPr>
          <p:cNvPr id="319" name="CustomShape 6"/>
          <p:cNvSpPr/>
          <p:nvPr/>
        </p:nvSpPr>
        <p:spPr>
          <a:xfrm>
            <a:off x="7535100" y="1780408"/>
            <a:ext cx="602640" cy="36787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endParaRPr lang="en-GB" spc="-1">
              <a:latin typeface="Arial"/>
            </a:endParaRPr>
          </a:p>
        </p:txBody>
      </p:sp>
      <p:sp>
        <p:nvSpPr>
          <p:cNvPr id="320" name="CustomShape 7"/>
          <p:cNvSpPr/>
          <p:nvPr/>
        </p:nvSpPr>
        <p:spPr>
          <a:xfrm>
            <a:off x="7535100" y="2074888"/>
            <a:ext cx="602640" cy="36787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endParaRPr lang="en-GB" spc="-1">
              <a:latin typeface="Arial"/>
            </a:endParaRPr>
          </a:p>
        </p:txBody>
      </p:sp>
      <p:sp>
        <p:nvSpPr>
          <p:cNvPr id="321" name="CustomShape 8"/>
          <p:cNvSpPr/>
          <p:nvPr/>
        </p:nvSpPr>
        <p:spPr>
          <a:xfrm>
            <a:off x="7598820" y="4232728"/>
            <a:ext cx="602640" cy="36787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endParaRPr lang="en-GB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CustomShape 1"/>
          <p:cNvSpPr/>
          <p:nvPr/>
        </p:nvSpPr>
        <p:spPr>
          <a:xfrm>
            <a:off x="1982100" y="61566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spc="-1" dirty="0">
                <a:solidFill>
                  <a:schemeClr val="tx2"/>
                </a:solidFill>
                <a:latin typeface="Calibri"/>
                <a:ea typeface="DejaVu Sans"/>
              </a:rPr>
              <a:t>Select columns</a:t>
            </a:r>
            <a:endParaRPr lang="en-GB" sz="3200" spc="-1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323" name="CustomShape 2"/>
          <p:cNvSpPr/>
          <p:nvPr/>
        </p:nvSpPr>
        <p:spPr>
          <a:xfrm>
            <a:off x="2229600" y="1828800"/>
            <a:ext cx="8437320" cy="36787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df1_selected = select(df1, col1, col3)</a:t>
            </a:r>
            <a:endParaRPr lang="en-GB" spc="-1">
              <a:latin typeface="Arial"/>
            </a:endParaRPr>
          </a:p>
        </p:txBody>
      </p:sp>
      <p:sp>
        <p:nvSpPr>
          <p:cNvPr id="324" name="CustomShape 3"/>
          <p:cNvSpPr/>
          <p:nvPr/>
        </p:nvSpPr>
        <p:spPr>
          <a:xfrm>
            <a:off x="2229600" y="5197321"/>
            <a:ext cx="8437320" cy="6448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df1 %&gt;%</a:t>
            </a:r>
            <a:endParaRPr lang="en-GB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	select(-col2) -&gt; df1_selected</a:t>
            </a:r>
            <a:endParaRPr lang="en-GB" spc="-1">
              <a:latin typeface="Arial"/>
            </a:endParaRPr>
          </a:p>
        </p:txBody>
      </p:sp>
      <p:sp>
        <p:nvSpPr>
          <p:cNvPr id="325" name="CustomShape 4"/>
          <p:cNvSpPr/>
          <p:nvPr/>
        </p:nvSpPr>
        <p:spPr>
          <a:xfrm>
            <a:off x="2229600" y="4551120"/>
            <a:ext cx="8437320" cy="36787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df1_selected = select(df1, -col2)</a:t>
            </a:r>
            <a:endParaRPr lang="en-GB" spc="-1">
              <a:latin typeface="Arial"/>
            </a:endParaRPr>
          </a:p>
        </p:txBody>
      </p:sp>
      <p:sp>
        <p:nvSpPr>
          <p:cNvPr id="326" name="CustomShape 5"/>
          <p:cNvSpPr/>
          <p:nvPr/>
        </p:nvSpPr>
        <p:spPr>
          <a:xfrm>
            <a:off x="2229600" y="2475001"/>
            <a:ext cx="8437320" cy="6448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df1 %&gt;%</a:t>
            </a:r>
            <a:endParaRPr lang="en-GB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	select(col1, col3) -&gt; df1_selected</a:t>
            </a:r>
            <a:endParaRPr lang="en-GB" spc="-1">
              <a:latin typeface="Arial"/>
            </a:endParaRPr>
          </a:p>
        </p:txBody>
      </p:sp>
      <p:sp>
        <p:nvSpPr>
          <p:cNvPr id="327" name="CustomShape 6"/>
          <p:cNvSpPr/>
          <p:nvPr/>
        </p:nvSpPr>
        <p:spPr>
          <a:xfrm>
            <a:off x="7995720" y="1828800"/>
            <a:ext cx="602640" cy="36787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endParaRPr lang="en-GB" spc="-1">
              <a:latin typeface="Arial"/>
            </a:endParaRPr>
          </a:p>
        </p:txBody>
      </p:sp>
      <p:sp>
        <p:nvSpPr>
          <p:cNvPr id="328" name="CustomShape 7"/>
          <p:cNvSpPr/>
          <p:nvPr/>
        </p:nvSpPr>
        <p:spPr>
          <a:xfrm>
            <a:off x="7995720" y="4551120"/>
            <a:ext cx="602640" cy="36787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endParaRPr lang="en-GB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CustomShape 1"/>
          <p:cNvSpPr/>
          <p:nvPr/>
        </p:nvSpPr>
        <p:spPr>
          <a:xfrm>
            <a:off x="1981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spc="-1" dirty="0">
                <a:solidFill>
                  <a:schemeClr val="tx2"/>
                </a:solidFill>
                <a:latin typeface="+mj-lt"/>
                <a:ea typeface="DejaVu Sans"/>
              </a:rPr>
              <a:t>Filter</a:t>
            </a:r>
            <a:endParaRPr lang="en-GB" sz="3200" spc="-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30" name="CustomShape 2"/>
          <p:cNvSpPr/>
          <p:nvPr/>
        </p:nvSpPr>
        <p:spPr>
          <a:xfrm>
            <a:off x="2229600" y="1828801"/>
            <a:ext cx="8437320" cy="6448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df1 %&gt;%</a:t>
            </a:r>
            <a:endParaRPr lang="en-GB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	filter(col3 &gt; 2.0) -&gt; df1_filtered</a:t>
            </a:r>
            <a:endParaRPr lang="en-GB" spc="-1">
              <a:latin typeface="Arial"/>
            </a:endParaRPr>
          </a:p>
        </p:txBody>
      </p:sp>
      <p:sp>
        <p:nvSpPr>
          <p:cNvPr id="331" name="CustomShape 3"/>
          <p:cNvSpPr/>
          <p:nvPr/>
        </p:nvSpPr>
        <p:spPr>
          <a:xfrm>
            <a:off x="2229600" y="2782801"/>
            <a:ext cx="8437320" cy="6448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df1 %&gt;%</a:t>
            </a:r>
            <a:endParaRPr lang="en-GB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	filter(col2 &lt; 100 &amp; col3 &gt; 2.0) -&gt; df1_filtered</a:t>
            </a:r>
            <a:endParaRPr lang="en-GB" spc="-1">
              <a:latin typeface="Arial"/>
            </a:endParaRPr>
          </a:p>
        </p:txBody>
      </p:sp>
      <p:sp>
        <p:nvSpPr>
          <p:cNvPr id="332" name="CustomShape 4"/>
          <p:cNvSpPr/>
          <p:nvPr/>
        </p:nvSpPr>
        <p:spPr>
          <a:xfrm>
            <a:off x="2229600" y="3736801"/>
            <a:ext cx="8437320" cy="6448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df1 %&gt;%</a:t>
            </a:r>
            <a:endParaRPr lang="en-GB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	filter(col2 &lt; 100 | col3 &gt; 2.0) -&gt; df1_filtered</a:t>
            </a:r>
            <a:endParaRPr lang="en-GB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CustomShape 1"/>
          <p:cNvSpPr/>
          <p:nvPr/>
        </p:nvSpPr>
        <p:spPr>
          <a:xfrm>
            <a:off x="1982100" y="652957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spc="-1" dirty="0">
                <a:solidFill>
                  <a:schemeClr val="tx2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Mutate</a:t>
            </a:r>
            <a:endParaRPr lang="en-GB" sz="3200" spc="-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4" name="CustomShape 2"/>
          <p:cNvSpPr/>
          <p:nvPr/>
        </p:nvSpPr>
        <p:spPr>
          <a:xfrm>
            <a:off x="2229600" y="1828801"/>
            <a:ext cx="8437320" cy="6448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df1 %&gt;%</a:t>
            </a:r>
            <a:endParaRPr lang="en-GB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	mutate(new_col = col3 * 2.0) -&gt; df1_mutated</a:t>
            </a:r>
            <a:endParaRPr lang="en-GB" spc="-1">
              <a:latin typeface="Arial"/>
            </a:endParaRPr>
          </a:p>
        </p:txBody>
      </p:sp>
      <p:sp>
        <p:nvSpPr>
          <p:cNvPr id="335" name="CustomShape 3"/>
          <p:cNvSpPr/>
          <p:nvPr/>
        </p:nvSpPr>
        <p:spPr>
          <a:xfrm>
            <a:off x="2229600" y="2782800"/>
            <a:ext cx="8437320" cy="9218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df1 %&gt;%</a:t>
            </a:r>
            <a:endParaRPr lang="en-GB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	mutate(new_col = col3 * 2.0) %&gt;%</a:t>
            </a:r>
            <a:endParaRPr lang="en-GB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	mutate(col4 = new_col/col3) -&gt; df1_mutated</a:t>
            </a:r>
            <a:endParaRPr lang="en-GB" spc="-1">
              <a:latin typeface="Arial"/>
            </a:endParaRPr>
          </a:p>
        </p:txBody>
      </p:sp>
      <p:sp>
        <p:nvSpPr>
          <p:cNvPr id="336" name="CustomShape 4"/>
          <p:cNvSpPr/>
          <p:nvPr/>
        </p:nvSpPr>
        <p:spPr>
          <a:xfrm>
            <a:off x="2229600" y="3736800"/>
            <a:ext cx="8437320" cy="9218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df1 %&gt;%</a:t>
            </a:r>
            <a:endParaRPr lang="en-GB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	mutate(new_col = col3 * 2.0, col4 = new_col/col3) -&gt; df1_mutated</a:t>
            </a:r>
            <a:endParaRPr lang="en-GB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CustomShape 1"/>
          <p:cNvSpPr/>
          <p:nvPr/>
        </p:nvSpPr>
        <p:spPr>
          <a:xfrm>
            <a:off x="1981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spc="-1" dirty="0">
                <a:solidFill>
                  <a:schemeClr val="tx2"/>
                </a:solidFill>
                <a:latin typeface="+mj-lt"/>
                <a:ea typeface="DejaVu Sans"/>
              </a:rPr>
              <a:t>Base R vs </a:t>
            </a:r>
            <a:r>
              <a:rPr lang="en-GB" sz="3200" b="1" spc="-1" dirty="0" err="1">
                <a:solidFill>
                  <a:schemeClr val="tx2"/>
                </a:solidFill>
                <a:latin typeface="+mj-lt"/>
                <a:ea typeface="DejaVu Sans"/>
              </a:rPr>
              <a:t>Dplyr</a:t>
            </a:r>
            <a:r>
              <a:rPr lang="en-GB" sz="3200" b="1" spc="-1" dirty="0">
                <a:solidFill>
                  <a:schemeClr val="tx2"/>
                </a:solidFill>
                <a:latin typeface="+mj-lt"/>
                <a:ea typeface="DejaVu Sans"/>
              </a:rPr>
              <a:t> syntax</a:t>
            </a:r>
            <a:endParaRPr lang="en-GB" sz="3200" spc="-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38" name="CustomShape 2"/>
          <p:cNvSpPr/>
          <p:nvPr/>
        </p:nvSpPr>
        <p:spPr>
          <a:xfrm>
            <a:off x="1982100" y="1761618"/>
            <a:ext cx="8227800" cy="529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493920" lvl="1" indent="-342000">
              <a:spcBef>
                <a:spcPts val="405"/>
              </a:spcBef>
              <a:buClr>
                <a:srgbClr val="000000"/>
              </a:buClr>
              <a:buFont typeface="Arial"/>
              <a:buChar char="–"/>
            </a:pPr>
            <a:r>
              <a:rPr lang="en-GB" sz="2029" spc="-1" dirty="0">
                <a:solidFill>
                  <a:srgbClr val="000000"/>
                </a:solidFill>
                <a:ea typeface="DejaVu Sans"/>
              </a:rPr>
              <a:t>Column names in quotations in base R, but not in </a:t>
            </a:r>
            <a:r>
              <a:rPr lang="en-GB" sz="2029" spc="-1" dirty="0" err="1">
                <a:solidFill>
                  <a:srgbClr val="000000"/>
                </a:solidFill>
                <a:ea typeface="DejaVu Sans"/>
              </a:rPr>
              <a:t>Dplyr</a:t>
            </a:r>
            <a:endParaRPr lang="en-GB" sz="2029" spc="-1" dirty="0"/>
          </a:p>
        </p:txBody>
      </p:sp>
      <p:sp>
        <p:nvSpPr>
          <p:cNvPr id="339" name="CustomShape 3"/>
          <p:cNvSpPr/>
          <p:nvPr/>
        </p:nvSpPr>
        <p:spPr>
          <a:xfrm>
            <a:off x="2425980" y="2453538"/>
            <a:ext cx="8437320" cy="36787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select(df1, col1) # dplyr syntax</a:t>
            </a:r>
            <a:endParaRPr lang="en-GB" spc="-1">
              <a:latin typeface="Arial"/>
            </a:endParaRPr>
          </a:p>
        </p:txBody>
      </p:sp>
      <p:sp>
        <p:nvSpPr>
          <p:cNvPr id="340" name="CustomShape 4"/>
          <p:cNvSpPr/>
          <p:nvPr/>
        </p:nvSpPr>
        <p:spPr>
          <a:xfrm>
            <a:off x="2425980" y="2125218"/>
            <a:ext cx="8437320" cy="36787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 dirty="0">
                <a:solidFill>
                  <a:srgbClr val="000000"/>
                </a:solidFill>
                <a:latin typeface="Courier New"/>
                <a:ea typeface="DejaVu Sans"/>
              </a:rPr>
              <a:t>df1[, “col1”] # base R syntax</a:t>
            </a:r>
            <a:endParaRPr lang="en-GB" spc="-1" dirty="0">
              <a:latin typeface="Arial"/>
            </a:endParaRPr>
          </a:p>
        </p:txBody>
      </p:sp>
      <p:sp>
        <p:nvSpPr>
          <p:cNvPr id="341" name="CustomShape 5"/>
          <p:cNvSpPr/>
          <p:nvPr/>
        </p:nvSpPr>
        <p:spPr>
          <a:xfrm>
            <a:off x="1982100" y="3324378"/>
            <a:ext cx="8227800" cy="529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493920" lvl="1" indent="-342000">
              <a:spcBef>
                <a:spcPts val="405"/>
              </a:spcBef>
              <a:buClr>
                <a:srgbClr val="000000"/>
              </a:buClr>
              <a:buFont typeface="Arial"/>
              <a:buChar char="–"/>
            </a:pPr>
            <a:r>
              <a:rPr lang="en-GB" sz="2029" spc="-1" dirty="0" err="1">
                <a:solidFill>
                  <a:srgbClr val="000000"/>
                </a:solidFill>
                <a:ea typeface="DejaVu Sans"/>
              </a:rPr>
              <a:t>Dplyr</a:t>
            </a:r>
            <a:r>
              <a:rPr lang="en-GB" sz="2029" spc="-1" dirty="0">
                <a:solidFill>
                  <a:srgbClr val="000000"/>
                </a:solidFill>
                <a:ea typeface="DejaVu Sans"/>
              </a:rPr>
              <a:t> functions </a:t>
            </a:r>
            <a:r>
              <a:rPr lang="en-GB" sz="2029" i="1" spc="-1" dirty="0">
                <a:solidFill>
                  <a:srgbClr val="000000"/>
                </a:solidFill>
                <a:ea typeface="DejaVu Sans"/>
              </a:rPr>
              <a:t>always </a:t>
            </a:r>
            <a:r>
              <a:rPr lang="en-GB" sz="2029" spc="-1" dirty="0">
                <a:solidFill>
                  <a:srgbClr val="000000"/>
                </a:solidFill>
                <a:ea typeface="DejaVu Sans"/>
              </a:rPr>
              <a:t> have the data as the first argument</a:t>
            </a:r>
            <a:endParaRPr lang="en-GB" sz="2029" spc="-1" dirty="0"/>
          </a:p>
        </p:txBody>
      </p:sp>
      <p:sp>
        <p:nvSpPr>
          <p:cNvPr id="342" name="CustomShape 6"/>
          <p:cNvSpPr/>
          <p:nvPr/>
        </p:nvSpPr>
        <p:spPr>
          <a:xfrm>
            <a:off x="2425980" y="3595458"/>
            <a:ext cx="8437320" cy="9218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select(df1, col1)</a:t>
            </a:r>
            <a:endParaRPr lang="en-GB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arrange(df1, col1)</a:t>
            </a:r>
            <a:endParaRPr lang="en-GB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mutate(df1, col4 = col1 * 10)</a:t>
            </a:r>
            <a:endParaRPr lang="en-GB" spc="-1">
              <a:latin typeface="Arial"/>
            </a:endParaRPr>
          </a:p>
        </p:txBody>
      </p:sp>
      <p:sp>
        <p:nvSpPr>
          <p:cNvPr id="343" name="CustomShape 7"/>
          <p:cNvSpPr/>
          <p:nvPr/>
        </p:nvSpPr>
        <p:spPr>
          <a:xfrm>
            <a:off x="1982100" y="4841058"/>
            <a:ext cx="8227800" cy="717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493920" lvl="1" indent="-342000">
              <a:spcBef>
                <a:spcPts val="405"/>
              </a:spcBef>
              <a:buClr>
                <a:srgbClr val="000000"/>
              </a:buClr>
              <a:buFont typeface="Arial"/>
              <a:buChar char="–"/>
            </a:pPr>
            <a:r>
              <a:rPr lang="en-GB" sz="2029" spc="-1" dirty="0">
                <a:solidFill>
                  <a:srgbClr val="000000"/>
                </a:solidFill>
                <a:ea typeface="DejaVu Sans"/>
              </a:rPr>
              <a:t>When the ‘pipe’ %&gt;% is used, the first argument of any function is passed invisibly, so we drop it in the actual function call</a:t>
            </a:r>
            <a:endParaRPr lang="en-GB" sz="2029" spc="-1" dirty="0"/>
          </a:p>
        </p:txBody>
      </p:sp>
      <p:sp>
        <p:nvSpPr>
          <p:cNvPr id="344" name="CustomShape 8"/>
          <p:cNvSpPr/>
          <p:nvPr/>
        </p:nvSpPr>
        <p:spPr>
          <a:xfrm>
            <a:off x="2425980" y="5504539"/>
            <a:ext cx="8437320" cy="6448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 dirty="0">
                <a:solidFill>
                  <a:srgbClr val="000000"/>
                </a:solidFill>
                <a:latin typeface="Courier New"/>
                <a:ea typeface="DejaVu Sans"/>
              </a:rPr>
              <a:t>df1 %&gt;% arrange(</a:t>
            </a:r>
            <a:r>
              <a:rPr lang="en-GB" spc="-1" dirty="0">
                <a:solidFill>
                  <a:srgbClr val="D9D9D9"/>
                </a:solidFill>
                <a:latin typeface="Courier New"/>
                <a:ea typeface="DejaVu Sans"/>
              </a:rPr>
              <a:t>df1, </a:t>
            </a:r>
            <a:r>
              <a:rPr lang="en-GB" spc="-1" dirty="0">
                <a:solidFill>
                  <a:srgbClr val="000000"/>
                </a:solidFill>
                <a:latin typeface="Courier New"/>
                <a:ea typeface="DejaVu Sans"/>
              </a:rPr>
              <a:t>col1) %&gt;% select(</a:t>
            </a:r>
            <a:r>
              <a:rPr lang="en-GB" spc="-1" dirty="0">
                <a:solidFill>
                  <a:srgbClr val="D9D9D9"/>
                </a:solidFill>
                <a:latin typeface="Courier New"/>
                <a:ea typeface="DejaVu Sans"/>
              </a:rPr>
              <a:t>&lt;</a:t>
            </a:r>
            <a:r>
              <a:rPr lang="en-GB" spc="-1" dirty="0" err="1">
                <a:solidFill>
                  <a:srgbClr val="D9D9D9"/>
                </a:solidFill>
                <a:latin typeface="Courier New"/>
                <a:ea typeface="DejaVu Sans"/>
              </a:rPr>
              <a:t>output_from_previous_step</a:t>
            </a:r>
            <a:r>
              <a:rPr lang="en-GB" spc="-1">
                <a:solidFill>
                  <a:srgbClr val="D9D9D9"/>
                </a:solidFill>
                <a:latin typeface="Courier New"/>
                <a:ea typeface="DejaVu Sans"/>
              </a:rPr>
              <a:t>&gt;, </a:t>
            </a:r>
            <a:r>
              <a:rPr lang="en-GB" spc="-1" dirty="0">
                <a:solidFill>
                  <a:srgbClr val="000000"/>
                </a:solidFill>
                <a:latin typeface="Courier New"/>
                <a:ea typeface="DejaVu Sans"/>
              </a:rPr>
              <a:t>col1, col3)</a:t>
            </a:r>
            <a:endParaRPr lang="en-GB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AF7D8-062C-D5F7-0987-5F8A07E91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CustomShape 1">
            <a:extLst>
              <a:ext uri="{FF2B5EF4-FFF2-40B4-BE49-F238E27FC236}">
                <a16:creationId xmlns:a16="http://schemas.microsoft.com/office/drawing/2014/main" id="{42BD4FAC-662F-7E5A-D96C-3BA33EDB0862}"/>
              </a:ext>
            </a:extLst>
          </p:cNvPr>
          <p:cNvSpPr/>
          <p:nvPr/>
        </p:nvSpPr>
        <p:spPr>
          <a:xfrm>
            <a:off x="1524000" y="0"/>
            <a:ext cx="8435248" cy="57508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9" name="CustomShape 2">
            <a:extLst>
              <a:ext uri="{FF2B5EF4-FFF2-40B4-BE49-F238E27FC236}">
                <a16:creationId xmlns:a16="http://schemas.microsoft.com/office/drawing/2014/main" id="{17E2D102-E2F1-0129-F42D-532A280580F9}"/>
              </a:ext>
            </a:extLst>
          </p:cNvPr>
          <p:cNvSpPr/>
          <p:nvPr/>
        </p:nvSpPr>
        <p:spPr>
          <a:xfrm>
            <a:off x="2436960" y="2222640"/>
            <a:ext cx="3518640" cy="2411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2500"/>
          </a:bodyPr>
          <a:lstStyle/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5400" b="1" spc="-1" dirty="0">
                <a:solidFill>
                  <a:schemeClr val="tx2"/>
                </a:solidFill>
                <a:ea typeface="DejaVu Sans"/>
              </a:rPr>
              <a:t>Let’s explore practically</a:t>
            </a:r>
            <a:endParaRPr lang="en-GB" sz="5400" spc="-1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endParaRPr lang="en-GB" sz="5400" spc="-1" dirty="0">
              <a:solidFill>
                <a:schemeClr val="tx2"/>
              </a:solidFill>
            </a:endParaRPr>
          </a:p>
        </p:txBody>
      </p:sp>
      <p:sp>
        <p:nvSpPr>
          <p:cNvPr id="380" name="CustomShape 3">
            <a:extLst>
              <a:ext uri="{FF2B5EF4-FFF2-40B4-BE49-F238E27FC236}">
                <a16:creationId xmlns:a16="http://schemas.microsoft.com/office/drawing/2014/main" id="{86A8C77C-A7A9-E005-11DC-48A744E2D86B}"/>
              </a:ext>
            </a:extLst>
          </p:cNvPr>
          <p:cNvSpPr/>
          <p:nvPr/>
        </p:nvSpPr>
        <p:spPr>
          <a:xfrm>
            <a:off x="5656800" y="851400"/>
            <a:ext cx="4637520" cy="5153760"/>
          </a:xfrm>
          <a:custGeom>
            <a:avLst/>
            <a:gdLst/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381" name="Graphic 5" descr="Cmd Terminal outline">
            <a:extLst>
              <a:ext uri="{FF2B5EF4-FFF2-40B4-BE49-F238E27FC236}">
                <a16:creationId xmlns:a16="http://schemas.microsoft.com/office/drawing/2014/main" id="{6D21C3E6-15C4-BC7B-096D-FAA533CB3B75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008960" y="2341080"/>
            <a:ext cx="2745360" cy="274536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0850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CustomShape 1"/>
          <p:cNvSpPr/>
          <p:nvPr/>
        </p:nvSpPr>
        <p:spPr>
          <a:xfrm>
            <a:off x="1981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spc="-1" dirty="0">
                <a:solidFill>
                  <a:schemeClr val="tx2"/>
                </a:solidFill>
                <a:latin typeface="+mj-lt"/>
                <a:ea typeface="DejaVu Sans"/>
              </a:rPr>
              <a:t>Summarise</a:t>
            </a:r>
            <a:endParaRPr lang="en-GB" sz="3200" spc="-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50" name="CustomShape 2"/>
          <p:cNvSpPr/>
          <p:nvPr/>
        </p:nvSpPr>
        <p:spPr>
          <a:xfrm>
            <a:off x="2073000" y="2071440"/>
            <a:ext cx="7834320" cy="228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840" indent="-284760">
              <a:buClr>
                <a:srgbClr val="000000"/>
              </a:buClr>
              <a:buFont typeface="Arial"/>
              <a:buChar char="•"/>
            </a:pPr>
            <a:r>
              <a:rPr lang="en-GB" spc="-1" dirty="0">
                <a:solidFill>
                  <a:srgbClr val="000000"/>
                </a:solidFill>
                <a:ea typeface="Calibri"/>
              </a:rPr>
              <a:t>One column:</a:t>
            </a:r>
            <a:endParaRPr lang="en-GB" spc="-1" dirty="0"/>
          </a:p>
          <a:p>
            <a:pPr>
              <a:lnSpc>
                <a:spcPct val="100000"/>
              </a:lnSpc>
            </a:pPr>
            <a:r>
              <a:rPr lang="en-GB" b="1" spc="-1" dirty="0">
                <a:solidFill>
                  <a:srgbClr val="8064A2"/>
                </a:solidFill>
                <a:latin typeface="Courier New"/>
                <a:ea typeface="Calibri"/>
              </a:rPr>
              <a:t>summarise</a:t>
            </a:r>
            <a:r>
              <a:rPr lang="en-GB" spc="-1" dirty="0">
                <a:solidFill>
                  <a:srgbClr val="000000"/>
                </a:solidFill>
                <a:latin typeface="Courier New"/>
                <a:ea typeface="Calibri"/>
              </a:rPr>
              <a:t>(df1, sum(col1))</a:t>
            </a:r>
            <a:r>
              <a:rPr lang="en-GB" spc="-1" dirty="0">
                <a:solidFill>
                  <a:srgbClr val="000000"/>
                </a:solidFill>
                <a:latin typeface="Calibri"/>
                <a:ea typeface="Calibri"/>
              </a:rPr>
              <a:t> or </a:t>
            </a:r>
            <a:r>
              <a:rPr lang="en-GB" spc="-1" dirty="0">
                <a:solidFill>
                  <a:srgbClr val="000000"/>
                </a:solidFill>
                <a:latin typeface="Courier New"/>
                <a:ea typeface="Calibri"/>
              </a:rPr>
              <a:t>summarise(df1, mean(col2))</a:t>
            </a:r>
            <a:endParaRPr lang="en-GB" spc="-1" dirty="0">
              <a:latin typeface="Arial"/>
            </a:endParaRPr>
          </a:p>
          <a:p>
            <a:pPr marL="285840" indent="-284760">
              <a:buClr>
                <a:srgbClr val="000000"/>
              </a:buClr>
              <a:buFont typeface="Arial"/>
              <a:buChar char="•"/>
            </a:pPr>
            <a:r>
              <a:rPr lang="en-GB" spc="-1" dirty="0">
                <a:solidFill>
                  <a:srgbClr val="000000"/>
                </a:solidFill>
                <a:ea typeface="Calibri"/>
              </a:rPr>
              <a:t>Several columns:</a:t>
            </a:r>
            <a:endParaRPr lang="en-GB" spc="-1" dirty="0"/>
          </a:p>
          <a:p>
            <a:pPr>
              <a:lnSpc>
                <a:spcPct val="100000"/>
              </a:lnSpc>
            </a:pPr>
            <a:r>
              <a:rPr lang="en-GB" b="1" spc="-1" dirty="0">
                <a:solidFill>
                  <a:srgbClr val="8064A2"/>
                </a:solidFill>
                <a:latin typeface="Courier New"/>
                <a:ea typeface="Calibri"/>
              </a:rPr>
              <a:t>summarise</a:t>
            </a:r>
            <a:r>
              <a:rPr lang="en-GB" spc="-1" dirty="0">
                <a:solidFill>
                  <a:srgbClr val="000000"/>
                </a:solidFill>
                <a:latin typeface="Courier New"/>
                <a:ea typeface="Calibri"/>
              </a:rPr>
              <a:t>(df1, sum(col1), mean(col2), </a:t>
            </a:r>
            <a:r>
              <a:rPr lang="en-GB" spc="-1" dirty="0" err="1">
                <a:solidFill>
                  <a:srgbClr val="000000"/>
                </a:solidFill>
                <a:latin typeface="Courier New"/>
                <a:ea typeface="Calibri"/>
              </a:rPr>
              <a:t>sd</a:t>
            </a:r>
            <a:r>
              <a:rPr lang="en-GB" spc="-1" dirty="0">
                <a:solidFill>
                  <a:srgbClr val="000000"/>
                </a:solidFill>
                <a:latin typeface="Courier New"/>
                <a:ea typeface="Calibri"/>
              </a:rPr>
              <a:t>(col3))</a:t>
            </a:r>
            <a:endParaRPr lang="en-GB" spc="-1" dirty="0">
              <a:latin typeface="Arial"/>
            </a:endParaRPr>
          </a:p>
          <a:p>
            <a:pPr marL="285840" indent="-284760">
              <a:buClr>
                <a:srgbClr val="000000"/>
              </a:buClr>
              <a:buFont typeface="Arial"/>
              <a:buChar char="•"/>
            </a:pPr>
            <a:r>
              <a:rPr lang="en-GB" spc="-1" dirty="0">
                <a:solidFill>
                  <a:srgbClr val="000000"/>
                </a:solidFill>
                <a:ea typeface="Calibri"/>
              </a:rPr>
              <a:t>Assign column names:</a:t>
            </a:r>
            <a:endParaRPr lang="en-GB" spc="-1" dirty="0"/>
          </a:p>
          <a:p>
            <a:pPr>
              <a:lnSpc>
                <a:spcPct val="100000"/>
              </a:lnSpc>
            </a:pPr>
            <a:r>
              <a:rPr lang="en-GB" spc="-1" dirty="0">
                <a:solidFill>
                  <a:srgbClr val="000000"/>
                </a:solidFill>
                <a:latin typeface="Courier New"/>
                <a:ea typeface="Calibri"/>
              </a:rPr>
              <a:t>df1 %&gt;%</a:t>
            </a:r>
            <a:endParaRPr lang="en-GB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 dirty="0">
                <a:solidFill>
                  <a:srgbClr val="000000"/>
                </a:solidFill>
                <a:latin typeface="Courier New"/>
                <a:ea typeface="Calibri"/>
              </a:rPr>
              <a:t>	</a:t>
            </a:r>
            <a:r>
              <a:rPr lang="en-GB" b="1" spc="-1" dirty="0">
                <a:solidFill>
                  <a:srgbClr val="8064A2"/>
                </a:solidFill>
                <a:latin typeface="Courier New"/>
                <a:ea typeface="Calibri"/>
              </a:rPr>
              <a:t>summarise(</a:t>
            </a:r>
            <a:r>
              <a:rPr lang="en-GB" spc="-1" dirty="0">
                <a:solidFill>
                  <a:srgbClr val="000000"/>
                </a:solidFill>
                <a:latin typeface="Courier New"/>
                <a:ea typeface="Calibri"/>
              </a:rPr>
              <a:t>sum_col1 = sum(col1), mean_col2 = mean(col2), sd_col3 = </a:t>
            </a:r>
            <a:r>
              <a:rPr lang="en-GB" spc="-1" dirty="0" err="1">
                <a:solidFill>
                  <a:srgbClr val="000000"/>
                </a:solidFill>
                <a:latin typeface="Courier New"/>
                <a:ea typeface="Calibri"/>
              </a:rPr>
              <a:t>sd</a:t>
            </a:r>
            <a:r>
              <a:rPr lang="en-GB" spc="-1" dirty="0">
                <a:solidFill>
                  <a:srgbClr val="000000"/>
                </a:solidFill>
                <a:latin typeface="Courier New"/>
                <a:ea typeface="Calibri"/>
              </a:rPr>
              <a:t>(col3)</a:t>
            </a:r>
            <a:r>
              <a:rPr lang="en-GB" b="1" spc="-1" dirty="0">
                <a:solidFill>
                  <a:srgbClr val="8064A2"/>
                </a:solidFill>
                <a:latin typeface="Courier New"/>
                <a:ea typeface="Calibri"/>
              </a:rPr>
              <a:t>)</a:t>
            </a:r>
            <a:r>
              <a:rPr lang="en-GB" spc="-1" dirty="0">
                <a:solidFill>
                  <a:srgbClr val="000000"/>
                </a:solidFill>
                <a:latin typeface="Courier New"/>
                <a:ea typeface="Calibri"/>
              </a:rPr>
              <a:t> -&gt; df1_sum</a:t>
            </a:r>
            <a:endParaRPr lang="en-GB" spc="-1" dirty="0">
              <a:latin typeface="Arial"/>
            </a:endParaRPr>
          </a:p>
        </p:txBody>
      </p:sp>
      <p:sp>
        <p:nvSpPr>
          <p:cNvPr id="351" name="CustomShape 3"/>
          <p:cNvSpPr/>
          <p:nvPr/>
        </p:nvSpPr>
        <p:spPr>
          <a:xfrm>
            <a:off x="1984440" y="5016600"/>
            <a:ext cx="7924680" cy="6386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 dirty="0">
                <a:solidFill>
                  <a:srgbClr val="000000"/>
                </a:solidFill>
                <a:ea typeface="Calibri"/>
              </a:rPr>
              <a:t>Note: </a:t>
            </a:r>
            <a:r>
              <a:rPr lang="en-GB" b="1" spc="-1" dirty="0">
                <a:solidFill>
                  <a:srgbClr val="000000"/>
                </a:solidFill>
                <a:ea typeface="Calibri"/>
              </a:rPr>
              <a:t>summarise() </a:t>
            </a:r>
            <a:r>
              <a:rPr lang="en-GB" spc="-1" dirty="0">
                <a:solidFill>
                  <a:srgbClr val="000000"/>
                </a:solidFill>
                <a:ea typeface="Calibri"/>
              </a:rPr>
              <a:t>can be used separately, but typically used on grouped data created by</a:t>
            </a:r>
            <a:r>
              <a:rPr lang="en-GB" b="1" spc="-1" dirty="0">
                <a:solidFill>
                  <a:srgbClr val="000000"/>
                </a:solidFill>
                <a:ea typeface="Calibri"/>
              </a:rPr>
              <a:t> </a:t>
            </a:r>
            <a:r>
              <a:rPr lang="en-GB" b="1" spc="-1" dirty="0" err="1">
                <a:solidFill>
                  <a:srgbClr val="000000"/>
                </a:solidFill>
                <a:ea typeface="Calibri"/>
              </a:rPr>
              <a:t>group_by</a:t>
            </a:r>
            <a:r>
              <a:rPr lang="en-GB" b="1" spc="-1" dirty="0">
                <a:solidFill>
                  <a:srgbClr val="000000"/>
                </a:solidFill>
                <a:ea typeface="Calibri"/>
              </a:rPr>
              <a:t>()</a:t>
            </a:r>
            <a:r>
              <a:rPr lang="en-GB" spc="-1" dirty="0">
                <a:solidFill>
                  <a:srgbClr val="000000"/>
                </a:solidFill>
                <a:ea typeface="Calibri"/>
              </a:rPr>
              <a:t> - see next slides.</a:t>
            </a:r>
            <a:endParaRPr lang="en-GB" spc="-1" dirty="0"/>
          </a:p>
        </p:txBody>
      </p:sp>
      <p:sp>
        <p:nvSpPr>
          <p:cNvPr id="352" name="CustomShape 4"/>
          <p:cNvSpPr/>
          <p:nvPr/>
        </p:nvSpPr>
        <p:spPr>
          <a:xfrm>
            <a:off x="3604875" y="1643781"/>
            <a:ext cx="4683810" cy="36787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 dirty="0">
                <a:solidFill>
                  <a:srgbClr val="000000"/>
                </a:solidFill>
                <a:ea typeface="DejaVu Sans"/>
              </a:rPr>
              <a:t>Reduces multiple values to a single value</a:t>
            </a:r>
            <a:endParaRPr lang="en-GB" spc="-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CustomShape 1"/>
          <p:cNvSpPr/>
          <p:nvPr/>
        </p:nvSpPr>
        <p:spPr>
          <a:xfrm>
            <a:off x="1793280" y="728640"/>
            <a:ext cx="847908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spc="-1" dirty="0">
                <a:solidFill>
                  <a:schemeClr val="tx2"/>
                </a:solidFill>
                <a:latin typeface="+mj-lt"/>
                <a:ea typeface="Calibri"/>
              </a:rPr>
              <a:t>Useful functions for summarisation</a:t>
            </a:r>
            <a:endParaRPr lang="en-GB" sz="3200" spc="-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54" name="CustomShape 2"/>
          <p:cNvSpPr/>
          <p:nvPr/>
        </p:nvSpPr>
        <p:spPr>
          <a:xfrm>
            <a:off x="1981200" y="1600200"/>
            <a:ext cx="822852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spcBef>
                <a:spcPts val="479"/>
              </a:spcBef>
            </a:pPr>
            <a:endParaRPr lang="en-GB" spc="-1" dirty="0">
              <a:latin typeface="Arial"/>
            </a:endParaRPr>
          </a:p>
          <a:p>
            <a:pPr marL="343080" indent="-342000"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spc="-1" dirty="0" err="1">
                <a:solidFill>
                  <a:srgbClr val="000000"/>
                </a:solidFill>
                <a:ea typeface="Calibri"/>
              </a:rPr>
              <a:t>Center</a:t>
            </a:r>
            <a:r>
              <a:rPr lang="en-GB" sz="2400" spc="-1" dirty="0">
                <a:solidFill>
                  <a:srgbClr val="000000"/>
                </a:solidFill>
                <a:latin typeface="Calibri"/>
                <a:ea typeface="Calibri"/>
              </a:rPr>
              <a:t>: </a:t>
            </a:r>
            <a:r>
              <a:rPr lang="en-GB" sz="2400" spc="-1" dirty="0">
                <a:solidFill>
                  <a:srgbClr val="000000"/>
                </a:solidFill>
                <a:latin typeface="Courier New"/>
                <a:ea typeface="Calibri"/>
              </a:rPr>
              <a:t>mean(), median()</a:t>
            </a:r>
            <a:endParaRPr lang="en-GB" sz="2400" spc="-1" dirty="0">
              <a:latin typeface="Arial"/>
            </a:endParaRPr>
          </a:p>
          <a:p>
            <a:pPr marL="343080" indent="-342000"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spc="-1" dirty="0">
                <a:solidFill>
                  <a:srgbClr val="000000"/>
                </a:solidFill>
                <a:ea typeface="Calibri"/>
              </a:rPr>
              <a:t>Spread: </a:t>
            </a:r>
            <a:r>
              <a:rPr lang="en-GB" sz="2400" spc="-1" dirty="0" err="1">
                <a:solidFill>
                  <a:srgbClr val="000000"/>
                </a:solidFill>
                <a:latin typeface="Courier New"/>
                <a:ea typeface="Calibri"/>
              </a:rPr>
              <a:t>sd</a:t>
            </a:r>
            <a:r>
              <a:rPr lang="en-GB" sz="2400" spc="-1" dirty="0">
                <a:solidFill>
                  <a:srgbClr val="000000"/>
                </a:solidFill>
                <a:latin typeface="Courier New"/>
                <a:ea typeface="Calibri"/>
              </a:rPr>
              <a:t>(), IQR()</a:t>
            </a:r>
            <a:endParaRPr lang="en-GB" sz="2400" spc="-1" dirty="0">
              <a:latin typeface="Arial"/>
            </a:endParaRPr>
          </a:p>
          <a:p>
            <a:pPr marL="343080" indent="-342000"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spc="-1" dirty="0">
                <a:solidFill>
                  <a:srgbClr val="000000"/>
                </a:solidFill>
                <a:ea typeface="Calibri"/>
              </a:rPr>
              <a:t>Range: </a:t>
            </a:r>
            <a:r>
              <a:rPr lang="en-GB" sz="2400" spc="-1" dirty="0">
                <a:solidFill>
                  <a:srgbClr val="000000"/>
                </a:solidFill>
                <a:latin typeface="Courier New"/>
                <a:ea typeface="Calibri"/>
              </a:rPr>
              <a:t>min(), max(), quantile()</a:t>
            </a:r>
            <a:endParaRPr lang="en-GB" sz="2400" spc="-1" dirty="0">
              <a:latin typeface="Arial"/>
            </a:endParaRPr>
          </a:p>
          <a:p>
            <a:pPr marL="343080" indent="-342000"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spc="-1" dirty="0">
                <a:solidFill>
                  <a:srgbClr val="000000"/>
                </a:solidFill>
                <a:ea typeface="Calibri"/>
              </a:rPr>
              <a:t>Position: </a:t>
            </a:r>
            <a:r>
              <a:rPr lang="en-GB" sz="2400" spc="-1" dirty="0">
                <a:solidFill>
                  <a:srgbClr val="000000"/>
                </a:solidFill>
                <a:latin typeface="Courier New"/>
                <a:ea typeface="Calibri"/>
              </a:rPr>
              <a:t>first(), last()</a:t>
            </a:r>
            <a:endParaRPr lang="en-GB" sz="2400" spc="-1" dirty="0">
              <a:latin typeface="Arial"/>
            </a:endParaRPr>
          </a:p>
          <a:p>
            <a:pPr marL="343080" indent="-342000"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spc="-1" dirty="0">
                <a:solidFill>
                  <a:srgbClr val="000000"/>
                </a:solidFill>
                <a:ea typeface="Calibri"/>
              </a:rPr>
              <a:t>Count: </a:t>
            </a:r>
            <a:r>
              <a:rPr lang="en-GB" sz="2400" spc="-1" dirty="0">
                <a:solidFill>
                  <a:srgbClr val="000000"/>
                </a:solidFill>
                <a:latin typeface="Courier New"/>
                <a:ea typeface="Calibri"/>
              </a:rPr>
              <a:t>n(), </a:t>
            </a:r>
            <a:r>
              <a:rPr lang="en-GB" sz="2400" spc="-1" dirty="0" err="1">
                <a:solidFill>
                  <a:srgbClr val="000000"/>
                </a:solidFill>
                <a:latin typeface="Courier New"/>
                <a:ea typeface="Calibri"/>
              </a:rPr>
              <a:t>n_distinct</a:t>
            </a:r>
            <a:r>
              <a:rPr lang="en-GB" sz="2400" spc="-1" dirty="0">
                <a:solidFill>
                  <a:srgbClr val="000000"/>
                </a:solidFill>
                <a:latin typeface="Courier New"/>
                <a:ea typeface="Calibri"/>
              </a:rPr>
              <a:t>()</a:t>
            </a:r>
            <a:endParaRPr lang="en-GB" sz="2400" spc="-1" dirty="0">
              <a:latin typeface="Arial"/>
            </a:endParaRPr>
          </a:p>
          <a:p>
            <a:pPr marL="343080" indent="-342000"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spc="-1" dirty="0">
                <a:solidFill>
                  <a:srgbClr val="000000"/>
                </a:solidFill>
                <a:ea typeface="Calibri"/>
              </a:rPr>
              <a:t>Logical: </a:t>
            </a:r>
            <a:r>
              <a:rPr lang="en-GB" sz="2400" spc="-1" dirty="0">
                <a:solidFill>
                  <a:srgbClr val="000000"/>
                </a:solidFill>
                <a:latin typeface="Courier New"/>
                <a:ea typeface="Calibri"/>
              </a:rPr>
              <a:t>any(), all()</a:t>
            </a:r>
            <a:br>
              <a:rPr dirty="0"/>
            </a:br>
            <a:r>
              <a:rPr lang="en-GB" sz="2400" spc="-1" dirty="0">
                <a:solidFill>
                  <a:srgbClr val="000000"/>
                </a:solidFill>
                <a:latin typeface="Courier New"/>
                <a:ea typeface="Calibri"/>
              </a:rPr>
              <a:t>...</a:t>
            </a:r>
            <a:endParaRPr lang="en-GB" sz="2400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CustomShape 1"/>
          <p:cNvSpPr/>
          <p:nvPr/>
        </p:nvSpPr>
        <p:spPr>
          <a:xfrm>
            <a:off x="1981200" y="63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spc="-1" dirty="0">
                <a:solidFill>
                  <a:schemeClr val="tx2"/>
                </a:solidFill>
                <a:latin typeface="+mj-lt"/>
                <a:ea typeface="DejaVu Sans"/>
              </a:rPr>
              <a:t>Group by one or more variables</a:t>
            </a:r>
            <a:endParaRPr lang="en-GB" sz="3200" spc="-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56" name="CustomShape 2"/>
          <p:cNvSpPr/>
          <p:nvPr/>
        </p:nvSpPr>
        <p:spPr>
          <a:xfrm>
            <a:off x="2422920" y="2503800"/>
            <a:ext cx="7502040" cy="6386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ea typeface="Calibri"/>
              </a:rPr>
              <a:t>Grouping itself doesn’t change how the data looks! </a:t>
            </a:r>
            <a:endParaRPr lang="en-GB" spc="-1"/>
          </a:p>
          <a:p>
            <a:pPr algn="ctr"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ea typeface="Calibri"/>
              </a:rPr>
              <a:t>It means that further operations will always be performed “by group”. </a:t>
            </a:r>
            <a:endParaRPr lang="en-GB" spc="-1"/>
          </a:p>
        </p:txBody>
      </p:sp>
      <p:sp>
        <p:nvSpPr>
          <p:cNvPr id="357" name="CustomShape 3"/>
          <p:cNvSpPr/>
          <p:nvPr/>
        </p:nvSpPr>
        <p:spPr>
          <a:xfrm>
            <a:off x="3878760" y="2182680"/>
            <a:ext cx="2742120" cy="63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just">
              <a:lnSpc>
                <a:spcPct val="100000"/>
              </a:lnSpc>
            </a:pPr>
            <a:endParaRPr lang="en-GB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pc="-1">
              <a:latin typeface="Arial"/>
            </a:endParaRPr>
          </a:p>
        </p:txBody>
      </p:sp>
      <p:sp>
        <p:nvSpPr>
          <p:cNvPr id="358" name="CustomShape 4"/>
          <p:cNvSpPr/>
          <p:nvPr/>
        </p:nvSpPr>
        <p:spPr>
          <a:xfrm>
            <a:off x="2291520" y="1996560"/>
            <a:ext cx="42375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Calibri"/>
              </a:rPr>
              <a:t> df1 %&gt;% </a:t>
            </a:r>
            <a:r>
              <a:rPr lang="en-GB" b="1" spc="-1">
                <a:solidFill>
                  <a:srgbClr val="F79646"/>
                </a:solidFill>
                <a:latin typeface="Courier New"/>
                <a:ea typeface="Calibri"/>
              </a:rPr>
              <a:t>group_by</a:t>
            </a:r>
            <a:r>
              <a:rPr lang="en-GB" spc="-1">
                <a:solidFill>
                  <a:srgbClr val="000000"/>
                </a:solidFill>
                <a:latin typeface="Courier New"/>
                <a:ea typeface="Calibri"/>
              </a:rPr>
              <a:t>(col2)</a:t>
            </a:r>
            <a:endParaRPr lang="en-GB" spc="-1">
              <a:latin typeface="Arial"/>
            </a:endParaRPr>
          </a:p>
        </p:txBody>
      </p:sp>
      <p:sp>
        <p:nvSpPr>
          <p:cNvPr id="359" name="CustomShape 5"/>
          <p:cNvSpPr/>
          <p:nvPr/>
        </p:nvSpPr>
        <p:spPr>
          <a:xfrm>
            <a:off x="2289720" y="3278520"/>
            <a:ext cx="7502040" cy="91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Calibri"/>
              </a:rPr>
              <a:t>df1 </a:t>
            </a:r>
            <a:r>
              <a:rPr lang="en-GB" b="1" spc="-1">
                <a:solidFill>
                  <a:srgbClr val="000000"/>
                </a:solidFill>
                <a:latin typeface="Courier New"/>
                <a:ea typeface="Calibri"/>
              </a:rPr>
              <a:t>%&gt;%</a:t>
            </a:r>
            <a:r>
              <a:rPr lang="en-GB" spc="-1">
                <a:solidFill>
                  <a:srgbClr val="000000"/>
                </a:solidFill>
                <a:latin typeface="Courier New"/>
                <a:ea typeface="Calibri"/>
              </a:rPr>
              <a:t> </a:t>
            </a:r>
            <a:endParaRPr lang="en-GB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Calibri"/>
              </a:rPr>
              <a:t>       </a:t>
            </a:r>
            <a:r>
              <a:rPr lang="en-GB" b="1" spc="-1">
                <a:solidFill>
                  <a:srgbClr val="F79646"/>
                </a:solidFill>
                <a:latin typeface="Courier New"/>
                <a:ea typeface="Calibri"/>
              </a:rPr>
              <a:t>group_by</a:t>
            </a:r>
            <a:r>
              <a:rPr lang="en-GB" spc="-1">
                <a:solidFill>
                  <a:srgbClr val="000000"/>
                </a:solidFill>
                <a:latin typeface="Courier New"/>
                <a:ea typeface="Calibri"/>
              </a:rPr>
              <a:t>(col2) </a:t>
            </a:r>
            <a:r>
              <a:rPr lang="en-GB" b="1" spc="-1">
                <a:solidFill>
                  <a:srgbClr val="000000"/>
                </a:solidFill>
                <a:latin typeface="Courier New"/>
                <a:ea typeface="Calibri"/>
              </a:rPr>
              <a:t>%&gt;%</a:t>
            </a:r>
            <a:endParaRPr lang="en-GB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Calibri"/>
              </a:rPr>
              <a:t>       </a:t>
            </a:r>
            <a:r>
              <a:rPr lang="en-GB" b="1" spc="-1">
                <a:solidFill>
                  <a:srgbClr val="8064A2"/>
                </a:solidFill>
                <a:latin typeface="Courier New"/>
                <a:ea typeface="Calibri"/>
              </a:rPr>
              <a:t>summarise</a:t>
            </a:r>
            <a:r>
              <a:rPr lang="en-GB" spc="-1">
                <a:solidFill>
                  <a:srgbClr val="000000"/>
                </a:solidFill>
                <a:latin typeface="Courier New"/>
                <a:ea typeface="Calibri"/>
              </a:rPr>
              <a:t>(sum_col4 = sum(col4)) -&gt; df1_grouped</a:t>
            </a:r>
            <a:endParaRPr lang="en-GB" spc="-1">
              <a:latin typeface="Arial"/>
            </a:endParaRPr>
          </a:p>
        </p:txBody>
      </p:sp>
      <p:sp>
        <p:nvSpPr>
          <p:cNvPr id="360" name="CustomShape 6"/>
          <p:cNvSpPr/>
          <p:nvPr/>
        </p:nvSpPr>
        <p:spPr>
          <a:xfrm>
            <a:off x="2289720" y="4358880"/>
            <a:ext cx="7502040" cy="91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Calibri"/>
              </a:rPr>
              <a:t>df1 </a:t>
            </a:r>
            <a:r>
              <a:rPr lang="en-GB" b="1" spc="-1">
                <a:solidFill>
                  <a:srgbClr val="000000"/>
                </a:solidFill>
                <a:latin typeface="Courier New"/>
                <a:ea typeface="Calibri"/>
              </a:rPr>
              <a:t>%&gt;%</a:t>
            </a:r>
            <a:r>
              <a:rPr lang="en-GB" spc="-1">
                <a:solidFill>
                  <a:srgbClr val="000000"/>
                </a:solidFill>
                <a:latin typeface="Courier New"/>
                <a:ea typeface="Calibri"/>
              </a:rPr>
              <a:t> </a:t>
            </a:r>
            <a:endParaRPr lang="en-GB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Calibri"/>
              </a:rPr>
              <a:t>       </a:t>
            </a:r>
            <a:r>
              <a:rPr lang="en-GB" b="1" spc="-1">
                <a:solidFill>
                  <a:srgbClr val="F79646"/>
                </a:solidFill>
                <a:latin typeface="Courier New"/>
                <a:ea typeface="Calibri"/>
              </a:rPr>
              <a:t>group_by</a:t>
            </a:r>
            <a:r>
              <a:rPr lang="en-GB" spc="-1">
                <a:solidFill>
                  <a:srgbClr val="000000"/>
                </a:solidFill>
                <a:latin typeface="Courier New"/>
                <a:ea typeface="Calibri"/>
              </a:rPr>
              <a:t>(col2, col3) </a:t>
            </a:r>
            <a:r>
              <a:rPr lang="en-GB" b="1" spc="-1">
                <a:solidFill>
                  <a:srgbClr val="000000"/>
                </a:solidFill>
                <a:latin typeface="Courier New"/>
                <a:ea typeface="Calibri"/>
              </a:rPr>
              <a:t>%&gt;%</a:t>
            </a:r>
            <a:endParaRPr lang="en-GB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Calibri"/>
              </a:rPr>
              <a:t>       </a:t>
            </a:r>
            <a:r>
              <a:rPr lang="en-GB" b="1" spc="-1">
                <a:solidFill>
                  <a:srgbClr val="8064A2"/>
                </a:solidFill>
                <a:latin typeface="Courier New"/>
                <a:ea typeface="Calibri"/>
              </a:rPr>
              <a:t>summarise</a:t>
            </a:r>
            <a:r>
              <a:rPr lang="en-GB" spc="-1">
                <a:solidFill>
                  <a:srgbClr val="000000"/>
                </a:solidFill>
                <a:latin typeface="Courier New"/>
                <a:ea typeface="Calibri"/>
              </a:rPr>
              <a:t>(sum_col4 = sum(col4)) -&gt; df1_grouped</a:t>
            </a:r>
            <a:endParaRPr lang="en-GB" spc="-1">
              <a:latin typeface="Arial"/>
            </a:endParaRPr>
          </a:p>
        </p:txBody>
      </p:sp>
      <p:sp>
        <p:nvSpPr>
          <p:cNvPr id="361" name="CustomShape 7"/>
          <p:cNvSpPr/>
          <p:nvPr/>
        </p:nvSpPr>
        <p:spPr>
          <a:xfrm>
            <a:off x="2344440" y="5361120"/>
            <a:ext cx="7502040" cy="91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Calibri"/>
              </a:rPr>
              <a:t>df1 </a:t>
            </a:r>
            <a:r>
              <a:rPr lang="en-GB" b="1" spc="-1">
                <a:solidFill>
                  <a:srgbClr val="000000"/>
                </a:solidFill>
                <a:latin typeface="Courier New"/>
                <a:ea typeface="Calibri"/>
              </a:rPr>
              <a:t>%&gt;%</a:t>
            </a:r>
            <a:r>
              <a:rPr lang="en-GB" spc="-1">
                <a:solidFill>
                  <a:srgbClr val="000000"/>
                </a:solidFill>
                <a:latin typeface="Courier New"/>
                <a:ea typeface="Calibri"/>
              </a:rPr>
              <a:t> </a:t>
            </a:r>
            <a:endParaRPr lang="en-GB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Calibri"/>
              </a:rPr>
              <a:t>       </a:t>
            </a:r>
            <a:r>
              <a:rPr lang="en-GB" b="1" spc="-1">
                <a:solidFill>
                  <a:srgbClr val="F79646"/>
                </a:solidFill>
                <a:latin typeface="Courier New"/>
                <a:ea typeface="Calibri"/>
              </a:rPr>
              <a:t>group_by</a:t>
            </a:r>
            <a:r>
              <a:rPr lang="en-GB" spc="-1">
                <a:solidFill>
                  <a:srgbClr val="000000"/>
                </a:solidFill>
                <a:latin typeface="Courier New"/>
                <a:ea typeface="Calibri"/>
              </a:rPr>
              <a:t>(new_col2 = toupper(col2)) </a:t>
            </a:r>
            <a:r>
              <a:rPr lang="en-GB" b="1" spc="-1">
                <a:solidFill>
                  <a:srgbClr val="000000"/>
                </a:solidFill>
                <a:latin typeface="Courier New"/>
                <a:ea typeface="Calibri"/>
              </a:rPr>
              <a:t>%&gt;%</a:t>
            </a:r>
            <a:endParaRPr lang="en-GB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Calibri"/>
              </a:rPr>
              <a:t>       </a:t>
            </a:r>
            <a:r>
              <a:rPr lang="en-GB" b="1" spc="-1">
                <a:solidFill>
                  <a:srgbClr val="8064A2"/>
                </a:solidFill>
                <a:latin typeface="Courier New"/>
                <a:ea typeface="Calibri"/>
              </a:rPr>
              <a:t>summarise</a:t>
            </a:r>
            <a:r>
              <a:rPr lang="en-GB" spc="-1">
                <a:solidFill>
                  <a:srgbClr val="000000"/>
                </a:solidFill>
                <a:latin typeface="Courier New"/>
                <a:ea typeface="Calibri"/>
              </a:rPr>
              <a:t>(sum_col4 = sum(col4)) -&gt; df1_grouped</a:t>
            </a:r>
            <a:endParaRPr lang="en-GB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CustomShape 1"/>
          <p:cNvSpPr/>
          <p:nvPr/>
        </p:nvSpPr>
        <p:spPr>
          <a:xfrm>
            <a:off x="1981200" y="63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spc="-1" dirty="0">
                <a:solidFill>
                  <a:schemeClr val="tx2"/>
                </a:solidFill>
                <a:latin typeface="+mj-lt"/>
                <a:ea typeface="DejaVu Sans"/>
              </a:rPr>
              <a:t>Explore it yourself</a:t>
            </a:r>
            <a:endParaRPr lang="en-GB" sz="3200" spc="-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64" name="CustomShape 3"/>
          <p:cNvSpPr/>
          <p:nvPr/>
        </p:nvSpPr>
        <p:spPr>
          <a:xfrm>
            <a:off x="2191800" y="2238480"/>
            <a:ext cx="7807319" cy="63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b="1" spc="-1" dirty="0">
                <a:solidFill>
                  <a:srgbClr val="948A54"/>
                </a:solidFill>
                <a:latin typeface="Courier New"/>
                <a:ea typeface="Calibri"/>
              </a:rPr>
              <a:t>across</a:t>
            </a:r>
            <a:r>
              <a:rPr lang="en-GB" spc="-1" dirty="0">
                <a:solidFill>
                  <a:srgbClr val="000000"/>
                </a:solidFill>
                <a:latin typeface="Courier New"/>
                <a:ea typeface="Calibri"/>
              </a:rPr>
              <a:t>()</a:t>
            </a:r>
            <a:r>
              <a:rPr lang="en-GB" spc="-1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lang="en-GB" spc="-1" dirty="0">
                <a:solidFill>
                  <a:srgbClr val="000000"/>
                </a:solidFill>
                <a:ea typeface="Calibri"/>
              </a:rPr>
              <a:t>– function that </a:t>
            </a:r>
            <a:r>
              <a:rPr lang="en-GB" dirty="0"/>
              <a:t>makes it easy to apply the same transformation to multiple columns</a:t>
            </a:r>
            <a:endParaRPr lang="en-GB" spc="-1" dirty="0">
              <a:latin typeface="Arial"/>
            </a:endParaRPr>
          </a:p>
        </p:txBody>
      </p:sp>
      <p:sp>
        <p:nvSpPr>
          <p:cNvPr id="365" name="CustomShape 4"/>
          <p:cNvSpPr/>
          <p:nvPr/>
        </p:nvSpPr>
        <p:spPr>
          <a:xfrm>
            <a:off x="2626320" y="4656600"/>
            <a:ext cx="2742120" cy="36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6" name="CustomShape 5"/>
          <p:cNvSpPr/>
          <p:nvPr/>
        </p:nvSpPr>
        <p:spPr>
          <a:xfrm>
            <a:off x="2344439" y="3469320"/>
            <a:ext cx="7502040" cy="118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 dirty="0">
                <a:solidFill>
                  <a:srgbClr val="000000"/>
                </a:solidFill>
                <a:latin typeface="Courier New"/>
                <a:ea typeface="Calibri"/>
              </a:rPr>
              <a:t>df1 </a:t>
            </a:r>
            <a:r>
              <a:rPr lang="en-GB" b="1" spc="-1" dirty="0">
                <a:solidFill>
                  <a:srgbClr val="000000"/>
                </a:solidFill>
                <a:latin typeface="Courier New"/>
                <a:ea typeface="Calibri"/>
              </a:rPr>
              <a:t>%&gt;%</a:t>
            </a:r>
            <a:r>
              <a:rPr lang="en-GB" spc="-1" dirty="0">
                <a:solidFill>
                  <a:srgbClr val="000000"/>
                </a:solidFill>
                <a:latin typeface="Courier New"/>
                <a:ea typeface="Calibri"/>
              </a:rPr>
              <a:t> </a:t>
            </a:r>
            <a:endParaRPr lang="en-GB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 dirty="0">
                <a:solidFill>
                  <a:srgbClr val="000000"/>
                </a:solidFill>
                <a:latin typeface="Courier New"/>
                <a:ea typeface="Calibri"/>
              </a:rPr>
              <a:t>       </a:t>
            </a:r>
            <a:r>
              <a:rPr lang="en-GB" b="1" spc="-1" dirty="0" err="1">
                <a:solidFill>
                  <a:srgbClr val="F79646"/>
                </a:solidFill>
                <a:latin typeface="Courier New"/>
                <a:ea typeface="Calibri"/>
              </a:rPr>
              <a:t>group_by</a:t>
            </a:r>
            <a:r>
              <a:rPr lang="en-GB" spc="-1" dirty="0">
                <a:solidFill>
                  <a:srgbClr val="000000"/>
                </a:solidFill>
                <a:latin typeface="Courier New"/>
                <a:ea typeface="Calibri"/>
              </a:rPr>
              <a:t>(col2, col3) </a:t>
            </a:r>
            <a:r>
              <a:rPr lang="en-GB" b="1" spc="-1" dirty="0">
                <a:solidFill>
                  <a:srgbClr val="000000"/>
                </a:solidFill>
                <a:latin typeface="Courier New"/>
                <a:ea typeface="Calibri"/>
              </a:rPr>
              <a:t>%&gt;%</a:t>
            </a:r>
            <a:endParaRPr lang="en-GB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 dirty="0">
                <a:solidFill>
                  <a:srgbClr val="000000"/>
                </a:solidFill>
                <a:latin typeface="Courier New"/>
                <a:ea typeface="Calibri"/>
              </a:rPr>
              <a:t>       </a:t>
            </a:r>
            <a:r>
              <a:rPr lang="en-GB" b="1" spc="-1" dirty="0">
                <a:solidFill>
                  <a:srgbClr val="8064A2"/>
                </a:solidFill>
                <a:latin typeface="Courier New"/>
                <a:ea typeface="Calibri"/>
              </a:rPr>
              <a:t>summarise(</a:t>
            </a:r>
            <a:r>
              <a:rPr lang="en-GB" b="1" spc="-1" dirty="0">
                <a:solidFill>
                  <a:srgbClr val="948A54"/>
                </a:solidFill>
                <a:latin typeface="Courier New"/>
                <a:ea typeface="Calibri"/>
              </a:rPr>
              <a:t>across(</a:t>
            </a:r>
            <a:r>
              <a:rPr lang="en-GB" spc="-1" dirty="0">
                <a:solidFill>
                  <a:srgbClr val="000000"/>
                </a:solidFill>
                <a:latin typeface="Courier New"/>
                <a:ea typeface="Calibri"/>
              </a:rPr>
              <a:t>c(col1, col4), mean</a:t>
            </a:r>
            <a:r>
              <a:rPr lang="en-GB" b="1" spc="-1" dirty="0">
                <a:solidFill>
                  <a:srgbClr val="948A54"/>
                </a:solidFill>
                <a:latin typeface="Courier New"/>
                <a:ea typeface="Calibri"/>
              </a:rPr>
              <a:t>)</a:t>
            </a:r>
            <a:r>
              <a:rPr lang="en-GB" b="1" spc="-1" dirty="0">
                <a:solidFill>
                  <a:srgbClr val="8064A2"/>
                </a:solidFill>
                <a:latin typeface="Courier New"/>
                <a:ea typeface="Calibri"/>
              </a:rPr>
              <a:t>)</a:t>
            </a:r>
            <a:r>
              <a:rPr lang="en-GB" spc="-1" dirty="0">
                <a:solidFill>
                  <a:srgbClr val="000000"/>
                </a:solidFill>
                <a:latin typeface="Courier New"/>
                <a:ea typeface="Calibri"/>
              </a:rPr>
              <a:t> -&gt; df1_grouped</a:t>
            </a:r>
            <a:endParaRPr lang="en-GB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CustomShape 1"/>
          <p:cNvSpPr/>
          <p:nvPr/>
        </p:nvSpPr>
        <p:spPr>
          <a:xfrm>
            <a:off x="1981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spc="-1" dirty="0">
                <a:solidFill>
                  <a:schemeClr val="tx2"/>
                </a:solidFill>
                <a:latin typeface="+mj-lt"/>
                <a:ea typeface="DejaVu Sans"/>
              </a:rPr>
              <a:t>Real dataset</a:t>
            </a:r>
            <a:endParaRPr lang="en-GB" sz="3200" spc="-1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368" name="Picture 4" descr="Text, timeline&#10;&#10;Description automatically generated"/>
          <p:cNvPicPr/>
          <p:nvPr/>
        </p:nvPicPr>
        <p:blipFill>
          <a:blip r:embed="rId2"/>
          <a:stretch/>
        </p:blipFill>
        <p:spPr>
          <a:xfrm>
            <a:off x="2328960" y="1154160"/>
            <a:ext cx="7071480" cy="4798800"/>
          </a:xfrm>
          <a:prstGeom prst="rect">
            <a:avLst/>
          </a:prstGeom>
          <a:ln>
            <a:noFill/>
          </a:ln>
        </p:spPr>
      </p:pic>
      <p:sp>
        <p:nvSpPr>
          <p:cNvPr id="369" name="CustomShape 2"/>
          <p:cNvSpPr/>
          <p:nvPr/>
        </p:nvSpPr>
        <p:spPr>
          <a:xfrm>
            <a:off x="7019881" y="5952960"/>
            <a:ext cx="41043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 dirty="0">
                <a:solidFill>
                  <a:srgbClr val="000000"/>
                </a:solidFill>
                <a:ea typeface="Calibri"/>
              </a:rPr>
              <a:t>DOI: </a:t>
            </a:r>
            <a:r>
              <a:rPr lang="en-GB" u="sng" spc="-1" dirty="0">
                <a:solidFill>
                  <a:srgbClr val="0000FF"/>
                </a:solidFill>
                <a:ea typeface="Calibri"/>
                <a:hlinkClick r:id="rId3"/>
              </a:rPr>
              <a:t>10.1038/s41591-020-01194-5</a:t>
            </a:r>
            <a:endParaRPr lang="en-GB" spc="-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CustomShape 1"/>
          <p:cNvSpPr/>
          <p:nvPr/>
        </p:nvSpPr>
        <p:spPr>
          <a:xfrm>
            <a:off x="1981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spc="-1">
                <a:solidFill>
                  <a:schemeClr val="tx2"/>
                </a:solidFill>
                <a:latin typeface="+mj-lt"/>
                <a:ea typeface="DejaVu Sans"/>
              </a:rPr>
              <a:t>Data to explore - MSD</a:t>
            </a:r>
            <a:endParaRPr lang="en-GB" sz="3200" spc="-1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371" name="Picture 4" descr="Chart, box and whisker chart&#10;&#10;Description automatically generated"/>
          <p:cNvPicPr/>
          <p:nvPr/>
        </p:nvPicPr>
        <p:blipFill>
          <a:blip r:embed="rId2"/>
          <a:stretch/>
        </p:blipFill>
        <p:spPr>
          <a:xfrm>
            <a:off x="2770541" y="1251000"/>
            <a:ext cx="6695640" cy="3938040"/>
          </a:xfrm>
          <a:prstGeom prst="rect">
            <a:avLst/>
          </a:prstGeom>
          <a:ln>
            <a:noFill/>
          </a:ln>
        </p:spPr>
      </p:pic>
      <p:sp>
        <p:nvSpPr>
          <p:cNvPr id="372" name="CustomShape 2"/>
          <p:cNvSpPr/>
          <p:nvPr/>
        </p:nvSpPr>
        <p:spPr>
          <a:xfrm>
            <a:off x="536801" y="5205600"/>
            <a:ext cx="11259239" cy="11680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400" spc="-1" dirty="0">
                <a:solidFill>
                  <a:srgbClr val="000000"/>
                </a:solidFill>
                <a:ea typeface="Calibri"/>
              </a:rPr>
              <a:t>A multiplex cytokine analysis was performed on day 7 after vaccination using supernatants after antigen-specific stimulation of PBMCs from ChAdOx1 nCov-19 (red) and </a:t>
            </a:r>
            <a:r>
              <a:rPr lang="en-GB" sz="1400" spc="-1" dirty="0" err="1">
                <a:solidFill>
                  <a:srgbClr val="000000"/>
                </a:solidFill>
                <a:ea typeface="Calibri"/>
              </a:rPr>
              <a:t>MenACWY</a:t>
            </a:r>
            <a:r>
              <a:rPr lang="en-GB" sz="1400" spc="-1" dirty="0">
                <a:solidFill>
                  <a:srgbClr val="000000"/>
                </a:solidFill>
                <a:ea typeface="Calibri"/>
              </a:rPr>
              <a:t> (blue). Number of samples presented: </a:t>
            </a:r>
            <a:r>
              <a:rPr lang="en-GB" sz="1400" spc="-1" dirty="0" err="1">
                <a:solidFill>
                  <a:srgbClr val="000000"/>
                </a:solidFill>
                <a:ea typeface="Calibri"/>
              </a:rPr>
              <a:t>MenACWY</a:t>
            </a:r>
            <a:r>
              <a:rPr lang="en-GB" sz="1400" spc="-1" dirty="0">
                <a:solidFill>
                  <a:srgbClr val="000000"/>
                </a:solidFill>
                <a:ea typeface="Calibri"/>
              </a:rPr>
              <a:t>–ChAdOx1 nCov-19: IFN-</a:t>
            </a:r>
            <a:r>
              <a:rPr lang="en-GB" sz="1400" spc="-1" dirty="0" err="1">
                <a:solidFill>
                  <a:srgbClr val="000000"/>
                </a:solidFill>
                <a:ea typeface="Calibri"/>
              </a:rPr>
              <a:t>γ</a:t>
            </a:r>
            <a:r>
              <a:rPr lang="en-GB" sz="1400" spc="-1" dirty="0">
                <a:solidFill>
                  <a:srgbClr val="000000"/>
                </a:solidFill>
                <a:ea typeface="Calibri"/>
              </a:rPr>
              <a:t> (</a:t>
            </a:r>
            <a:r>
              <a:rPr lang="en-GB" sz="1400" i="1" spc="-1" dirty="0">
                <a:solidFill>
                  <a:srgbClr val="000000"/>
                </a:solidFill>
                <a:ea typeface="Calibri"/>
              </a:rPr>
              <a:t>n</a:t>
            </a:r>
            <a:r>
              <a:rPr lang="en-GB" sz="1400" spc="-1" dirty="0">
                <a:solidFill>
                  <a:srgbClr val="000000"/>
                </a:solidFill>
                <a:ea typeface="Calibri"/>
              </a:rPr>
              <a:t> = 40,40); IL-2 (</a:t>
            </a:r>
            <a:r>
              <a:rPr lang="en-GB" sz="1400" i="1" spc="-1" dirty="0">
                <a:solidFill>
                  <a:srgbClr val="000000"/>
                </a:solidFill>
                <a:ea typeface="Calibri"/>
              </a:rPr>
              <a:t>n</a:t>
            </a:r>
            <a:r>
              <a:rPr lang="en-GB" sz="1400" spc="-1" dirty="0">
                <a:solidFill>
                  <a:srgbClr val="000000"/>
                </a:solidFill>
                <a:ea typeface="Calibri"/>
              </a:rPr>
              <a:t> = 42,42); TNF-α (</a:t>
            </a:r>
            <a:r>
              <a:rPr lang="en-GB" sz="1400" i="1" spc="-1" dirty="0">
                <a:solidFill>
                  <a:srgbClr val="000000"/>
                </a:solidFill>
                <a:ea typeface="Calibri"/>
              </a:rPr>
              <a:t>n</a:t>
            </a:r>
            <a:r>
              <a:rPr lang="en-GB" sz="1400" spc="-1" dirty="0">
                <a:solidFill>
                  <a:srgbClr val="000000"/>
                </a:solidFill>
                <a:ea typeface="Calibri"/>
              </a:rPr>
              <a:t> = 40,41); IL-1β (</a:t>
            </a:r>
            <a:r>
              <a:rPr lang="en-GB" sz="1400" i="1" spc="-1" dirty="0">
                <a:solidFill>
                  <a:srgbClr val="000000"/>
                </a:solidFill>
                <a:ea typeface="Calibri"/>
              </a:rPr>
              <a:t>n</a:t>
            </a:r>
            <a:r>
              <a:rPr lang="en-GB" sz="1400" spc="-1" dirty="0">
                <a:solidFill>
                  <a:srgbClr val="000000"/>
                </a:solidFill>
                <a:ea typeface="Calibri"/>
              </a:rPr>
              <a:t> = 41,42); IL-12p70 (</a:t>
            </a:r>
            <a:r>
              <a:rPr lang="en-GB" sz="1400" i="1" spc="-1" dirty="0">
                <a:solidFill>
                  <a:srgbClr val="000000"/>
                </a:solidFill>
                <a:ea typeface="Calibri"/>
              </a:rPr>
              <a:t>n</a:t>
            </a:r>
            <a:r>
              <a:rPr lang="en-GB" sz="1400" spc="-1" dirty="0">
                <a:solidFill>
                  <a:srgbClr val="000000"/>
                </a:solidFill>
                <a:ea typeface="Calibri"/>
              </a:rPr>
              <a:t> = 38,28); IL-4 (</a:t>
            </a:r>
            <a:r>
              <a:rPr lang="en-GB" sz="1400" i="1" spc="-1" dirty="0">
                <a:solidFill>
                  <a:srgbClr val="000000"/>
                </a:solidFill>
                <a:ea typeface="Calibri"/>
              </a:rPr>
              <a:t>n</a:t>
            </a:r>
            <a:r>
              <a:rPr lang="en-GB" sz="1400" spc="-1" dirty="0">
                <a:solidFill>
                  <a:srgbClr val="000000"/>
                </a:solidFill>
                <a:ea typeface="Calibri"/>
              </a:rPr>
              <a:t> = 38,38); IL-10 (</a:t>
            </a:r>
            <a:r>
              <a:rPr lang="en-GB" sz="1400" i="1" spc="-1" dirty="0">
                <a:solidFill>
                  <a:srgbClr val="000000"/>
                </a:solidFill>
                <a:ea typeface="Calibri"/>
              </a:rPr>
              <a:t>n</a:t>
            </a:r>
            <a:r>
              <a:rPr lang="en-GB" sz="1400" spc="-1" dirty="0">
                <a:solidFill>
                  <a:srgbClr val="000000"/>
                </a:solidFill>
                <a:ea typeface="Calibri"/>
              </a:rPr>
              <a:t> = 41,39); IL-13 (</a:t>
            </a:r>
            <a:r>
              <a:rPr lang="en-GB" sz="1400" i="1" spc="-1" dirty="0">
                <a:solidFill>
                  <a:srgbClr val="000000"/>
                </a:solidFill>
                <a:ea typeface="Calibri"/>
              </a:rPr>
              <a:t>n</a:t>
            </a:r>
            <a:r>
              <a:rPr lang="en-GB" sz="1400" spc="-1" dirty="0">
                <a:solidFill>
                  <a:srgbClr val="000000"/>
                </a:solidFill>
                <a:ea typeface="Calibri"/>
              </a:rPr>
              <a:t> = 31,36); and IL-8 (</a:t>
            </a:r>
            <a:r>
              <a:rPr lang="en-GB" sz="1400" i="1" spc="-1" dirty="0">
                <a:solidFill>
                  <a:srgbClr val="000000"/>
                </a:solidFill>
                <a:ea typeface="Calibri"/>
              </a:rPr>
              <a:t>n</a:t>
            </a:r>
            <a:r>
              <a:rPr lang="en-GB" sz="1400" spc="-1" dirty="0">
                <a:solidFill>
                  <a:srgbClr val="000000"/>
                </a:solidFill>
                <a:ea typeface="Calibri"/>
              </a:rPr>
              <a:t> = 42,41). Individual data points are shown here as an aligned dot plot with lines showing the median with IQR. Significant differences were determined by two-tailed Mann–Whitney test with Bonferroni correction for multiple comparisons (***</a:t>
            </a:r>
            <a:r>
              <a:rPr lang="en-GB" sz="1400" i="1" spc="-1" dirty="0">
                <a:solidFill>
                  <a:srgbClr val="000000"/>
                </a:solidFill>
                <a:ea typeface="Calibri"/>
              </a:rPr>
              <a:t>P</a:t>
            </a:r>
            <a:r>
              <a:rPr lang="en-GB" sz="1400" spc="-1" dirty="0">
                <a:solidFill>
                  <a:srgbClr val="000000"/>
                </a:solidFill>
                <a:ea typeface="Calibri"/>
              </a:rPr>
              <a:t> &lt; 0.001; **</a:t>
            </a:r>
            <a:r>
              <a:rPr lang="en-GB" sz="1400" i="1" spc="-1" dirty="0">
                <a:solidFill>
                  <a:srgbClr val="000000"/>
                </a:solidFill>
                <a:ea typeface="Calibri"/>
              </a:rPr>
              <a:t>P</a:t>
            </a:r>
            <a:r>
              <a:rPr lang="en-GB" sz="1400" spc="-1" dirty="0">
                <a:solidFill>
                  <a:srgbClr val="000000"/>
                </a:solidFill>
                <a:ea typeface="Calibri"/>
              </a:rPr>
              <a:t> &lt; 0.01; *</a:t>
            </a:r>
            <a:r>
              <a:rPr lang="en-GB" sz="1400" i="1" spc="-1" dirty="0">
                <a:solidFill>
                  <a:srgbClr val="000000"/>
                </a:solidFill>
                <a:ea typeface="Calibri"/>
              </a:rPr>
              <a:t>P</a:t>
            </a:r>
            <a:r>
              <a:rPr lang="en-GB" sz="1400" spc="-1" dirty="0">
                <a:solidFill>
                  <a:srgbClr val="000000"/>
                </a:solidFill>
                <a:ea typeface="Calibri"/>
              </a:rPr>
              <a:t> &lt; 0.05).</a:t>
            </a:r>
            <a:endParaRPr lang="en-GB" sz="1400" spc="-1" dirty="0"/>
          </a:p>
        </p:txBody>
      </p:sp>
      <p:sp>
        <p:nvSpPr>
          <p:cNvPr id="373" name="CustomShape 3"/>
          <p:cNvSpPr/>
          <p:nvPr/>
        </p:nvSpPr>
        <p:spPr>
          <a:xfrm>
            <a:off x="3593141" y="1313280"/>
            <a:ext cx="615960" cy="3951000"/>
          </a:xfrm>
          <a:prstGeom prst="rect">
            <a:avLst/>
          </a:prstGeom>
          <a:noFill/>
          <a:ln>
            <a:rou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4" name="CustomShape 4"/>
          <p:cNvSpPr/>
          <p:nvPr/>
        </p:nvSpPr>
        <p:spPr>
          <a:xfrm>
            <a:off x="4211621" y="1313280"/>
            <a:ext cx="615960" cy="3951000"/>
          </a:xfrm>
          <a:prstGeom prst="rect">
            <a:avLst/>
          </a:prstGeom>
          <a:noFill/>
          <a:ln>
            <a:rou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5" name="CustomShape 5"/>
          <p:cNvSpPr/>
          <p:nvPr/>
        </p:nvSpPr>
        <p:spPr>
          <a:xfrm>
            <a:off x="5550461" y="1313280"/>
            <a:ext cx="615960" cy="3951000"/>
          </a:xfrm>
          <a:prstGeom prst="rect">
            <a:avLst/>
          </a:prstGeom>
          <a:noFill/>
          <a:ln>
            <a:rou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6" name="CustomShape 6"/>
          <p:cNvSpPr/>
          <p:nvPr/>
        </p:nvSpPr>
        <p:spPr>
          <a:xfrm>
            <a:off x="7523261" y="1313280"/>
            <a:ext cx="615960" cy="3951000"/>
          </a:xfrm>
          <a:prstGeom prst="rect">
            <a:avLst/>
          </a:prstGeom>
          <a:noFill/>
          <a:ln>
            <a:rou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7" name="CustomShape 7"/>
          <p:cNvSpPr/>
          <p:nvPr/>
        </p:nvSpPr>
        <p:spPr>
          <a:xfrm>
            <a:off x="2089421" y="1234440"/>
            <a:ext cx="27421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 dirty="0">
                <a:solidFill>
                  <a:srgbClr val="000000"/>
                </a:solidFill>
                <a:ea typeface="DejaVu Sans"/>
              </a:rPr>
              <a:t>Fig.1</a:t>
            </a:r>
            <a:endParaRPr lang="en-GB" spc="-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CustomShape 1"/>
          <p:cNvSpPr/>
          <p:nvPr/>
        </p:nvSpPr>
        <p:spPr>
          <a:xfrm>
            <a:off x="1524000" y="0"/>
            <a:ext cx="8644569" cy="6136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9" name="CustomShape 2"/>
          <p:cNvSpPr/>
          <p:nvPr/>
        </p:nvSpPr>
        <p:spPr>
          <a:xfrm>
            <a:off x="2436960" y="2222640"/>
            <a:ext cx="3518640" cy="2411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2500"/>
          </a:bodyPr>
          <a:lstStyle/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5400" b="1" spc="-1" dirty="0">
                <a:solidFill>
                  <a:srgbClr val="000000"/>
                </a:solidFill>
                <a:ea typeface="DejaVu Sans"/>
              </a:rPr>
              <a:t>Let’s explore practically</a:t>
            </a:r>
            <a:endParaRPr lang="en-GB" sz="5400" spc="-1" dirty="0"/>
          </a:p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endParaRPr lang="en-GB" sz="5400" spc="-1" dirty="0"/>
          </a:p>
        </p:txBody>
      </p:sp>
      <p:sp>
        <p:nvSpPr>
          <p:cNvPr id="380" name="CustomShape 3"/>
          <p:cNvSpPr/>
          <p:nvPr/>
        </p:nvSpPr>
        <p:spPr>
          <a:xfrm>
            <a:off x="5656800" y="851400"/>
            <a:ext cx="4637520" cy="5153760"/>
          </a:xfrm>
          <a:custGeom>
            <a:avLst/>
            <a:gdLst/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381" name="Graphic 5" descr="Cmd Terminal outline"/>
          <p:cNvPicPr/>
          <p:nvPr/>
        </p:nvPicPr>
        <p:blipFill>
          <a:blip r:embed="rId2"/>
          <a:stretch/>
        </p:blipFill>
        <p:spPr>
          <a:xfrm>
            <a:off x="7008960" y="2341080"/>
            <a:ext cx="2745360" cy="2745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CustomShape 1"/>
          <p:cNvSpPr/>
          <p:nvPr/>
        </p:nvSpPr>
        <p:spPr>
          <a:xfrm>
            <a:off x="1981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spc="-1" dirty="0">
                <a:solidFill>
                  <a:schemeClr val="tx2"/>
                </a:solidFill>
                <a:latin typeface="+mj-lt"/>
                <a:ea typeface="DejaVu Sans"/>
              </a:rPr>
              <a:t>Useful reference</a:t>
            </a:r>
            <a:endParaRPr lang="en-GB" sz="3200" spc="-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89" name="CustomShape 2"/>
          <p:cNvSpPr/>
          <p:nvPr/>
        </p:nvSpPr>
        <p:spPr>
          <a:xfrm>
            <a:off x="1981200" y="2034720"/>
            <a:ext cx="8227800" cy="42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343080" indent="-342000"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u="sng" spc="-1" dirty="0">
                <a:solidFill>
                  <a:srgbClr val="0000FF"/>
                </a:solidFill>
                <a:ea typeface="DejaVu Sans"/>
                <a:hlinkClick r:id="rId2"/>
              </a:rPr>
              <a:t>R Programming for Data Science (Roger Peng)</a:t>
            </a:r>
            <a:r>
              <a:rPr lang="en-GB" sz="2180" spc="-1" dirty="0">
                <a:solidFill>
                  <a:srgbClr val="000000"/>
                </a:solidFill>
                <a:ea typeface="DejaVu Sans"/>
              </a:rPr>
              <a:t> – Ch. 3, 4, 5, 9</a:t>
            </a:r>
            <a:endParaRPr lang="en-GB" sz="2180" spc="-1" dirty="0"/>
          </a:p>
          <a:p>
            <a:pPr marL="343080" indent="-342000"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u="sng" spc="-1" dirty="0">
                <a:solidFill>
                  <a:srgbClr val="0000FF"/>
                </a:solidFill>
                <a:ea typeface="DejaVu Sans"/>
                <a:hlinkClick r:id="rId3"/>
              </a:rPr>
              <a:t>Swirl</a:t>
            </a:r>
            <a:r>
              <a:rPr lang="en-GB" sz="2180" spc="-1" dirty="0">
                <a:solidFill>
                  <a:srgbClr val="000000"/>
                </a:solidFill>
                <a:ea typeface="DejaVu Sans"/>
              </a:rPr>
              <a:t> – Interactive learning</a:t>
            </a:r>
            <a:endParaRPr lang="en-GB" sz="2180" spc="-1" dirty="0"/>
          </a:p>
          <a:p>
            <a:pPr marL="343080" indent="-342000"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u="sng" spc="-1" dirty="0">
                <a:solidFill>
                  <a:srgbClr val="0000FF"/>
                </a:solidFill>
                <a:ea typeface="DejaVu Sans"/>
                <a:hlinkClick r:id="rId4"/>
              </a:rPr>
              <a:t>R for Data Science (Hadley Wickham)</a:t>
            </a:r>
            <a:r>
              <a:rPr lang="en-GB" sz="2180" spc="-1" dirty="0">
                <a:solidFill>
                  <a:srgbClr val="000000"/>
                </a:solidFill>
                <a:ea typeface="DejaVu Sans"/>
              </a:rPr>
              <a:t> – Using </a:t>
            </a:r>
            <a:r>
              <a:rPr lang="en-GB" sz="2180" spc="-1" dirty="0" err="1">
                <a:solidFill>
                  <a:srgbClr val="000000"/>
                </a:solidFill>
                <a:ea typeface="DejaVu Sans"/>
              </a:rPr>
              <a:t>Dplyr</a:t>
            </a:r>
            <a:r>
              <a:rPr lang="en-GB" sz="2180" spc="-1" dirty="0">
                <a:solidFill>
                  <a:srgbClr val="000000"/>
                </a:solidFill>
                <a:ea typeface="DejaVu Sans"/>
              </a:rPr>
              <a:t> verbs</a:t>
            </a:r>
            <a:endParaRPr lang="en-GB" sz="2180" spc="-1" dirty="0"/>
          </a:p>
          <a:p>
            <a:pPr marL="343080" indent="-342000">
              <a:spcBef>
                <a:spcPts val="43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50" u="sng" spc="-1" dirty="0">
                <a:solidFill>
                  <a:srgbClr val="0000FF"/>
                </a:solidFill>
                <a:ea typeface="DejaVu Sans"/>
                <a:hlinkClick r:id="rId5"/>
              </a:rPr>
              <a:t>The data.table package</a:t>
            </a:r>
            <a:r>
              <a:rPr lang="en-GB" sz="2150" spc="-1" dirty="0">
                <a:solidFill>
                  <a:srgbClr val="000000"/>
                </a:solidFill>
                <a:ea typeface="DejaVu Sans"/>
              </a:rPr>
              <a:t> – Intro</a:t>
            </a:r>
            <a:endParaRPr lang="en-GB" sz="2150" spc="-1" dirty="0"/>
          </a:p>
          <a:p>
            <a:pPr marL="343080" indent="-342000">
              <a:spcBef>
                <a:spcPts val="43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50" u="sng" spc="-1" dirty="0">
                <a:solidFill>
                  <a:srgbClr val="0000FF"/>
                </a:solidFill>
                <a:ea typeface="DejaVu Sans"/>
                <a:hlinkClick r:id="rId6"/>
              </a:rPr>
              <a:t>A data.table and Dplyr tour</a:t>
            </a:r>
            <a:r>
              <a:rPr lang="en-GB" sz="2150" spc="-1" dirty="0">
                <a:solidFill>
                  <a:srgbClr val="000000"/>
                </a:solidFill>
                <a:ea typeface="DejaVu Sans"/>
              </a:rPr>
              <a:t> – Side by side comparison of functions</a:t>
            </a:r>
            <a:endParaRPr lang="en-GB" sz="2150" spc="-1" dirty="0"/>
          </a:p>
          <a:p>
            <a:pPr marL="343080" indent="-342000">
              <a:spcBef>
                <a:spcPts val="43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50" u="sng" spc="-1" dirty="0">
                <a:solidFill>
                  <a:srgbClr val="0000FF"/>
                </a:solidFill>
                <a:ea typeface="DejaVu Sans"/>
                <a:hlinkClick r:id="rId7"/>
              </a:rPr>
              <a:t>Cheatsheets</a:t>
            </a:r>
            <a:r>
              <a:rPr lang="en-GB" sz="2150" spc="-1" dirty="0">
                <a:solidFill>
                  <a:srgbClr val="000000"/>
                </a:solidFill>
                <a:ea typeface="DejaVu Sans"/>
              </a:rPr>
              <a:t> – quick reference for tasks like data wrangling, visualisation, and several packages</a:t>
            </a:r>
            <a:endParaRPr lang="en-GB" sz="2150" spc="-1" dirty="0"/>
          </a:p>
          <a:p>
            <a:pPr marL="150480">
              <a:spcBef>
                <a:spcPts val="437"/>
              </a:spcBef>
              <a:tabLst>
                <a:tab pos="0" algn="l"/>
              </a:tabLst>
            </a:pPr>
            <a:endParaRPr lang="en-GB" sz="2150" spc="-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NDM Theme">
  <a:themeElements>
    <a:clrScheme name="NDM">
      <a:dk1>
        <a:srgbClr val="000000"/>
      </a:dk1>
      <a:lt1>
        <a:sysClr val="window" lastClr="FFFFFF"/>
      </a:lt1>
      <a:dk2>
        <a:srgbClr val="002147"/>
      </a:dk2>
      <a:lt2>
        <a:srgbClr val="D4D4D2"/>
      </a:lt2>
      <a:accent1>
        <a:srgbClr val="158045"/>
      </a:accent1>
      <a:accent2>
        <a:srgbClr val="CDD940"/>
      </a:accent2>
      <a:accent3>
        <a:srgbClr val="A4BE4D"/>
      </a:accent3>
      <a:accent4>
        <a:srgbClr val="5D9E4D"/>
      </a:accent4>
      <a:accent5>
        <a:srgbClr val="F0E542"/>
      </a:accent5>
      <a:accent6>
        <a:srgbClr val="EB5F17"/>
      </a:accent6>
      <a:hlink>
        <a:srgbClr val="3382CD"/>
      </a:hlink>
      <a:folHlink>
        <a:srgbClr val="C548EC"/>
      </a:folHlink>
    </a:clrScheme>
    <a:fontScheme name="ND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DM_PPT_template_MASTER" id="{D1C27AE8-2CED-4EF7-9174-5B5125D06FDC}" vid="{ACA32C27-257B-47F4-8E2D-B169706B63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BA350413EDD947A3F6ACC23D1F4FFB" ma:contentTypeVersion="9" ma:contentTypeDescription="Create a new document." ma:contentTypeScope="" ma:versionID="dbde6584570009b297ca43877451a763">
  <xsd:schema xmlns:xsd="http://www.w3.org/2001/XMLSchema" xmlns:xs="http://www.w3.org/2001/XMLSchema" xmlns:p="http://schemas.microsoft.com/office/2006/metadata/properties" xmlns:ns2="e600375e-0dac-43ee-9114-dcd03922427f" xmlns:ns3="1ab369c5-a05c-461f-99e1-15ed0fecd0da" targetNamespace="http://schemas.microsoft.com/office/2006/metadata/properties" ma:root="true" ma:fieldsID="6866cbd6de072e12cd40cfee6eb974aa" ns2:_="" ns3:_="">
    <xsd:import namespace="e600375e-0dac-43ee-9114-dcd03922427f"/>
    <xsd:import namespace="1ab369c5-a05c-461f-99e1-15ed0fecd0d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00375e-0dac-43ee-9114-dcd03922427f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1eeb44a9-b924-44d0-8ed9-f8b504a4ba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b369c5-a05c-461f-99e1-15ed0fecd0da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55138652-fb3e-4668-bcab-d4198cefc52f}" ma:internalName="TaxCatchAll" ma:showField="CatchAllData" ma:web="1ab369c5-a05c-461f-99e1-15ed0fecd0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ab369c5-a05c-461f-99e1-15ed0fecd0da" xsi:nil="true"/>
    <lcf76f155ced4ddcb4097134ff3c332f xmlns="e600375e-0dac-43ee-9114-dcd03922427f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55FEB74-942C-4E71-8EA7-895D37962E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600375e-0dac-43ee-9114-dcd03922427f"/>
    <ds:schemaRef ds:uri="1ab369c5-a05c-461f-99e1-15ed0fecd0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1F4F2C3-A33F-483B-9069-9B84E43D30DE}">
  <ds:schemaRefs>
    <ds:schemaRef ds:uri="http://www.w3.org/XML/1998/namespace"/>
    <ds:schemaRef ds:uri="1ab369c5-a05c-461f-99e1-15ed0fecd0da"/>
    <ds:schemaRef ds:uri="http://purl.org/dc/dcmitype/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documentManagement/types"/>
    <ds:schemaRef ds:uri="e600375e-0dac-43ee-9114-dcd03922427f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4847941D-A3F1-499B-B823-FB3DDE34278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NDM_PPT_template_V1</Template>
  <TotalTime>10317</TotalTime>
  <Words>1418</Words>
  <Application>Microsoft Macintosh PowerPoint</Application>
  <PresentationFormat>Widescreen</PresentationFormat>
  <Paragraphs>201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Courier New</vt:lpstr>
      <vt:lpstr>DejaVu Sans</vt:lpstr>
      <vt:lpstr>Wingdings 3</vt:lpstr>
      <vt:lpstr>NDM Theme</vt:lpstr>
      <vt:lpstr>Computational training Session 7 Data analysis and visualisation in R</vt:lpstr>
      <vt:lpstr>Today’s plan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Flex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Helen Lockstone</dc:creator>
  <cp:lastModifiedBy>Irina Chelysheva</cp:lastModifiedBy>
  <cp:revision>131</cp:revision>
  <cp:lastPrinted>2023-03-22T10:23:18Z</cp:lastPrinted>
  <dcterms:created xsi:type="dcterms:W3CDTF">2023-09-30T14:44:32Z</dcterms:created>
  <dcterms:modified xsi:type="dcterms:W3CDTF">2025-10-21T11:27:54Z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0x01010018BA350413EDD947A3F6ACC23D1F4FFB</vt:lpwstr>
  </property>
</Properties>
</file>